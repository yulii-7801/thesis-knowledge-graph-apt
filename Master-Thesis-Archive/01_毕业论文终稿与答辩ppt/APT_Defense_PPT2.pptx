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74" r:id="rId7"/>
    <p:sldId id="261" r:id="rId8"/>
    <p:sldId id="262" r:id="rId9"/>
    <p:sldId id="275" r:id="rId10"/>
    <p:sldId id="276" r:id="rId11"/>
    <p:sldId id="277" r:id="rId12"/>
    <p:sldId id="263" r:id="rId13"/>
    <p:sldId id="264" r:id="rId14"/>
    <p:sldId id="265" r:id="rId15"/>
    <p:sldId id="266" r:id="rId16"/>
    <p:sldId id="267" r:id="rId17"/>
    <p:sldId id="268" r:id="rId18"/>
    <p:sldId id="269" r:id="rId19"/>
    <p:sldId id="270" r:id="rId20"/>
    <p:sldId id="271" r:id="rId21"/>
    <p:sldId id="272" r:id="rId22"/>
    <p:sldId id="273"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479"/>
    <a:srgbClr val="B71C1B"/>
    <a:srgbClr val="1A396B"/>
    <a:srgbClr val="00B4CD"/>
    <a:srgbClr val="AECDE8"/>
    <a:srgbClr val="195E1F"/>
    <a:srgbClr val="FFD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58"/>
    <p:restoredTop sz="89377"/>
  </p:normalViewPr>
  <p:slideViewPr>
    <p:cSldViewPr snapToGrid="0" snapToObjects="1">
      <p:cViewPr>
        <p:scale>
          <a:sx n="100" d="100"/>
          <a:sy n="100" d="100"/>
        </p:scale>
        <p:origin x="296" y="0"/>
      </p:cViewPr>
      <p:guideLst/>
    </p:cSldViewPr>
  </p:slideViewPr>
  <p:notesTextViewPr>
    <p:cViewPr>
      <p:scale>
        <a:sx n="1" d="1"/>
        <a:sy n="1" d="1"/>
      </p:scale>
      <p:origin x="0" y="-56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2908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各位老师好，我是李之聿。我的论文题目是《基于先验本体约束与双空间表示学习的</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APT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组织攻击偏好预测方法》。接下来我将从研究背景、问题定义、方法设计、实验结果和总结展望五个部分进行汇报。</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ea typeface="DengXian" panose="02010600030101010101" pitchFamily="2" charset="-122"/>
                <a:cs typeface="Times New Roman" panose="02020603050405020304" pitchFamily="18" charset="0"/>
              </a:rPr>
              <a:t>从题目出发，</a:t>
            </a:r>
            <a:r>
              <a:rPr lang="en-US" altLang="zh-CN" sz="1800" dirty="0">
                <a:effectLst/>
                <a:ea typeface="DengXian" panose="02010600030101010101" pitchFamily="2" charset="-122"/>
                <a:cs typeface="Times New Roman" panose="02020603050405020304" pitchFamily="18" charset="0"/>
              </a:rPr>
              <a:t>APT</a:t>
            </a:r>
            <a:r>
              <a:rPr lang="zh-CN" altLang="zh-CN" sz="1800" dirty="0">
                <a:effectLst/>
                <a:ea typeface="DengXian" panose="02010600030101010101" pitchFamily="2" charset="-122"/>
                <a:cs typeface="Times New Roman" panose="02020603050405020304" pitchFamily="18" charset="0"/>
              </a:rPr>
              <a:t>是高级持续性威胁的简称</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它具有长期潜伏、定向攻击和多阶段协同等特点。</a:t>
            </a:r>
            <a:r>
              <a:rPr lang="en-US" altLang="zh-CN" sz="1800" dirty="0">
                <a:effectLst/>
                <a:latin typeface="DengXian" panose="02010600030101010101" pitchFamily="2" charset="-122"/>
                <a:cs typeface="Times New Roman" panose="02020603050405020304" pitchFamily="18" charset="0"/>
              </a:rPr>
              <a:t>APT </a:t>
            </a:r>
            <a:r>
              <a:rPr lang="zh-CN" altLang="zh-CN" sz="1800" dirty="0">
                <a:effectLst/>
                <a:ea typeface="DengXian" panose="02010600030101010101" pitchFamily="2" charset="-122"/>
                <a:cs typeface="Times New Roman" panose="02020603050405020304" pitchFamily="18" charset="0"/>
              </a:rPr>
              <a:t>组织在不同活动中往往会复用特定的工具、漏洞和攻击目标</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因此其行为存在可学习的偏好模式。</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ea typeface="DengXian" panose="02010600030101010101" pitchFamily="2" charset="-122"/>
                <a:cs typeface="Times New Roman" panose="02020603050405020304" pitchFamily="18" charset="0"/>
              </a:rPr>
              <a:t>从知识图谱角度看</a:t>
            </a:r>
            <a:r>
              <a:rPr lang="en-US" altLang="zh-CN" sz="1800"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预测这种偏好可以建模为链接预测任务</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给定查询三元组</a:t>
            </a:r>
            <a:r>
              <a:rPr lang="zh-CN" altLang="zh-CN" sz="1800" kern="0" dirty="0">
                <a:effectLst/>
                <a:ea typeface="宋体" panose="02010600030101010101" pitchFamily="2" charset="-122"/>
                <a:cs typeface="宋体" panose="02010600030101010101" pitchFamily="2" charset="-122"/>
              </a:rPr>
              <a:t> </a:t>
            </a:r>
            <a:r>
              <a:rPr lang="en-US" altLang="zh-CN" sz="1800" kern="0" dirty="0">
                <a:effectLst/>
                <a:ea typeface="宋体" panose="02010600030101010101" pitchFamily="2" charset="-122"/>
                <a:cs typeface="宋体" panose="02010600030101010101" pitchFamily="2" charset="-122"/>
              </a:rPr>
              <a:t>(</a:t>
            </a:r>
            <a:r>
              <a:rPr lang="en-US" altLang="zh-CN" sz="1800" kern="0" dirty="0" err="1">
                <a:effectLst/>
                <a:ea typeface="宋体" panose="02010600030101010101" pitchFamily="2" charset="-122"/>
                <a:cs typeface="宋体" panose="02010600030101010101" pitchFamily="2" charset="-122"/>
              </a:rPr>
              <a:t>h,r</a:t>
            </a:r>
            <a:r>
              <a:rPr lang="en-US" altLang="zh-CN" sz="1800" kern="0" dirty="0">
                <a:effectLst/>
                <a:ea typeface="宋体" panose="02010600030101010101" pitchFamily="2" charset="-122"/>
                <a:cs typeface="宋体" panose="02010600030101010101" pitchFamily="2" charset="-122"/>
              </a:rPr>
              <a:t>,?),</a:t>
            </a:r>
            <a:r>
              <a:rPr lang="en-US" altLang="zh-CN" sz="1800" kern="0" dirty="0" err="1">
                <a:effectLst/>
                <a:ea typeface="宋体" panose="02010600030101010101" pitchFamily="2" charset="-122"/>
                <a:cs typeface="宋体" panose="02010600030101010101" pitchFamily="2" charset="-122"/>
              </a:rPr>
              <a:t>其中</a:t>
            </a:r>
            <a:r>
              <a:rPr lang="en-US" altLang="zh-CN" sz="1800" kern="0" dirty="0">
                <a:effectLst/>
                <a:ea typeface="宋体" panose="02010600030101010101" pitchFamily="2" charset="-122"/>
                <a:cs typeface="宋体" panose="02010600030101010101" pitchFamily="2" charset="-122"/>
              </a:rPr>
              <a:t> </a:t>
            </a:r>
            <a:r>
              <a:rPr lang="en-US" altLang="zh-CN" sz="1800" kern="0" dirty="0" err="1">
                <a:effectLst/>
                <a:ea typeface="宋体" panose="02010600030101010101" pitchFamily="2" charset="-122"/>
                <a:cs typeface="宋体" panose="02010600030101010101" pitchFamily="2" charset="-122"/>
              </a:rPr>
              <a:t>h是</a:t>
            </a:r>
            <a:r>
              <a:rPr lang="en-US" altLang="zh-CN" sz="1800" kern="0" dirty="0">
                <a:effectLst/>
                <a:ea typeface="宋体" panose="02010600030101010101" pitchFamily="2" charset="-122"/>
                <a:cs typeface="宋体" panose="02010600030101010101" pitchFamily="2" charset="-122"/>
              </a:rPr>
              <a:t> APT </a:t>
            </a:r>
            <a:r>
              <a:rPr lang="en-US" altLang="zh-CN" sz="1800" kern="0" dirty="0" err="1">
                <a:effectLst/>
                <a:ea typeface="宋体" panose="02010600030101010101" pitchFamily="2" charset="-122"/>
                <a:cs typeface="宋体" panose="02010600030101010101" pitchFamily="2" charset="-122"/>
              </a:rPr>
              <a:t>组织、r是</a:t>
            </a:r>
            <a:r>
              <a:rPr lang="en-US" altLang="zh-CN" sz="1800" kern="0" dirty="0" err="1">
                <a:effectLst/>
                <a:latin typeface="DengXian" panose="02010600030101010101" pitchFamily="2" charset="-122"/>
                <a:ea typeface="宋体" panose="02010600030101010101" pitchFamily="2" charset="-122"/>
                <a:cs typeface="Times New Roman" panose="02020603050405020304" pitchFamily="18" charset="0"/>
              </a:rPr>
              <a:t>target、use、exploit</a:t>
            </a:r>
            <a:r>
              <a:rPr lang="en-US" altLang="zh-CN" sz="1800" kern="0" dirty="0">
                <a:effectLst/>
                <a:latin typeface="DengXian" panose="02010600030101010101" pitchFamily="2" charset="-122"/>
                <a:ea typeface="宋体" panose="02010600030101010101" pitchFamily="2" charset="-122"/>
                <a:cs typeface="Times New Roman" panose="02020603050405020304" pitchFamily="18" charset="0"/>
              </a:rPr>
              <a:t> </a:t>
            </a:r>
            <a:r>
              <a:rPr lang="en-US" altLang="zh-CN" sz="1800" kern="0" dirty="0" err="1">
                <a:effectLst/>
                <a:latin typeface="DengXian" panose="02010600030101010101" pitchFamily="2" charset="-122"/>
                <a:ea typeface="宋体" panose="02010600030101010101" pitchFamily="2" charset="-122"/>
                <a:cs typeface="Times New Roman" panose="02020603050405020304" pitchFamily="18" charset="0"/>
              </a:rPr>
              <a:t>三类偏好关系</a:t>
            </a:r>
            <a:r>
              <a:rPr lang="en-US" altLang="zh-CN" sz="1800" kern="0" dirty="0" err="1">
                <a:effectLst/>
                <a:latin typeface="宋体" panose="02010600030101010101" pitchFamily="2" charset="-122"/>
                <a:ea typeface="宋体" panose="02010600030101010101" pitchFamily="2" charset="-122"/>
                <a:cs typeface="宋体" panose="02010600030101010101" pitchFamily="2" charset="-122"/>
              </a:rPr>
              <a:t>,模型需要从候选实体集合中找出最可能的尾实体</a:t>
            </a:r>
            <a:r>
              <a:rPr lang="en-US" altLang="zh-CN" sz="1800" kern="0"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kern="0" dirty="0" err="1">
                <a:effectLst/>
                <a:latin typeface="宋体" panose="02010600030101010101" pitchFamily="2" charset="-122"/>
                <a:ea typeface="宋体" panose="02010600030101010101" pitchFamily="2" charset="-122"/>
                <a:cs typeface="宋体" panose="02010600030101010101" pitchFamily="2" charset="-122"/>
              </a:rPr>
              <a:t>t并尽可能把正确答案排在前面</a:t>
            </a:r>
            <a:r>
              <a:rPr lang="en-US" altLang="zh-CN" sz="1800" kern="0" dirty="0">
                <a:effectLst/>
                <a:latin typeface="宋体" panose="02010600030101010101" pitchFamily="2" charset="-122"/>
                <a:ea typeface="宋体" panose="02010600030101010101" pitchFamily="2" charset="-122"/>
                <a:cs typeface="宋体" panose="02010600030101010101" pitchFamily="2" charset="-122"/>
              </a:rPr>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但是</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在</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 APT </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场景下直接做知识图谱补全</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面临两个主要困难。</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b="1" kern="0" dirty="0">
                <a:effectLst/>
                <a:latin typeface="DengXian" panose="02010600030101010101" pitchFamily="2" charset="-122"/>
                <a:ea typeface="宋体" panose="02010600030101010101" pitchFamily="2" charset="-122"/>
                <a:cs typeface="宋体" panose="02010600030101010101" pitchFamily="2" charset="-122"/>
              </a:rPr>
              <a:t>第一个困难是数据层面的稀疏性和结构不足</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。威胁情报来自安全报告</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实体类型很细</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包括</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 APT </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组织、战役、恶意软件、漏洞、哈希、</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IP</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、域名等</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b="1" kern="0" dirty="0">
                <a:effectLst/>
                <a:latin typeface="DengXian" panose="02010600030101010101" pitchFamily="2" charset="-122"/>
                <a:ea typeface="宋体" panose="02010600030101010101" pitchFamily="2" charset="-122"/>
                <a:cs typeface="宋体" panose="02010600030101010101" pitchFamily="2" charset="-122"/>
              </a:rPr>
              <a:t>但原始图谱中缺少显式的层级结构</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大量底层实体只是作为孤立事实节点存在</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没有被归入更高层的语义类别。</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第二个困难是</a:t>
            </a:r>
            <a:r>
              <a:rPr lang="zh-CN"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模型层面的几何空间不完全匹配</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APT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图谱天然包含类似</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组织</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战役</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工具</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1800" kern="0" dirty="0">
                <a:effectLst/>
                <a:latin typeface="Times New Roman" panose="02020603050405020304" pitchFamily="18" charset="0"/>
                <a:ea typeface="宋体" panose="02010600030101010101" pitchFamily="2" charset="-122"/>
                <a:cs typeface="Times New Roman" panose="02020603050405020304" pitchFamily="18" charset="0"/>
              </a:rPr>
              <a:t>恶意软件</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这样的层级结构，而传统知识图谱嵌入大多在欧式空间中学习。当底层节点数量较多时，欧式空间容易出现几何拥挤问题，也就是大量叶子节点在嵌入空间中难以区分。双曲空间的体积随半径呈指数增长，更适合表示树状和层级结构，但如果直接在双曲空间中随机初始化训练，又容易出现优化不稳定和语义信息不足的问题。</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因此，本文的核心研究问题可以概括为两点：</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第一，</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如何在不引入大语言模型幻觉的前提下，为</a:t>
            </a:r>
            <a:r>
              <a:rPr lang="en-US" altLang="zh-CN" sz="1800" b="1" dirty="0">
                <a:effectLst/>
                <a:latin typeface="Times New Roman" panose="02020603050405020304" pitchFamily="18" charset="0"/>
                <a:ea typeface="宋体" panose="02010600030101010101" pitchFamily="2" charset="-122"/>
                <a:cs typeface="Times New Roman" panose="02020603050405020304" pitchFamily="18" charset="0"/>
              </a:rPr>
              <a:t> APT </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图谱补充可靠的层级先验结构？</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第二，如何把欧式空间中较稳定的语义表示，与双曲空间中更适合层级建模的几何能力结合起来，用于攻击偏好预测。</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围绕上述问题，本文提出了一个</a:t>
            </a:r>
            <a:r>
              <a:rPr lang="zh-CN" altLang="zh-CN" sz="1800" b="1" dirty="0">
                <a:effectLst/>
                <a:ea typeface="DengXian" panose="02010600030101010101" pitchFamily="2" charset="-122"/>
                <a:cs typeface="Times New Roman" panose="02020603050405020304" pitchFamily="18" charset="0"/>
              </a:rPr>
              <a:t>由数据层先验本体约束和模型层双空间表示学习共同组成的整体方法框架</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b="0" dirty="0">
                <a:effectLst/>
                <a:latin typeface="Times New Roman" panose="02020603050405020304" pitchFamily="18" charset="0"/>
                <a:ea typeface="DengXian" panose="02010600030101010101" pitchFamily="2" charset="-122"/>
              </a:rPr>
              <a:t>在</a:t>
            </a:r>
            <a:r>
              <a:rPr lang="zh-CN" altLang="zh-CN" sz="1800" b="1" dirty="0">
                <a:effectLst/>
                <a:latin typeface="Times New Roman" panose="02020603050405020304" pitchFamily="18" charset="0"/>
                <a:ea typeface="DengXian" panose="02010600030101010101" pitchFamily="2" charset="-122"/>
              </a:rPr>
              <a:t>数据层</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，本文构建了</a:t>
            </a:r>
            <a:r>
              <a:rPr lang="en-US" altLang="zh-CN" sz="1800" dirty="0">
                <a:effectLst/>
                <a:latin typeface="Times New Roman" panose="02020603050405020304" pitchFamily="18" charset="0"/>
                <a:ea typeface="DengXian" panose="02010600030101010101" pitchFamily="2" charset="-122"/>
              </a:rPr>
              <a:t> APT-</a:t>
            </a:r>
            <a:r>
              <a:rPr lang="en-US" altLang="zh-CN" sz="1800" dirty="0" err="1">
                <a:effectLst/>
                <a:latin typeface="Times New Roman" panose="02020603050405020304" pitchFamily="18" charset="0"/>
                <a:ea typeface="DengXian" panose="02010600030101010101" pitchFamily="2" charset="-122"/>
              </a:rPr>
              <a:t>Hier</a:t>
            </a:r>
            <a:r>
              <a:rPr lang="en-US" altLang="zh-CN" sz="1800" dirty="0">
                <a:effectLst/>
                <a:latin typeface="Times New Roman" panose="02020603050405020304" pitchFamily="18" charset="0"/>
                <a:ea typeface="DengXian" panose="02010600030101010101" pitchFamily="2" charset="-122"/>
              </a:rPr>
              <a:t>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数据集。原始</a:t>
            </a:r>
            <a:r>
              <a:rPr lang="en-US" altLang="zh-CN" sz="1800" dirty="0">
                <a:effectLst/>
                <a:latin typeface="Times New Roman" panose="02020603050405020304" pitchFamily="18" charset="0"/>
                <a:ea typeface="DengXian" panose="02010600030101010101" pitchFamily="2" charset="-122"/>
              </a:rPr>
              <a:t> APT-Flat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数据集包含</a:t>
            </a:r>
            <a:r>
              <a:rPr lang="en-US" altLang="zh-CN" sz="1800" dirty="0">
                <a:effectLst/>
                <a:latin typeface="Times New Roman" panose="02020603050405020304" pitchFamily="18" charset="0"/>
                <a:ea typeface="DengXian" panose="02010600030101010101" pitchFamily="2" charset="-122"/>
              </a:rPr>
              <a:t> 1,476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个实体、</a:t>
            </a:r>
            <a:r>
              <a:rPr lang="en-US" altLang="zh-CN" sz="1800" dirty="0">
                <a:effectLst/>
                <a:latin typeface="Times New Roman" panose="02020603050405020304" pitchFamily="18" charset="0"/>
                <a:ea typeface="DengXian" panose="02010600030101010101" pitchFamily="2" charset="-122"/>
              </a:rPr>
              <a:t>11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类关系和</a:t>
            </a:r>
            <a:r>
              <a:rPr lang="en-US" altLang="zh-CN" sz="1800" dirty="0">
                <a:effectLst/>
                <a:latin typeface="Times New Roman" panose="02020603050405020304" pitchFamily="18" charset="0"/>
                <a:ea typeface="DengXian" panose="02010600030101010101" pitchFamily="2" charset="-122"/>
              </a:rPr>
              <a:t> 4,746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条三元组。本文先利用大语言模型对</a:t>
            </a:r>
            <a:r>
              <a:rPr lang="en-US" altLang="zh-CN" sz="1800" dirty="0">
                <a:effectLst/>
                <a:latin typeface="Times New Roman" panose="02020603050405020304" pitchFamily="18" charset="0"/>
                <a:ea typeface="DengXian" panose="02010600030101010101" pitchFamily="2" charset="-122"/>
              </a:rPr>
              <a:t> 21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类细粒度实体标签进行高层语义归纳，得到</a:t>
            </a:r>
            <a:r>
              <a:rPr lang="en-US" altLang="zh-CN" sz="1800" dirty="0">
                <a:effectLst/>
                <a:latin typeface="Times New Roman" panose="02020603050405020304" pitchFamily="18" charset="0"/>
                <a:ea typeface="DengXian" panose="02010600030101010101" pitchFamily="2" charset="-122"/>
              </a:rPr>
              <a:t> 7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个高层抽象节点；然后</a:t>
            </a:r>
            <a:r>
              <a:rPr lang="zh-CN" altLang="zh-CN" sz="1800" b="1" dirty="0">
                <a:effectLst/>
                <a:latin typeface="Times New Roman" panose="02020603050405020304" pitchFamily="18" charset="0"/>
                <a:ea typeface="DengXian" panose="02010600030101010101" pitchFamily="2" charset="-122"/>
                <a:cs typeface="Times New Roman" panose="02020603050405020304" pitchFamily="18" charset="0"/>
              </a:rPr>
              <a:t>不让大语言模型直接生成事实关系</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，而是采用确定性映射规则，注入</a:t>
            </a:r>
            <a:r>
              <a:rPr lang="en-US" altLang="zh-CN" sz="1800" dirty="0">
                <a:effectLst/>
                <a:latin typeface="Times New Roman" panose="02020603050405020304" pitchFamily="18" charset="0"/>
                <a:ea typeface="DengXian" panose="02010600030101010101" pitchFamily="2" charset="-122"/>
              </a:rPr>
              <a:t> 1,253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条</a:t>
            </a:r>
            <a:r>
              <a:rPr lang="en-US" altLang="zh-CN" sz="1800" dirty="0">
                <a:effectLst/>
                <a:latin typeface="Times New Roman" panose="02020603050405020304" pitchFamily="18" charset="0"/>
                <a:ea typeface="DengXian" panose="02010600030101010101" pitchFamily="2" charset="-122"/>
              </a:rPr>
              <a:t> </a:t>
            </a:r>
            <a:r>
              <a:rPr lang="en-US" altLang="zh-CN" sz="1800" dirty="0" err="1">
                <a:effectLst/>
                <a:latin typeface="Times New Roman" panose="02020603050405020304" pitchFamily="18" charset="0"/>
                <a:ea typeface="DengXian" panose="02010600030101010101" pitchFamily="2" charset="-122"/>
              </a:rPr>
              <a:t>subClassOf</a:t>
            </a:r>
            <a:r>
              <a:rPr lang="en-US" altLang="zh-CN" sz="1800" dirty="0">
                <a:effectLst/>
                <a:latin typeface="Times New Roman" panose="02020603050405020304" pitchFamily="18" charset="0"/>
                <a:ea typeface="DengXian" panose="02010600030101010101" pitchFamily="2" charset="-122"/>
              </a:rPr>
              <a:t>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层级关系。重构后，</a:t>
            </a:r>
            <a:r>
              <a:rPr lang="en-US" altLang="zh-CN" sz="1800" dirty="0">
                <a:effectLst/>
                <a:latin typeface="Times New Roman" panose="02020603050405020304" pitchFamily="18" charset="0"/>
                <a:ea typeface="DengXian" panose="02010600030101010101" pitchFamily="2" charset="-122"/>
              </a:rPr>
              <a:t>APT-</a:t>
            </a:r>
            <a:r>
              <a:rPr lang="en-US" altLang="zh-CN" sz="1800" dirty="0" err="1">
                <a:effectLst/>
                <a:latin typeface="Times New Roman" panose="02020603050405020304" pitchFamily="18" charset="0"/>
                <a:ea typeface="DengXian" panose="02010600030101010101" pitchFamily="2" charset="-122"/>
              </a:rPr>
              <a:t>Hier</a:t>
            </a:r>
            <a:r>
              <a:rPr lang="en-US" altLang="zh-CN" sz="1800" dirty="0">
                <a:effectLst/>
                <a:latin typeface="Times New Roman" panose="02020603050405020304" pitchFamily="18" charset="0"/>
                <a:ea typeface="DengXian" panose="02010600030101010101" pitchFamily="2" charset="-122"/>
              </a:rPr>
              <a:t>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包含</a:t>
            </a:r>
            <a:r>
              <a:rPr lang="en-US" altLang="zh-CN" sz="1800" dirty="0">
                <a:effectLst/>
                <a:latin typeface="Times New Roman" panose="02020603050405020304" pitchFamily="18" charset="0"/>
                <a:ea typeface="DengXian" panose="02010600030101010101" pitchFamily="2" charset="-122"/>
              </a:rPr>
              <a:t> 1,483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个实体、</a:t>
            </a:r>
            <a:r>
              <a:rPr lang="en-US" altLang="zh-CN" sz="1800" dirty="0">
                <a:effectLst/>
                <a:latin typeface="Times New Roman" panose="02020603050405020304" pitchFamily="18" charset="0"/>
                <a:ea typeface="DengXian" panose="02010600030101010101" pitchFamily="2" charset="-122"/>
              </a:rPr>
              <a:t>12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类关系和</a:t>
            </a:r>
            <a:r>
              <a:rPr lang="en-US" altLang="zh-CN" sz="1800" dirty="0">
                <a:effectLst/>
                <a:latin typeface="Times New Roman" panose="02020603050405020304" pitchFamily="18" charset="0"/>
                <a:ea typeface="DengXian" panose="02010600030101010101" pitchFamily="2" charset="-122"/>
              </a:rPr>
              <a:t> 5,999 </a:t>
            </a:r>
            <a:r>
              <a:rPr lang="zh-CN" altLang="zh-CN" sz="1800" dirty="0">
                <a:effectLst/>
                <a:latin typeface="Times New Roman" panose="02020603050405020304" pitchFamily="18" charset="0"/>
                <a:ea typeface="DengXian" panose="02010600030101010101" pitchFamily="2" charset="-122"/>
                <a:cs typeface="Times New Roman" panose="02020603050405020304" pitchFamily="18" charset="0"/>
              </a:rPr>
              <a:t>条三元组。</a:t>
            </a:r>
            <a:r>
              <a:rPr lang="zh-CN" altLang="zh-CN" dirty="0">
                <a:effectLst/>
              </a:rPr>
              <a:t> </a:t>
            </a:r>
            <a:endParaRPr lang="en-US" altLang="zh-CN" dirty="0">
              <a:effectLst/>
            </a:endParaRPr>
          </a:p>
          <a:p>
            <a:endParaRPr lang="en-US" dirty="0">
              <a:effectLst/>
            </a:endParaRPr>
          </a:p>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在模型层面，本文设计了欧式</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双曲两阶段表示学习框架。第一阶段先在欧式空间中学习实体的局部语义和邻域结构，第二阶段通过指数映射将欧式嵌入投影到庞加莱球中，再利用双曲测地线距离完成层级结构优化和偏好排序。</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这两个部分不是简单堆叠关系。数据层重构为双曲建模提供更明确的层级结构；模型层的双曲空间又能够更好地利用这种层级先验。因此，本文重点验证的是二者之间是否存在协同作用。</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01443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下面先介绍数据层的本体重构方法。</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原始</a:t>
            </a:r>
            <a:r>
              <a:rPr lang="en-US" altLang="zh-CN" sz="1800" dirty="0">
                <a:effectLst/>
                <a:latin typeface="Times New Roman" panose="02020603050405020304" pitchFamily="18" charset="0"/>
                <a:ea typeface="宋体" panose="02010600030101010101" pitchFamily="2" charset="-122"/>
              </a:rPr>
              <a:t> APT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图谱中实体类型很细，包括</a:t>
            </a:r>
            <a:r>
              <a:rPr lang="en-US" altLang="zh-CN" sz="1800" dirty="0">
                <a:effectLst/>
                <a:latin typeface="Times New Roman" panose="02020603050405020304" pitchFamily="18" charset="0"/>
                <a:ea typeface="宋体" panose="02010600030101010101" pitchFamily="2" charset="-122"/>
              </a:rPr>
              <a:t> APT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CAMPAIGN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OS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URL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IP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FILE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MD5</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SHA1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SHA2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VULNAME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VULID</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ACT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rPr>
              <a:t>MAL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800" dirty="0">
                <a:effectLst/>
                <a:latin typeface="Times New Roman" panose="02020603050405020304" pitchFamily="18" charset="0"/>
                <a:ea typeface="宋体" panose="02010600030101010101" pitchFamily="2" charset="-122"/>
              </a:rPr>
              <a:t> 21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类。这种细粒度划分有利于保留威胁情报细节，但带来两个问题：一是不同类型之间</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缺乏显式上位概念</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，二是底层</a:t>
            </a:r>
            <a:r>
              <a:rPr lang="en-US" altLang="zh-CN" sz="1800" dirty="0">
                <a:effectLst/>
                <a:latin typeface="Times New Roman" panose="02020603050405020304" pitchFamily="18" charset="0"/>
                <a:ea typeface="宋体" panose="02010600030101010101" pitchFamily="2" charset="-122"/>
              </a:rPr>
              <a:t> IOC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、哈希、恶意软件节点数量很多，使图谱整体更稀疏。</a:t>
            </a:r>
            <a:r>
              <a:rPr lang="zh-CN" altLang="zh-CN" dirty="0">
                <a:effectLst/>
              </a:rPr>
              <a:t> </a:t>
            </a:r>
            <a:endParaRPr lang="en-US" altLang="zh-CN" dirty="0">
              <a:effectLst/>
            </a:endParaRPr>
          </a:p>
          <a:p>
            <a:endParaRPr lang="en-US" dirty="0">
              <a:effectLst/>
            </a:endParaRPr>
          </a:p>
          <a:p>
            <a:r>
              <a:rPr lang="zh-CN" altLang="en-US" dirty="0"/>
              <a:t>针对这两个问题</a:t>
            </a:r>
            <a:r>
              <a:rPr lang="en-US" altLang="zh-CN" dirty="0"/>
              <a:t>,</a:t>
            </a:r>
            <a:r>
              <a:rPr lang="zh-CN" altLang="en-US" dirty="0"/>
              <a:t>最初的想法是直接借助大语言模型对 </a:t>
            </a:r>
            <a:r>
              <a:rPr lang="en-US" altLang="zh-CN" dirty="0"/>
              <a:t>21 </a:t>
            </a:r>
            <a:r>
              <a:rPr lang="zh-CN" altLang="en-US" dirty="0"/>
              <a:t>类实体进行高层语义聚合。但在进入正式流程之前</a:t>
            </a:r>
            <a:r>
              <a:rPr lang="en-US" altLang="zh-CN" dirty="0"/>
              <a:t>,</a:t>
            </a:r>
            <a:r>
              <a:rPr lang="zh-CN" altLang="en-US" dirty="0"/>
              <a:t>我们先做了一个预研验证</a:t>
            </a:r>
            <a:r>
              <a:rPr lang="en-US" altLang="zh-CN" dirty="0"/>
              <a:t>——</a:t>
            </a:r>
            <a:r>
              <a:rPr lang="zh-CN" altLang="en-US" dirty="0"/>
              <a:t>从训练集中抽取 </a:t>
            </a:r>
            <a:r>
              <a:rPr lang="en-US" altLang="zh-CN" dirty="0"/>
              <a:t>100 </a:t>
            </a:r>
            <a:r>
              <a:rPr lang="zh-CN" altLang="en-US" dirty="0"/>
              <a:t>个具有多重语义的实体样本</a:t>
            </a:r>
            <a:r>
              <a:rPr lang="en-US" altLang="zh-CN" dirty="0"/>
              <a:t>,</a:t>
            </a:r>
            <a:r>
              <a:rPr lang="zh-CN" altLang="en-US" dirty="0"/>
              <a:t>只提供真实三元组语境</a:t>
            </a:r>
            <a:r>
              <a:rPr lang="en-US" altLang="zh-CN" dirty="0"/>
              <a:t>,</a:t>
            </a:r>
            <a:r>
              <a:rPr lang="zh-CN" altLang="en-US" dirty="0"/>
              <a:t>让 </a:t>
            </a:r>
            <a:r>
              <a:rPr lang="en" altLang="zh-CN" dirty="0"/>
              <a:t>LLM </a:t>
            </a:r>
            <a:r>
              <a:rPr lang="zh-CN" altLang="en-US" dirty="0"/>
              <a:t>在闭集约束下独立推断它们的归属。</a:t>
            </a:r>
            <a:r>
              <a:rPr lang="zh-CN" altLang="en-US" b="1" dirty="0"/>
              <a:t>结果显示语境消歧准确率为 </a:t>
            </a:r>
            <a:r>
              <a:rPr lang="en-US" altLang="zh-CN" b="1" dirty="0"/>
              <a:t>81%</a:t>
            </a:r>
            <a:r>
              <a:rPr lang="en-US" altLang="zh-CN" dirty="0"/>
              <a:t>,</a:t>
            </a:r>
            <a:r>
              <a:rPr lang="zh-CN" altLang="en-US" dirty="0"/>
              <a:t>也就是说</a:t>
            </a:r>
            <a:r>
              <a:rPr lang="en-US" altLang="zh-CN" dirty="0"/>
              <a:t>,</a:t>
            </a:r>
            <a:r>
              <a:rPr lang="en" altLang="zh-CN" b="1" dirty="0"/>
              <a:t>LLM </a:t>
            </a:r>
            <a:r>
              <a:rPr lang="zh-CN" altLang="en-US" b="1" dirty="0"/>
              <a:t>在这个任务上具备一定的判别能力</a:t>
            </a:r>
            <a:r>
              <a:rPr lang="en-US" altLang="zh-CN" b="1" dirty="0"/>
              <a:t>,</a:t>
            </a:r>
            <a:r>
              <a:rPr lang="zh-CN" altLang="en-US" b="1" dirty="0"/>
              <a:t>但每 </a:t>
            </a:r>
            <a:r>
              <a:rPr lang="en-US" altLang="zh-CN" b="1" dirty="0"/>
              <a:t>5 </a:t>
            </a:r>
            <a:r>
              <a:rPr lang="zh-CN" altLang="en-US" b="1" dirty="0"/>
              <a:t>个实体里大约有 </a:t>
            </a:r>
            <a:r>
              <a:rPr lang="en-US" altLang="zh-CN" b="1" dirty="0"/>
              <a:t>1 </a:t>
            </a:r>
            <a:r>
              <a:rPr lang="zh-CN" altLang="en-US" b="1" dirty="0"/>
              <a:t>个会被误判</a:t>
            </a:r>
            <a:r>
              <a:rPr lang="zh-CN" altLang="en-US"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第一步</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是语义特征提取与层次聚类</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宋体" panose="02010600030101010101" pitchFamily="2" charset="-122"/>
                <a:ea typeface="Times New Roman" panose="02020603050405020304" pitchFamily="18" charset="0"/>
                <a:cs typeface="宋体" panose="02010600030101010101" pitchFamily="2" charset="-122"/>
              </a:rPr>
              <a:t>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我们首先把每个细粒度实体类型的语义描述输入到</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dirty="0" err="1">
                <a:effectLst/>
                <a:latin typeface="宋体" panose="02010600030101010101" pitchFamily="2" charset="-122"/>
                <a:ea typeface="宋体" panose="02010600030101010101" pitchFamily="2" charset="-122"/>
                <a:cs typeface="宋体" panose="02010600030101010101" pitchFamily="2" charset="-122"/>
              </a:rPr>
              <a:t>CyBERT</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网安领域预训练模型</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提取出</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21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类实体的语义向量</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并计算它们之间的成对余弦相似度</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得到一个</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21 × 21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的相似度矩阵。从</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PPT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上的热力图可以看到</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一些语义相近的实体类型呈现出较强的内聚性</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最典型的就是</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MD5</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SHA1</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SHA2 </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这三类哈希指纹</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它们形成了极强的同源聚合</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a:t>
            </a:r>
          </a:p>
          <a:p>
            <a:endParaRPr lang="en-US" altLang="zh-CN" sz="1800" dirty="0">
              <a:effectLst/>
              <a:ea typeface="DengXian" panose="02010600030101010101" pitchFamily="2" charset="-122"/>
              <a:cs typeface="Times New Roman" panose="02020603050405020304" pitchFamily="18" charset="0"/>
            </a:endParaRPr>
          </a:p>
          <a:p>
            <a:r>
              <a:rPr lang="zh-CN" altLang="zh-CN" sz="1800" dirty="0">
                <a:effectLst/>
                <a:ea typeface="DengXian" panose="02010600030101010101" pitchFamily="2" charset="-122"/>
                <a:cs typeface="Times New Roman" panose="02020603050405020304" pitchFamily="18" charset="0"/>
              </a:rPr>
              <a:t>在相似度矩阵的基础上</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我们进一步用</a:t>
            </a:r>
            <a:r>
              <a:rPr lang="en-US" altLang="zh-CN" sz="1800" dirty="0">
                <a:effectLst/>
                <a:ea typeface="DengXian" panose="02010600030101010101" pitchFamily="2" charset="-122"/>
                <a:cs typeface="Times New Roman" panose="02020603050405020304" pitchFamily="18" charset="0"/>
              </a:rPr>
              <a:t> Ward </a:t>
            </a:r>
            <a:r>
              <a:rPr lang="zh-CN" altLang="zh-CN" sz="1800" dirty="0">
                <a:effectLst/>
                <a:ea typeface="DengXian" panose="02010600030101010101" pitchFamily="2" charset="-122"/>
                <a:cs typeface="Times New Roman" panose="02020603050405020304" pitchFamily="18" charset="0"/>
              </a:rPr>
              <a:t>最小方差层次聚类对</a:t>
            </a:r>
            <a:r>
              <a:rPr lang="en-US" altLang="zh-CN" sz="1800" dirty="0">
                <a:effectLst/>
                <a:ea typeface="DengXian" panose="02010600030101010101" pitchFamily="2" charset="-122"/>
                <a:cs typeface="Times New Roman" panose="02020603050405020304" pitchFamily="18" charset="0"/>
              </a:rPr>
              <a:t> 21 </a:t>
            </a:r>
            <a:r>
              <a:rPr lang="zh-CN" altLang="zh-CN" sz="1800" dirty="0">
                <a:effectLst/>
                <a:ea typeface="DengXian" panose="02010600030101010101" pitchFamily="2" charset="-122"/>
                <a:cs typeface="Times New Roman" panose="02020603050405020304" pitchFamily="18" charset="0"/>
              </a:rPr>
              <a:t>类实体进行自底向上的聚合</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最终收敛为</a:t>
            </a:r>
            <a:r>
              <a:rPr lang="en-US" altLang="zh-CN" sz="1800" dirty="0">
                <a:effectLst/>
                <a:ea typeface="DengXian" panose="02010600030101010101" pitchFamily="2" charset="-122"/>
                <a:cs typeface="Times New Roman" panose="02020603050405020304" pitchFamily="18" charset="0"/>
              </a:rPr>
              <a:t> 7 </a:t>
            </a:r>
            <a:r>
              <a:rPr lang="zh-CN" altLang="zh-CN" sz="1800" dirty="0">
                <a:effectLst/>
                <a:ea typeface="DengXian" panose="02010600030101010101" pitchFamily="2" charset="-122"/>
                <a:cs typeface="Times New Roman" panose="02020603050405020304" pitchFamily="18" charset="0"/>
              </a:rPr>
              <a:t>个结构稳定的簇分支。这一步</a:t>
            </a:r>
            <a:r>
              <a:rPr lang="zh-CN" altLang="zh-CN" sz="1800" b="1" dirty="0">
                <a:effectLst/>
                <a:ea typeface="DengXian" panose="02010600030101010101" pitchFamily="2" charset="-122"/>
                <a:cs typeface="Times New Roman" panose="02020603050405020304" pitchFamily="18" charset="0"/>
              </a:rPr>
              <a:t>完全是数据驱动的统计方法</a:t>
            </a:r>
            <a:r>
              <a:rPr lang="en-US" altLang="zh-CN" sz="1800" b="1"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为后续</a:t>
            </a:r>
            <a:r>
              <a:rPr lang="en-US" altLang="zh-CN" sz="1800" b="1" dirty="0">
                <a:effectLst/>
                <a:ea typeface="DengXian" panose="02010600030101010101" pitchFamily="2" charset="-122"/>
                <a:cs typeface="Times New Roman" panose="02020603050405020304" pitchFamily="18" charset="0"/>
              </a:rPr>
              <a:t> LLM </a:t>
            </a:r>
            <a:r>
              <a:rPr lang="zh-CN" altLang="zh-CN" sz="1800" b="1" dirty="0">
                <a:effectLst/>
                <a:ea typeface="DengXian" panose="02010600030101010101" pitchFamily="2" charset="-122"/>
                <a:cs typeface="Times New Roman" panose="02020603050405020304" pitchFamily="18" charset="0"/>
              </a:rPr>
              <a:t>命名提供了客观的聚类边界</a:t>
            </a:r>
            <a:r>
              <a:rPr lang="zh-CN" altLang="zh-CN" sz="1800" dirty="0">
                <a:effectLst/>
                <a:ea typeface="DengXian" panose="02010600030101010101" pitchFamily="2" charset="-122"/>
                <a:cs typeface="Times New Roman" panose="02020603050405020304" pitchFamily="18" charset="0"/>
              </a:rPr>
              <a:t>。</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45960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zh-CN" sz="1800" b="1" dirty="0">
                <a:effectLst/>
                <a:latin typeface="宋体" panose="02010600030101010101" pitchFamily="2" charset="-122"/>
                <a:ea typeface="宋体" panose="02010600030101010101" pitchFamily="2" charset="-122"/>
                <a:cs typeface="宋体" panose="02010600030101010101" pitchFamily="2" charset="-122"/>
              </a:rPr>
              <a:t>第二步</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是</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LLM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辅助语义归纳。</a:t>
            </a:r>
            <a:r>
              <a:rPr lang="zh-CN" altLang="en-US" sz="2800" dirty="0"/>
              <a:t>这一步是整个流程里 </a:t>
            </a:r>
            <a:r>
              <a:rPr lang="en" altLang="zh-CN" sz="2800" dirty="0"/>
              <a:t>LLM </a:t>
            </a:r>
            <a:r>
              <a:rPr lang="zh-CN" altLang="en-US" sz="2800" dirty="0"/>
              <a:t>介入的环节</a:t>
            </a:r>
            <a:r>
              <a:rPr lang="en-US" altLang="zh-CN" sz="2800" dirty="0"/>
              <a:t>,</a:t>
            </a:r>
            <a:r>
              <a:rPr lang="zh-CN" altLang="en-US" sz="2800" dirty="0"/>
              <a:t>但</a:t>
            </a:r>
            <a:r>
              <a:rPr lang="zh-CN" altLang="en-US" sz="2800" b="1" dirty="0"/>
              <a:t>我们对 </a:t>
            </a:r>
            <a:r>
              <a:rPr lang="en" altLang="zh-CN" sz="2800" b="1" dirty="0"/>
              <a:t>LLM </a:t>
            </a:r>
            <a:r>
              <a:rPr lang="zh-CN" altLang="en-US" sz="2800" b="1" dirty="0"/>
              <a:t>的角色做了严格的限制和多重验证</a:t>
            </a:r>
            <a:r>
              <a:rPr lang="en-US" altLang="zh-CN" sz="2800" b="1" dirty="0"/>
              <a:t>,</a:t>
            </a:r>
            <a:r>
              <a:rPr lang="zh-CN" altLang="en-US" sz="2800" b="1" dirty="0"/>
              <a:t>而不是直接相信它的输出</a:t>
            </a:r>
            <a:r>
              <a:rPr lang="zh-CN" altLang="en-US" sz="2800" dirty="0"/>
              <a:t>。</a:t>
            </a:r>
            <a:endParaRPr lang="en-US" altLang="zh-CN" sz="2800" dirty="0"/>
          </a:p>
          <a:p>
            <a:endParaRPr lang="en-US" dirty="0"/>
          </a:p>
          <a:p>
            <a:r>
              <a:rPr lang="en" altLang="zh-CN" dirty="0"/>
              <a:t>Ward </a:t>
            </a:r>
            <a:r>
              <a:rPr lang="zh-CN" altLang="en-US" dirty="0"/>
              <a:t>聚类虽然给出了 </a:t>
            </a:r>
            <a:r>
              <a:rPr lang="en-US" altLang="zh-CN" dirty="0"/>
              <a:t>7 </a:t>
            </a:r>
            <a:r>
              <a:rPr lang="zh-CN" altLang="en-US" dirty="0"/>
              <a:t>个簇</a:t>
            </a:r>
            <a:r>
              <a:rPr lang="en-US" altLang="zh-CN" dirty="0"/>
              <a:t>,</a:t>
            </a:r>
            <a:r>
              <a:rPr lang="zh-CN" altLang="en-US" dirty="0"/>
              <a:t>但它</a:t>
            </a:r>
            <a:r>
              <a:rPr lang="zh-CN" altLang="en-US" b="1" dirty="0"/>
              <a:t>只能告诉我们哪些实体应该归在一起</a:t>
            </a:r>
            <a:r>
              <a:rPr lang="en-US" altLang="zh-CN" b="1" dirty="0"/>
              <a:t>,</a:t>
            </a:r>
            <a:r>
              <a:rPr lang="zh-CN" altLang="en-US" b="1" dirty="0"/>
              <a:t>无法给出每个簇在网络安全语义上的解释</a:t>
            </a:r>
            <a:r>
              <a:rPr lang="en-US" altLang="zh-CN" dirty="0"/>
              <a:t>——</a:t>
            </a:r>
            <a:r>
              <a:rPr lang="zh-CN" altLang="en-US" dirty="0"/>
              <a:t>它给不出</a:t>
            </a:r>
            <a:r>
              <a:rPr lang="en-US" altLang="zh-CN" dirty="0"/>
              <a:t>"</a:t>
            </a:r>
            <a:r>
              <a:rPr lang="en" altLang="zh-CN" dirty="0" err="1"/>
              <a:t>Strategic_Core""Methodology</a:t>
            </a:r>
            <a:r>
              <a:rPr lang="en" altLang="zh-CN" dirty="0"/>
              <a:t>"</a:t>
            </a:r>
            <a:r>
              <a:rPr lang="zh-CN" altLang="en-US" dirty="0"/>
              <a:t>这种有意义的类别名。这是统计方法的根本局限</a:t>
            </a:r>
            <a:r>
              <a:rPr lang="en-US" altLang="zh-CN" dirty="0"/>
              <a:t>,</a:t>
            </a:r>
            <a:r>
              <a:rPr lang="zh-CN" altLang="en-US" dirty="0"/>
              <a:t>也是 </a:t>
            </a:r>
            <a:r>
              <a:rPr lang="en" altLang="zh-CN" dirty="0"/>
              <a:t>LLM </a:t>
            </a:r>
            <a:r>
              <a:rPr lang="zh-CN" altLang="en-US" dirty="0"/>
              <a:t>真正不可替代的地方。</a:t>
            </a:r>
            <a:endParaRPr lang="en-US" altLang="zh-CN" dirty="0"/>
          </a:p>
          <a:p>
            <a:endParaRPr lang="en-US" dirty="0"/>
          </a:p>
          <a:p>
            <a:r>
              <a:rPr lang="zh-CN" altLang="en-US" b="1" dirty="0"/>
              <a:t>第二件事是双框架对照</a:t>
            </a:r>
            <a:r>
              <a:rPr lang="en-US" altLang="zh-CN" dirty="0"/>
              <a:t>:</a:t>
            </a:r>
            <a:r>
              <a:rPr lang="zh-CN" altLang="en-US" dirty="0"/>
              <a:t>为了避免 </a:t>
            </a:r>
            <a:r>
              <a:rPr lang="en" altLang="zh-CN" dirty="0"/>
              <a:t>LLM </a:t>
            </a:r>
            <a:r>
              <a:rPr lang="zh-CN" altLang="en-US" dirty="0"/>
              <a:t>命名过于主观</a:t>
            </a:r>
            <a:r>
              <a:rPr lang="en-US" altLang="zh-CN" dirty="0"/>
              <a:t>,</a:t>
            </a:r>
            <a:r>
              <a:rPr lang="zh-CN" altLang="en-US" dirty="0"/>
              <a:t>我们用 </a:t>
            </a:r>
            <a:r>
              <a:rPr lang="en" altLang="zh-CN" dirty="0"/>
              <a:t>STIX 2.1 </a:t>
            </a:r>
            <a:r>
              <a:rPr lang="zh-CN" altLang="en-US" dirty="0"/>
              <a:t>和 </a:t>
            </a:r>
            <a:r>
              <a:rPr lang="en" altLang="zh-CN" dirty="0"/>
              <a:t>MITRE ATT&amp;CK </a:t>
            </a:r>
            <a:r>
              <a:rPr lang="zh-CN" altLang="en-US" dirty="0"/>
              <a:t>两个权威框架对每个命名进行交叉对照</a:t>
            </a:r>
            <a:r>
              <a:rPr lang="en-US" altLang="zh-CN" dirty="0"/>
              <a:t>,</a:t>
            </a:r>
            <a:r>
              <a:rPr lang="zh-CN" altLang="en-US" dirty="0"/>
              <a:t>确认它们在网安领域有可解释的标准对应。比如 </a:t>
            </a:r>
            <a:r>
              <a:rPr lang="en" altLang="zh-CN" dirty="0" err="1"/>
              <a:t>Strategic_Core</a:t>
            </a:r>
            <a:r>
              <a:rPr lang="en" altLang="zh-CN" dirty="0"/>
              <a:t> </a:t>
            </a:r>
            <a:r>
              <a:rPr lang="zh-CN" altLang="en-US" dirty="0"/>
              <a:t>对应 </a:t>
            </a:r>
            <a:r>
              <a:rPr lang="en" altLang="zh-CN" dirty="0"/>
              <a:t>STIX </a:t>
            </a:r>
            <a:r>
              <a:rPr lang="zh-CN" altLang="en-US" dirty="0"/>
              <a:t>的 </a:t>
            </a:r>
            <a:r>
              <a:rPr lang="en" altLang="zh-CN" dirty="0"/>
              <a:t>Threat Actor </a:t>
            </a:r>
            <a:r>
              <a:rPr lang="zh-CN" altLang="en-US" dirty="0"/>
              <a:t>和 </a:t>
            </a:r>
            <a:r>
              <a:rPr lang="en" altLang="zh-CN" dirty="0"/>
              <a:t>MITRE </a:t>
            </a:r>
            <a:r>
              <a:rPr lang="zh-CN" altLang="en-US" dirty="0"/>
              <a:t>的 </a:t>
            </a:r>
            <a:r>
              <a:rPr lang="en" altLang="zh-CN" dirty="0"/>
              <a:t>Campaign </a:t>
            </a:r>
            <a:r>
              <a:rPr lang="en" altLang="zh-CN" dirty="0" err="1"/>
              <a:t>Groups,Attack_Resource</a:t>
            </a:r>
            <a:r>
              <a:rPr lang="en" altLang="zh-CN" dirty="0"/>
              <a:t> </a:t>
            </a:r>
            <a:r>
              <a:rPr lang="zh-CN" altLang="en-US" dirty="0"/>
              <a:t>对应 </a:t>
            </a:r>
            <a:r>
              <a:rPr lang="en" altLang="zh-CN" dirty="0"/>
              <a:t>STIX </a:t>
            </a:r>
            <a:r>
              <a:rPr lang="zh-CN" altLang="en-US" dirty="0"/>
              <a:t>的 </a:t>
            </a:r>
            <a:r>
              <a:rPr lang="en" altLang="zh-CN" dirty="0"/>
              <a:t>Malware/Tool </a:t>
            </a:r>
            <a:r>
              <a:rPr lang="zh-CN" altLang="en-US" dirty="0"/>
              <a:t>类对象。</a:t>
            </a:r>
            <a:endParaRPr lang="en-US" altLang="zh-CN" dirty="0"/>
          </a:p>
          <a:p>
            <a:endParaRPr lang="en-US" dirty="0"/>
          </a:p>
          <a:p>
            <a:r>
              <a:rPr lang="zh-CN" altLang="en-US" dirty="0"/>
              <a:t>所以我们把 </a:t>
            </a:r>
            <a:r>
              <a:rPr lang="en-US" altLang="zh-CN" dirty="0"/>
              <a:t>7 </a:t>
            </a:r>
            <a:r>
              <a:rPr lang="zh-CN" altLang="en-US" dirty="0"/>
              <a:t>个簇的成员标签输入 </a:t>
            </a:r>
            <a:r>
              <a:rPr lang="en" altLang="zh-CN" dirty="0"/>
              <a:t>GPT-4,</a:t>
            </a:r>
            <a:r>
              <a:rPr lang="zh-CN" altLang="en-US" dirty="0"/>
              <a:t>在受控闭集约束下</a:t>
            </a:r>
            <a:r>
              <a:rPr lang="en-US" altLang="zh-CN" dirty="0"/>
              <a:t>,</a:t>
            </a:r>
            <a:r>
              <a:rPr lang="zh-CN" altLang="en-US" dirty="0"/>
              <a:t>要求它结合网络安全背景为每个簇生成高层抽象命名</a:t>
            </a:r>
            <a:r>
              <a:rPr lang="en-US" altLang="zh-CN" dirty="0"/>
              <a:t>,</a:t>
            </a:r>
            <a:r>
              <a:rPr lang="zh-CN" altLang="en-US" b="1" dirty="0"/>
              <a:t>并显式让命名向 </a:t>
            </a:r>
            <a:r>
              <a:rPr lang="en" altLang="zh-CN" b="1" dirty="0"/>
              <a:t>STIX 2.1 </a:t>
            </a:r>
            <a:r>
              <a:rPr lang="zh-CN" altLang="en-US" b="1" dirty="0"/>
              <a:t>和 </a:t>
            </a:r>
            <a:r>
              <a:rPr lang="en" altLang="zh-CN" b="1" dirty="0"/>
              <a:t>MITRE ATT&amp;CK </a:t>
            </a:r>
            <a:r>
              <a:rPr lang="zh-CN" altLang="en-US" b="1" dirty="0"/>
              <a:t>两个权威框架的术语体系靠拢</a:t>
            </a:r>
            <a:r>
              <a:rPr lang="zh-CN" altLang="en-US" dirty="0"/>
              <a:t>。最终得到 </a:t>
            </a:r>
            <a:r>
              <a:rPr lang="en-US" altLang="zh-CN" dirty="0"/>
              <a:t>7 </a:t>
            </a:r>
            <a:r>
              <a:rPr lang="zh-CN" altLang="en-US" dirty="0"/>
              <a:t>个高层抽象节点</a:t>
            </a:r>
            <a:r>
              <a:rPr lang="en-US" altLang="zh-CN" dirty="0"/>
              <a:t>:</a:t>
            </a:r>
            <a:r>
              <a:rPr lang="en" altLang="zh-CN" dirty="0" err="1"/>
              <a:t>Strategic_Core</a:t>
            </a:r>
            <a:r>
              <a:rPr lang="en" altLang="zh-CN" dirty="0"/>
              <a:t> </a:t>
            </a:r>
            <a:r>
              <a:rPr lang="zh-CN" altLang="en-US" dirty="0"/>
              <a:t>对应 </a:t>
            </a:r>
            <a:r>
              <a:rPr lang="en" altLang="zh-CN" dirty="0"/>
              <a:t>STIX </a:t>
            </a:r>
            <a:r>
              <a:rPr lang="zh-CN" altLang="en-US" dirty="0"/>
              <a:t>的 </a:t>
            </a:r>
            <a:r>
              <a:rPr lang="en" altLang="zh-CN" dirty="0"/>
              <a:t>Threat Actor </a:t>
            </a:r>
            <a:r>
              <a:rPr lang="zh-CN" altLang="en-US" dirty="0"/>
              <a:t>和 </a:t>
            </a:r>
            <a:r>
              <a:rPr lang="en" altLang="zh-CN" dirty="0"/>
              <a:t>MITRE </a:t>
            </a:r>
            <a:r>
              <a:rPr lang="zh-CN" altLang="en-US" dirty="0"/>
              <a:t>的 </a:t>
            </a:r>
            <a:r>
              <a:rPr lang="en" altLang="zh-CN" dirty="0"/>
              <a:t>Campaign </a:t>
            </a:r>
            <a:r>
              <a:rPr lang="en" altLang="zh-CN" dirty="0" err="1"/>
              <a:t>Groups,Attack_Resource</a:t>
            </a:r>
            <a:r>
              <a:rPr lang="en" altLang="zh-CN" dirty="0"/>
              <a:t> </a:t>
            </a:r>
            <a:r>
              <a:rPr lang="zh-CN" altLang="en-US" dirty="0"/>
              <a:t>对应 </a:t>
            </a:r>
            <a:r>
              <a:rPr lang="en" altLang="zh-CN" dirty="0"/>
              <a:t>STIX </a:t>
            </a:r>
            <a:r>
              <a:rPr lang="zh-CN" altLang="en-US" dirty="0"/>
              <a:t>的 </a:t>
            </a:r>
            <a:r>
              <a:rPr lang="en" altLang="zh-CN" dirty="0"/>
              <a:t>Malware/Tool </a:t>
            </a:r>
            <a:r>
              <a:rPr lang="zh-CN" altLang="en-US" dirty="0"/>
              <a:t>类对象</a:t>
            </a:r>
            <a:r>
              <a:rPr lang="en-US" altLang="zh-CN" dirty="0"/>
              <a:t>,</a:t>
            </a:r>
            <a:r>
              <a:rPr lang="en" altLang="zh-CN" dirty="0" err="1"/>
              <a:t>IOC_Network</a:t>
            </a:r>
            <a:r>
              <a:rPr lang="en" altLang="zh-CN" dirty="0"/>
              <a:t> </a:t>
            </a:r>
            <a:r>
              <a:rPr lang="zh-CN" altLang="en-US" dirty="0"/>
              <a:t>和 </a:t>
            </a:r>
            <a:r>
              <a:rPr lang="en" altLang="zh-CN" dirty="0" err="1"/>
              <a:t>IOC_Hash</a:t>
            </a:r>
            <a:r>
              <a:rPr lang="en" altLang="zh-CN" dirty="0"/>
              <a:t> </a:t>
            </a:r>
            <a:r>
              <a:rPr lang="zh-CN" altLang="en-US" dirty="0"/>
              <a:t>分别对应 </a:t>
            </a:r>
            <a:r>
              <a:rPr lang="en" altLang="zh-CN" dirty="0"/>
              <a:t>STIX </a:t>
            </a:r>
            <a:r>
              <a:rPr lang="zh-CN" altLang="en-US" dirty="0"/>
              <a:t>的 </a:t>
            </a:r>
            <a:r>
              <a:rPr lang="en" altLang="zh-CN" dirty="0"/>
              <a:t>Network Observable </a:t>
            </a:r>
            <a:r>
              <a:rPr lang="zh-CN" altLang="en-US" dirty="0"/>
              <a:t>和 </a:t>
            </a:r>
            <a:r>
              <a:rPr lang="en" altLang="zh-CN" dirty="0"/>
              <a:t>File Observable</a:t>
            </a:r>
            <a:r>
              <a:rPr lang="zh-CN" altLang="en" dirty="0"/>
              <a:t>。</a:t>
            </a:r>
            <a:r>
              <a:rPr lang="zh-CN" altLang="en-US" b="1" dirty="0"/>
              <a:t>这样最终命名既有数据驱动的边界基础</a:t>
            </a:r>
            <a:r>
              <a:rPr lang="en-US" altLang="zh-CN" b="1" dirty="0"/>
              <a:t>,</a:t>
            </a:r>
            <a:r>
              <a:rPr lang="zh-CN" altLang="en-US" b="1" dirty="0"/>
              <a:t>又有权威框架的语义锚定</a:t>
            </a:r>
            <a:r>
              <a:rPr lang="en-US" altLang="zh-CN" dirty="0"/>
              <a:t>,</a:t>
            </a:r>
            <a:r>
              <a:rPr lang="zh-CN" altLang="en-US" dirty="0"/>
              <a:t>可解释性显著高于纯 </a:t>
            </a:r>
            <a:r>
              <a:rPr lang="en" altLang="zh-CN" dirty="0"/>
              <a:t>LLM </a:t>
            </a:r>
            <a:r>
              <a:rPr lang="zh-CN" altLang="en-US" dirty="0"/>
              <a:t>自由命名。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248728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b="1" dirty="0">
                <a:effectLst/>
                <a:latin typeface="宋体" panose="02010600030101010101" pitchFamily="2" charset="-122"/>
                <a:ea typeface="宋体" panose="02010600030101010101" pitchFamily="2" charset="-122"/>
                <a:cs typeface="宋体" panose="02010600030101010101" pitchFamily="2" charset="-122"/>
              </a:rPr>
              <a:t>第三步，</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确定性规则注入</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这一步是整个流程的关键设计。</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我们没有让</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LLM </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直接生成层级关系</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原因是网络安全图谱对事实一致性要求非常高</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如果让大模型自由生成</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某实体属于某类别</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这样的关系</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容易引入幻觉和语义漂移。</a:t>
            </a:r>
          </a:p>
          <a:p>
            <a:endParaRPr lang="en-US" altLang="zh-CN" sz="1800" dirty="0">
              <a:effectLst/>
              <a:ea typeface="DengXian" panose="02010600030101010101" pitchFamily="2" charset="-122"/>
              <a:cs typeface="Times New Roman" panose="02020603050405020304" pitchFamily="18" charset="0"/>
            </a:endParaRPr>
          </a:p>
          <a:p>
            <a:r>
              <a:rPr lang="zh-CN" altLang="zh-CN" sz="1800" dirty="0">
                <a:effectLst/>
                <a:ea typeface="DengXian" panose="02010600030101010101" pitchFamily="2" charset="-122"/>
                <a:cs typeface="Times New Roman" panose="02020603050405020304" pitchFamily="18" charset="0"/>
              </a:rPr>
              <a:t>所以这一步采用预定义的映射字典</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通过脚本</a:t>
            </a:r>
            <a:r>
              <a:rPr lang="zh-CN" altLang="zh-CN" sz="1800" b="1" dirty="0">
                <a:effectLst/>
                <a:ea typeface="DengXian" panose="02010600030101010101" pitchFamily="2" charset="-122"/>
                <a:cs typeface="Times New Roman" panose="02020603050405020304" pitchFamily="18" charset="0"/>
              </a:rPr>
              <a:t>确定性地</a:t>
            </a:r>
            <a:r>
              <a:rPr lang="zh-CN" altLang="zh-CN" sz="1800" dirty="0">
                <a:effectLst/>
                <a:ea typeface="DengXian" panose="02010600030101010101" pitchFamily="2" charset="-122"/>
                <a:cs typeface="Times New Roman" panose="02020603050405020304" pitchFamily="18" charset="0"/>
              </a:rPr>
              <a:t>生成</a:t>
            </a:r>
            <a:r>
              <a:rPr lang="en-US" altLang="zh-CN" sz="1800" dirty="0">
                <a:effectLst/>
                <a:ea typeface="DengXian" panose="02010600030101010101" pitchFamily="2" charset="-122"/>
                <a:cs typeface="Times New Roman" panose="02020603050405020304" pitchFamily="18" charset="0"/>
              </a:rPr>
              <a:t> </a:t>
            </a:r>
            <a:r>
              <a:rPr lang="en-US" altLang="zh-CN" sz="1800" dirty="0" err="1">
                <a:effectLst/>
                <a:ea typeface="DengXian" panose="02010600030101010101" pitchFamily="2" charset="-122"/>
                <a:cs typeface="Times New Roman" panose="02020603050405020304" pitchFamily="18" charset="0"/>
              </a:rPr>
              <a:t>subClassOf</a:t>
            </a:r>
            <a:r>
              <a:rPr lang="en-US" altLang="zh-CN" sz="1800" dirty="0">
                <a:effectLst/>
                <a:ea typeface="DengXian" panose="02010600030101010101" pitchFamily="2" charset="-122"/>
                <a:cs typeface="Times New Roman" panose="02020603050405020304" pitchFamily="18" charset="0"/>
              </a:rPr>
              <a:t> </a:t>
            </a:r>
            <a:r>
              <a:rPr lang="zh-CN" altLang="zh-CN" sz="1800" dirty="0">
                <a:effectLst/>
                <a:ea typeface="DengXian" panose="02010600030101010101" pitchFamily="2" charset="-122"/>
                <a:cs typeface="Times New Roman" panose="02020603050405020304" pitchFamily="18" charset="0"/>
              </a:rPr>
              <a:t>三元组。整个过程遵循三条约束</a:t>
            </a:r>
            <a:r>
              <a:rPr lang="en-US" altLang="zh-CN" sz="1800"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闭集词表约束</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不引入任何新实体</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单向映射</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只允许底层实体指向高层抽象节点</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语义一致性</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由确定性字典硬隔离开放域发散</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494640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ea typeface="DengXian" panose="02010600030101010101" pitchFamily="2" charset="-122"/>
                <a:cs typeface="Times New Roman" panose="02020603050405020304" pitchFamily="18" charset="0"/>
              </a:rPr>
              <a:t>从规模上看</a:t>
            </a:r>
            <a:r>
              <a:rPr lang="en-US" altLang="zh-CN" sz="1800" dirty="0">
                <a:effectLst/>
                <a:ea typeface="DengXian" panose="02010600030101010101" pitchFamily="2" charset="-122"/>
                <a:cs typeface="Times New Roman" panose="02020603050405020304" pitchFamily="18" charset="0"/>
              </a:rPr>
              <a:t>,</a:t>
            </a:r>
            <a:r>
              <a:rPr lang="en-US" altLang="zh-CN" sz="1800" b="1" dirty="0">
                <a:effectLst/>
                <a:latin typeface="DengXian" panose="02010600030101010101" pitchFamily="2" charset="-122"/>
                <a:ea typeface="DengXian" panose="02010600030101010101" pitchFamily="2" charset="-122"/>
                <a:cs typeface="Times New Roman" panose="02020603050405020304" pitchFamily="18" charset="0"/>
              </a:rPr>
              <a:t>APT-Flat </a:t>
            </a:r>
            <a:r>
              <a:rPr lang="zh-CN" altLang="zh-CN" sz="1800" b="1" dirty="0">
                <a:effectLst/>
                <a:ea typeface="DengXian" panose="02010600030101010101" pitchFamily="2" charset="-122"/>
                <a:cs typeface="Times New Roman" panose="02020603050405020304" pitchFamily="18" charset="0"/>
              </a:rPr>
              <a:t>有</a:t>
            </a:r>
            <a:r>
              <a:rPr lang="en-US" altLang="zh-CN" sz="1800" b="1" dirty="0">
                <a:effectLst/>
                <a:ea typeface="DengXian" panose="02010600030101010101" pitchFamily="2" charset="-122"/>
                <a:cs typeface="Times New Roman" panose="02020603050405020304" pitchFamily="18" charset="0"/>
              </a:rPr>
              <a:t> 1,476 </a:t>
            </a:r>
            <a:r>
              <a:rPr lang="zh-CN" altLang="zh-CN" sz="1800" b="1" dirty="0">
                <a:effectLst/>
                <a:ea typeface="DengXian" panose="02010600030101010101" pitchFamily="2" charset="-122"/>
                <a:cs typeface="Times New Roman" panose="02020603050405020304" pitchFamily="18" charset="0"/>
              </a:rPr>
              <a:t>个实体、</a:t>
            </a:r>
            <a:r>
              <a:rPr lang="en-US" altLang="zh-CN" sz="1800" b="1" dirty="0">
                <a:effectLst/>
                <a:ea typeface="DengXian" panose="02010600030101010101" pitchFamily="2" charset="-122"/>
                <a:cs typeface="Times New Roman" panose="02020603050405020304" pitchFamily="18" charset="0"/>
              </a:rPr>
              <a:t>11 </a:t>
            </a:r>
            <a:r>
              <a:rPr lang="zh-CN" altLang="zh-CN" sz="1800" b="1" dirty="0">
                <a:effectLst/>
                <a:ea typeface="DengXian" panose="02010600030101010101" pitchFamily="2" charset="-122"/>
                <a:cs typeface="Times New Roman" panose="02020603050405020304" pitchFamily="18" charset="0"/>
              </a:rPr>
              <a:t>类关系、</a:t>
            </a:r>
            <a:r>
              <a:rPr lang="en-US" altLang="zh-CN" sz="1800" b="1" dirty="0">
                <a:effectLst/>
                <a:ea typeface="DengXian" panose="02010600030101010101" pitchFamily="2" charset="-122"/>
                <a:cs typeface="Times New Roman" panose="02020603050405020304" pitchFamily="18" charset="0"/>
              </a:rPr>
              <a:t>4,746 </a:t>
            </a:r>
            <a:r>
              <a:rPr lang="zh-CN" altLang="zh-CN" sz="1800" b="1" dirty="0">
                <a:effectLst/>
                <a:ea typeface="DengXian" panose="02010600030101010101" pitchFamily="2" charset="-122"/>
                <a:cs typeface="Times New Roman" panose="02020603050405020304" pitchFamily="18" charset="0"/>
              </a:rPr>
              <a:t>条三元组</a:t>
            </a:r>
            <a:r>
              <a:rPr lang="en-US" altLang="zh-CN" sz="1800" b="1"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重构后的</a:t>
            </a:r>
            <a:r>
              <a:rPr lang="en-US" altLang="zh-CN" sz="1800" b="1" dirty="0">
                <a:effectLst/>
                <a:ea typeface="DengXian" panose="02010600030101010101" pitchFamily="2" charset="-122"/>
                <a:cs typeface="Times New Roman" panose="02020603050405020304" pitchFamily="18" charset="0"/>
              </a:rPr>
              <a:t> APT-</a:t>
            </a:r>
            <a:r>
              <a:rPr lang="en-US" altLang="zh-CN" sz="1800" b="1" dirty="0" err="1">
                <a:effectLst/>
                <a:ea typeface="DengXian" panose="02010600030101010101" pitchFamily="2" charset="-122"/>
                <a:cs typeface="Times New Roman" panose="02020603050405020304" pitchFamily="18" charset="0"/>
              </a:rPr>
              <a:t>Hier</a:t>
            </a:r>
            <a:r>
              <a:rPr lang="en-US" altLang="zh-CN" sz="1800" b="1" dirty="0">
                <a:effectLst/>
                <a:ea typeface="DengXian" panose="02010600030101010101" pitchFamily="2" charset="-122"/>
                <a:cs typeface="Times New Roman" panose="02020603050405020304" pitchFamily="18" charset="0"/>
              </a:rPr>
              <a:t> </a:t>
            </a:r>
            <a:r>
              <a:rPr lang="zh-CN" altLang="zh-CN" sz="1800" b="1" dirty="0">
                <a:effectLst/>
                <a:ea typeface="DengXian" panose="02010600030101010101" pitchFamily="2" charset="-122"/>
                <a:cs typeface="Times New Roman" panose="02020603050405020304" pitchFamily="18" charset="0"/>
              </a:rPr>
              <a:t>增加了</a:t>
            </a:r>
            <a:r>
              <a:rPr lang="en-US" altLang="zh-CN" sz="1800" b="1" dirty="0">
                <a:effectLst/>
                <a:ea typeface="DengXian" panose="02010600030101010101" pitchFamily="2" charset="-122"/>
                <a:cs typeface="Times New Roman" panose="02020603050405020304" pitchFamily="18" charset="0"/>
              </a:rPr>
              <a:t> 7 </a:t>
            </a:r>
            <a:r>
              <a:rPr lang="zh-CN" altLang="zh-CN" sz="1800" b="1" dirty="0">
                <a:effectLst/>
                <a:ea typeface="DengXian" panose="02010600030101010101" pitchFamily="2" charset="-122"/>
                <a:cs typeface="Times New Roman" panose="02020603050405020304" pitchFamily="18" charset="0"/>
              </a:rPr>
              <a:t>个高层抽象节点和</a:t>
            </a:r>
            <a:r>
              <a:rPr lang="en-US" altLang="zh-CN" sz="1800" b="1" dirty="0">
                <a:effectLst/>
                <a:ea typeface="DengXian" panose="02010600030101010101" pitchFamily="2" charset="-122"/>
                <a:cs typeface="Times New Roman" panose="02020603050405020304" pitchFamily="18" charset="0"/>
              </a:rPr>
              <a:t> 1,253 </a:t>
            </a:r>
            <a:r>
              <a:rPr lang="zh-CN" altLang="zh-CN" sz="1800" b="1" dirty="0">
                <a:effectLst/>
                <a:ea typeface="DengXian" panose="02010600030101010101" pitchFamily="2" charset="-122"/>
                <a:cs typeface="Times New Roman" panose="02020603050405020304" pitchFamily="18" charset="0"/>
              </a:rPr>
              <a:t>条</a:t>
            </a:r>
            <a:r>
              <a:rPr lang="en-US" altLang="zh-CN" sz="1800" b="1" dirty="0">
                <a:effectLst/>
                <a:ea typeface="DengXian" panose="02010600030101010101" pitchFamily="2" charset="-122"/>
                <a:cs typeface="Times New Roman" panose="02020603050405020304" pitchFamily="18" charset="0"/>
              </a:rPr>
              <a:t> </a:t>
            </a:r>
            <a:r>
              <a:rPr lang="en-US" altLang="zh-CN" sz="1800" b="1" dirty="0" err="1">
                <a:effectLst/>
                <a:ea typeface="DengXian" panose="02010600030101010101" pitchFamily="2" charset="-122"/>
                <a:cs typeface="Times New Roman" panose="02020603050405020304" pitchFamily="18" charset="0"/>
              </a:rPr>
              <a:t>subClassOf</a:t>
            </a:r>
            <a:r>
              <a:rPr lang="en-US" altLang="zh-CN" sz="1800" b="1" dirty="0">
                <a:effectLst/>
                <a:ea typeface="DengXian" panose="02010600030101010101" pitchFamily="2" charset="-122"/>
                <a:cs typeface="Times New Roman" panose="02020603050405020304" pitchFamily="18" charset="0"/>
              </a:rPr>
              <a:t> </a:t>
            </a:r>
            <a:r>
              <a:rPr lang="zh-CN" altLang="zh-CN" sz="1800" b="1" dirty="0">
                <a:effectLst/>
                <a:ea typeface="DengXian" panose="02010600030101010101" pitchFamily="2" charset="-122"/>
                <a:cs typeface="Times New Roman" panose="02020603050405020304" pitchFamily="18" charset="0"/>
              </a:rPr>
              <a:t>关系</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总共</a:t>
            </a:r>
            <a:r>
              <a:rPr lang="en-US" altLang="zh-CN" sz="1800" dirty="0">
                <a:effectLst/>
                <a:ea typeface="DengXian" panose="02010600030101010101" pitchFamily="2" charset="-122"/>
                <a:cs typeface="Times New Roman" panose="02020603050405020304" pitchFamily="18" charset="0"/>
              </a:rPr>
              <a:t> 1,483 </a:t>
            </a:r>
            <a:r>
              <a:rPr lang="zh-CN" altLang="zh-CN" sz="1800" dirty="0">
                <a:effectLst/>
                <a:ea typeface="DengXian" panose="02010600030101010101" pitchFamily="2" charset="-122"/>
                <a:cs typeface="Times New Roman" panose="02020603050405020304" pitchFamily="18" charset="0"/>
              </a:rPr>
              <a:t>个实体、</a:t>
            </a:r>
            <a:r>
              <a:rPr lang="en-US" altLang="zh-CN" sz="1800" dirty="0">
                <a:effectLst/>
                <a:ea typeface="DengXian" panose="02010600030101010101" pitchFamily="2" charset="-122"/>
                <a:cs typeface="Times New Roman" panose="02020603050405020304" pitchFamily="18" charset="0"/>
              </a:rPr>
              <a:t>12 </a:t>
            </a:r>
            <a:r>
              <a:rPr lang="zh-CN" altLang="zh-CN" sz="1800" dirty="0">
                <a:effectLst/>
                <a:ea typeface="DengXian" panose="02010600030101010101" pitchFamily="2" charset="-122"/>
                <a:cs typeface="Times New Roman" panose="02020603050405020304" pitchFamily="18" charset="0"/>
              </a:rPr>
              <a:t>类关系、</a:t>
            </a:r>
            <a:r>
              <a:rPr lang="en-US" altLang="zh-CN" sz="1800" dirty="0">
                <a:effectLst/>
                <a:ea typeface="DengXian" panose="02010600030101010101" pitchFamily="2" charset="-122"/>
                <a:cs typeface="Times New Roman" panose="02020603050405020304" pitchFamily="18" charset="0"/>
              </a:rPr>
              <a:t>5,999 </a:t>
            </a:r>
            <a:r>
              <a:rPr lang="zh-CN" altLang="zh-CN" sz="1800" dirty="0">
                <a:effectLst/>
                <a:ea typeface="DengXian" panose="02010600030101010101" pitchFamily="2" charset="-122"/>
                <a:cs typeface="Times New Roman" panose="02020603050405020304" pitchFamily="18" charset="0"/>
              </a:rPr>
              <a:t>条三元组。</a:t>
            </a:r>
            <a:r>
              <a:rPr lang="zh-CN" altLang="zh-CN" dirty="0">
                <a:effectLst/>
              </a:rPr>
              <a:t> </a:t>
            </a:r>
            <a:endParaRPr lang="en-US" altLang="zh-CN" dirty="0">
              <a:effectLst/>
            </a:endParaRPr>
          </a:p>
          <a:p>
            <a:endParaRPr lang="en-US" dirty="0">
              <a:effectLst/>
            </a:endParaRPr>
          </a:p>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为了客观评估这种重构是否真正改变了图谱拓扑</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我们计算了</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dirty="0" err="1">
                <a:effectLst/>
                <a:latin typeface="宋体" panose="02010600030101010101" pitchFamily="2" charset="-122"/>
                <a:ea typeface="宋体" panose="02010600030101010101" pitchFamily="2" charset="-122"/>
                <a:cs typeface="宋体" panose="02010600030101010101" pitchFamily="2" charset="-122"/>
              </a:rPr>
              <a:t>Gromov</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dirty="0" err="1">
                <a:effectLst/>
                <a:latin typeface="宋体" panose="02010600030101010101" pitchFamily="2" charset="-122"/>
                <a:ea typeface="宋体" panose="02010600030101010101" pitchFamily="2" charset="-122"/>
                <a:cs typeface="宋体" panose="02010600030101010101" pitchFamily="2" charset="-122"/>
              </a:rPr>
              <a:t>δ</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双曲性指标。</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结果显示</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平均</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b="1" dirty="0" err="1">
                <a:effectLst/>
                <a:latin typeface="宋体" panose="02010600030101010101" pitchFamily="2" charset="-122"/>
                <a:ea typeface="宋体" panose="02010600030101010101" pitchFamily="2" charset="-122"/>
                <a:cs typeface="宋体" panose="02010600030101010101" pitchFamily="2" charset="-122"/>
              </a:rPr>
              <a:t>δ</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值由</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0.2566 </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降至</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0.1957</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说明重构后图谱整体更接近树状层级结构</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为后续双曲空间建模提供了数据结构层面的依据。</a:t>
            </a:r>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algn="just"/>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just"/>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我对这个结果的理解是：它不能单独证明每一条层级关系都是最优的，但可以说明重构后图谱整体更接近树状层级结构。因此，它为后续双曲空间建模提供了数据结构层面的依据。</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latin typeface="Arial" panose="020B0604020202020204" pitchFamily="34" charset="0"/>
                <a:ea typeface="DengXian" panose="02010600030101010101" pitchFamily="2" charset="-122"/>
                <a:cs typeface="Arial" panose="020B0604020202020204" pitchFamily="34" charset="0"/>
              </a:rPr>
              <a:t>接下来进入模型</a:t>
            </a:r>
            <a:r>
              <a:rPr lang="zh-CN" altLang="en-US" sz="1800" dirty="0">
                <a:effectLst/>
                <a:latin typeface="Arial" panose="020B0604020202020204" pitchFamily="34" charset="0"/>
                <a:ea typeface="DengXian" panose="02010600030101010101" pitchFamily="2" charset="-122"/>
                <a:cs typeface="Arial" panose="020B0604020202020204" pitchFamily="34" charset="0"/>
              </a:rPr>
              <a:t>层</a:t>
            </a:r>
            <a:r>
              <a:rPr lang="zh-CN" altLang="zh-CN" sz="1800" dirty="0">
                <a:effectLst/>
                <a:latin typeface="Arial" panose="020B0604020202020204" pitchFamily="34" charset="0"/>
                <a:ea typeface="DengXian" panose="02010600030101010101" pitchFamily="2" charset="-122"/>
                <a:cs typeface="Arial" panose="020B0604020202020204" pitchFamily="34" charset="0"/>
              </a:rPr>
              <a:t>的第一阶段：欧式空间语义编码。这一阶段的核心</a:t>
            </a:r>
            <a:r>
              <a:rPr lang="zh-CN" altLang="zh-CN" sz="1800" dirty="0">
                <a:effectLst/>
                <a:ea typeface="DengXian" panose="02010600030101010101" pitchFamily="2" charset="-122"/>
                <a:cs typeface="Times New Roman" panose="02020603050405020304" pitchFamily="18" charset="0"/>
              </a:rPr>
              <a:t>目标是为后续双曲空间提供具备拓扑感知能力的初始特征。这一阶段我们直接复用了两个成熟组件</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用</a:t>
            </a:r>
            <a:r>
              <a:rPr lang="en-US" altLang="zh-CN" sz="1800" dirty="0">
                <a:effectLst/>
                <a:ea typeface="DengXian" panose="02010600030101010101" pitchFamily="2" charset="-122"/>
                <a:cs typeface="Times New Roman" panose="02020603050405020304" pitchFamily="18" charset="0"/>
              </a:rPr>
              <a:t> </a:t>
            </a:r>
            <a:r>
              <a:rPr lang="en-US" altLang="zh-CN" sz="1800" dirty="0" err="1">
                <a:effectLst/>
                <a:ea typeface="DengXian" panose="02010600030101010101" pitchFamily="2" charset="-122"/>
                <a:cs typeface="Times New Roman" panose="02020603050405020304" pitchFamily="18" charset="0"/>
              </a:rPr>
              <a:t>CyBERT</a:t>
            </a:r>
            <a:r>
              <a:rPr lang="en-US" altLang="zh-CN" sz="1800" dirty="0">
                <a:effectLst/>
                <a:ea typeface="DengXian" panose="02010600030101010101" pitchFamily="2" charset="-122"/>
                <a:cs typeface="Times New Roman" panose="02020603050405020304" pitchFamily="18" charset="0"/>
              </a:rPr>
              <a:t> </a:t>
            </a:r>
            <a:r>
              <a:rPr lang="zh-CN" altLang="zh-CN" sz="1800" dirty="0">
                <a:effectLst/>
                <a:ea typeface="DengXian" panose="02010600030101010101" pitchFamily="2" charset="-122"/>
                <a:cs typeface="Times New Roman" panose="02020603050405020304" pitchFamily="18" charset="0"/>
              </a:rPr>
              <a:t>对每个实体做领域语义初始化</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再用</a:t>
            </a:r>
            <a:r>
              <a:rPr lang="en-US" altLang="zh-CN" sz="1800" dirty="0">
                <a:effectLst/>
                <a:ea typeface="DengXian" panose="02010600030101010101" pitchFamily="2" charset="-122"/>
                <a:cs typeface="Times New Roman" panose="02020603050405020304" pitchFamily="18" charset="0"/>
              </a:rPr>
              <a:t> </a:t>
            </a:r>
            <a:r>
              <a:rPr lang="en-US" altLang="zh-CN" sz="1800" dirty="0" err="1">
                <a:effectLst/>
                <a:ea typeface="DengXian" panose="02010600030101010101" pitchFamily="2" charset="-122"/>
                <a:cs typeface="Times New Roman" panose="02020603050405020304" pitchFamily="18" charset="0"/>
              </a:rPr>
              <a:t>DualQGNN</a:t>
            </a:r>
            <a:r>
              <a:rPr lang="en-US" altLang="zh-CN" sz="1800" dirty="0">
                <a:effectLst/>
                <a:ea typeface="DengXian" panose="02010600030101010101" pitchFamily="2" charset="-122"/>
                <a:cs typeface="Times New Roman" panose="02020603050405020304" pitchFamily="18" charset="0"/>
              </a:rPr>
              <a:t> </a:t>
            </a:r>
            <a:r>
              <a:rPr lang="zh-CN" altLang="zh-CN" sz="1800" dirty="0">
                <a:effectLst/>
                <a:ea typeface="DengXian" panose="02010600030101010101" pitchFamily="2" charset="-122"/>
                <a:cs typeface="Times New Roman" panose="02020603050405020304" pitchFamily="18" charset="0"/>
              </a:rPr>
              <a:t>这个四元数图神经网络捕获邻域结构。考虑到</a:t>
            </a:r>
            <a:r>
              <a:rPr lang="en-US" altLang="zh-CN" sz="1800" dirty="0">
                <a:effectLst/>
                <a:ea typeface="DengXian" panose="02010600030101010101" pitchFamily="2" charset="-122"/>
                <a:cs typeface="Times New Roman" panose="02020603050405020304" pitchFamily="18" charset="0"/>
              </a:rPr>
              <a:t> APT </a:t>
            </a:r>
            <a:r>
              <a:rPr lang="zh-CN" altLang="zh-CN" sz="1800" dirty="0">
                <a:effectLst/>
                <a:ea typeface="DengXian" panose="02010600030101010101" pitchFamily="2" charset="-122"/>
                <a:cs typeface="Times New Roman" panose="02020603050405020304" pitchFamily="18" charset="0"/>
              </a:rPr>
              <a:t>图谱稀疏</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我们把聚合层数限制为 </a:t>
            </a:r>
            <a:r>
              <a:rPr lang="en-US" altLang="zh-CN" sz="1800" dirty="0">
                <a:effectLst/>
                <a:ea typeface="DengXian" panose="02010600030101010101" pitchFamily="2" charset="-122"/>
                <a:cs typeface="Times New Roman" panose="02020603050405020304" pitchFamily="18" charset="0"/>
              </a:rPr>
              <a:t>L=1</a:t>
            </a:r>
            <a:r>
              <a:rPr lang="zh-CN" altLang="zh-CN" sz="1800" dirty="0">
                <a:effectLst/>
                <a:ea typeface="DengXian" panose="02010600030101010101" pitchFamily="2" charset="-122"/>
                <a:cs typeface="Times New Roman" panose="02020603050405020304" pitchFamily="18" charset="0"/>
              </a:rPr>
              <a:t>以控制过平滑风险。这一阶段的输出是</a:t>
            </a:r>
            <a:r>
              <a:rPr lang="en-US" altLang="zh-CN" sz="1800" dirty="0">
                <a:effectLst/>
                <a:ea typeface="DengXian" panose="02010600030101010101" pitchFamily="2" charset="-122"/>
                <a:cs typeface="Times New Roman" panose="02020603050405020304" pitchFamily="18" charset="0"/>
              </a:rPr>
              <a:t> 256 </a:t>
            </a:r>
            <a:r>
              <a:rPr lang="zh-CN" altLang="zh-CN" sz="1800" dirty="0">
                <a:effectLst/>
                <a:ea typeface="DengXian" panose="02010600030101010101" pitchFamily="2" charset="-122"/>
                <a:cs typeface="Times New Roman" panose="02020603050405020304" pitchFamily="18" charset="0"/>
              </a:rPr>
              <a:t>维的欧式向量</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它将作为下一阶段双曲建模的起点。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接下来是跨空间的桥接。</a:t>
            </a:r>
            <a:endParaRPr lang="en-US" dirty="0"/>
          </a:p>
          <a:p>
            <a:r>
              <a:rPr lang="zh-CN" altLang="zh-CN" sz="1800" dirty="0">
                <a:effectLst/>
                <a:ea typeface="DengXian" panose="02010600030101010101" pitchFamily="2" charset="-122"/>
                <a:cs typeface="Times New Roman" panose="02020603050405020304" pitchFamily="18" charset="0"/>
              </a:rPr>
              <a:t>其核心公式为：</a:t>
            </a:r>
            <a:endParaRPr lang="en-US" altLang="zh-CN" sz="1800" dirty="0">
              <a:effectLst/>
              <a:ea typeface="DengXian" panose="02010600030101010101" pitchFamily="2" charset="-122"/>
              <a:cs typeface="Times New Roman" panose="02020603050405020304" pitchFamily="18" charset="0"/>
            </a:endParaRPr>
          </a:p>
          <a:p>
            <a:endParaRPr lang="en-US" sz="1800" dirty="0">
              <a:effectLst/>
              <a:ea typeface="DengXian" panose="02010600030101010101" pitchFamily="2" charset="-122"/>
              <a:cs typeface="Times New Roman" panose="02020603050405020304" pitchFamily="18" charset="0"/>
            </a:endParaRPr>
          </a:p>
          <a:p>
            <a:pPr algn="just"/>
            <a:r>
              <a:rPr lang="zh-CN" altLang="zh-CN" sz="1800" dirty="0">
                <a:effectLst/>
                <a:latin typeface="Arial" panose="020B0604020202020204" pitchFamily="34" charset="0"/>
                <a:ea typeface="宋体" panose="02010600030101010101" pitchFamily="2" charset="-122"/>
                <a:cs typeface="Arial" panose="020B0604020202020204" pitchFamily="34" charset="0"/>
              </a:rPr>
              <a:t>它其实物理意义极其明确，分为左右两半：</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 </a:t>
            </a:r>
            <a:r>
              <a:rPr lang="zh-CN" altLang="zh-CN" sz="1800" dirty="0">
                <a:effectLst/>
                <a:latin typeface="Arial" panose="020B0604020202020204" pitchFamily="34" charset="0"/>
                <a:ea typeface="宋体" panose="02010600030101010101" pitchFamily="2" charset="-122"/>
                <a:cs typeface="Arial" panose="020B0604020202020204" pitchFamily="34" charset="0"/>
              </a:rPr>
              <a:t>右半部分的单位向量负责</a:t>
            </a:r>
            <a:r>
              <a:rPr lang="en-US" altLang="zh-CN" sz="1800" dirty="0">
                <a:effectLst/>
                <a:latin typeface="Arial" panose="020B0604020202020204" pitchFamily="34" charset="0"/>
                <a:ea typeface="宋体" panose="02010600030101010101" pitchFamily="2" charset="-122"/>
                <a:cs typeface="宋体" panose="02010600030101010101" pitchFamily="2" charset="-122"/>
              </a:rPr>
              <a:t>‘</a:t>
            </a:r>
            <a:r>
              <a:rPr lang="zh-CN" altLang="zh-CN" sz="1800" dirty="0">
                <a:effectLst/>
                <a:latin typeface="Arial" panose="020B0604020202020204" pitchFamily="34" charset="0"/>
                <a:ea typeface="宋体" panose="02010600030101010101" pitchFamily="2" charset="-122"/>
                <a:cs typeface="Arial" panose="020B0604020202020204" pitchFamily="34" charset="0"/>
              </a:rPr>
              <a:t>定向</a:t>
            </a:r>
            <a:r>
              <a:rPr lang="en-US" altLang="zh-CN" sz="1800" dirty="0">
                <a:effectLst/>
                <a:latin typeface="Arial" panose="020B0604020202020204" pitchFamily="34" charset="0"/>
                <a:ea typeface="宋体" panose="02010600030101010101" pitchFamily="2" charset="-122"/>
                <a:cs typeface="宋体" panose="02010600030101010101" pitchFamily="2" charset="-122"/>
              </a:rPr>
              <a:t>’</a:t>
            </a:r>
            <a:r>
              <a:rPr lang="zh-CN" altLang="zh-CN" sz="1800" dirty="0">
                <a:effectLst/>
                <a:latin typeface="Arial" panose="020B0604020202020204" pitchFamily="34" charset="0"/>
                <a:ea typeface="宋体" panose="02010600030101010101" pitchFamily="2" charset="-122"/>
                <a:cs typeface="Arial" panose="020B0604020202020204" pitchFamily="34" charset="0"/>
              </a:rPr>
              <a:t>。它绝对保留了欧式空间中已经区分好的语义方向，保证实体的特征不跑偏；</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 </a:t>
            </a:r>
          </a:p>
          <a:p>
            <a:pPr algn="just"/>
            <a:r>
              <a:rPr lang="zh-CN" altLang="zh-CN" sz="1800" dirty="0">
                <a:effectLst/>
                <a:latin typeface="Arial" panose="020B0604020202020204" pitchFamily="34" charset="0"/>
                <a:ea typeface="宋体" panose="02010600030101010101" pitchFamily="2" charset="-122"/>
                <a:cs typeface="Arial" panose="020B0604020202020204" pitchFamily="34" charset="0"/>
              </a:rPr>
              <a:t>左半部分的</a:t>
            </a:r>
            <a:r>
              <a:rPr lang="zh-CN" altLang="zh-CN" sz="1800" dirty="0">
                <a:effectLst/>
                <a:latin typeface="宋体" panose="02010600030101010101" pitchFamily="2" charset="-122"/>
                <a:ea typeface="Arial" panose="020B0604020202020204" pitchFamily="34" charset="0"/>
                <a:cs typeface="宋体" panose="02010600030101010101" pitchFamily="2" charset="-122"/>
              </a:rPr>
              <a:t> </a:t>
            </a:r>
            <a:r>
              <a:rPr lang="en-US" altLang="zh-CN" sz="1800" dirty="0">
                <a:effectLst/>
                <a:latin typeface="宋体" panose="02010600030101010101" pitchFamily="2" charset="-122"/>
                <a:ea typeface="Arial" panose="020B0604020202020204" pitchFamily="34" charset="0"/>
                <a:cs typeface="宋体" panose="02010600030101010101" pitchFamily="2" charset="-122"/>
              </a:rPr>
              <a:t>$\tanh$ </a:t>
            </a:r>
            <a:r>
              <a:rPr lang="zh-CN" altLang="zh-CN" sz="1800" dirty="0">
                <a:effectLst/>
                <a:latin typeface="Arial" panose="020B0604020202020204" pitchFamily="34" charset="0"/>
                <a:ea typeface="宋体" panose="02010600030101010101" pitchFamily="2" charset="-122"/>
                <a:cs typeface="Arial" panose="020B0604020202020204" pitchFamily="34" charset="0"/>
              </a:rPr>
              <a:t>函数负责</a:t>
            </a:r>
            <a:r>
              <a:rPr lang="en-US" altLang="zh-CN" sz="1800" dirty="0">
                <a:effectLst/>
                <a:latin typeface="Arial" panose="020B0604020202020204" pitchFamily="34" charset="0"/>
                <a:ea typeface="宋体" panose="02010600030101010101" pitchFamily="2" charset="-122"/>
                <a:cs typeface="宋体" panose="02010600030101010101" pitchFamily="2" charset="-122"/>
              </a:rPr>
              <a:t>‘</a:t>
            </a:r>
            <a:r>
              <a:rPr lang="zh-CN" altLang="zh-CN" sz="1800" dirty="0">
                <a:effectLst/>
                <a:latin typeface="Arial" panose="020B0604020202020204" pitchFamily="34" charset="0"/>
                <a:ea typeface="宋体" panose="02010600030101010101" pitchFamily="2" charset="-122"/>
                <a:cs typeface="Arial" panose="020B0604020202020204" pitchFamily="34" charset="0"/>
              </a:rPr>
              <a:t>定界</a:t>
            </a:r>
            <a:r>
              <a:rPr lang="en-US" altLang="zh-CN" sz="1800" dirty="0">
                <a:effectLst/>
                <a:latin typeface="Arial" panose="020B0604020202020204" pitchFamily="34" charset="0"/>
                <a:ea typeface="宋体" panose="02010600030101010101" pitchFamily="2" charset="-122"/>
                <a:cs typeface="宋体" panose="02010600030101010101" pitchFamily="2" charset="-122"/>
              </a:rPr>
              <a:t>’</a:t>
            </a:r>
            <a:r>
              <a:rPr lang="zh-CN" altLang="zh-CN" sz="1800" dirty="0">
                <a:effectLst/>
                <a:latin typeface="Arial" panose="020B0604020202020204" pitchFamily="34" charset="0"/>
                <a:ea typeface="宋体" panose="02010600030101010101" pitchFamily="2" charset="-122"/>
                <a:cs typeface="Arial" panose="020B0604020202020204" pitchFamily="34" charset="0"/>
              </a:rPr>
              <a:t>。无论欧式向量原本有多长，它都能作为一个完美的减震器，将特征平滑地压缩到庞加莱球的合法边界内，彻底避免越界导致的梯度爆炸。</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由于指数映射在原点邻域具有</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局部等距性</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且为</a:t>
            </a:r>
            <a:r>
              <a:rPr lang="zh-CN" altLang="zh-CN" sz="1800" b="1" kern="100" dirty="0">
                <a:effectLst/>
                <a:latin typeface="DengXian" panose="02010600030101010101" pitchFamily="2" charset="-122"/>
                <a:ea typeface="DengXian" panose="02010600030101010101" pitchFamily="2" charset="-122"/>
                <a:cs typeface="Times New Roman" panose="02020603050405020304" pitchFamily="18" charset="0"/>
              </a:rPr>
              <a:t>严格单射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欧式空间的语义结构能够无混叠地迁移到双曲空间。</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b="1" dirty="0">
                <a:effectLst/>
                <a:ea typeface="DengXian" panose="02010600030101010101" pitchFamily="2" charset="-122"/>
                <a:cs typeface="Times New Roman" panose="02020603050405020304" pitchFamily="18" charset="0"/>
              </a:rPr>
              <a:t>经过桥接，特征进入第二阶段</a:t>
            </a:r>
            <a:r>
              <a:rPr lang="en-US" altLang="zh-CN" sz="1800" b="1"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庞加莱球双曲解码。</a:t>
            </a:r>
            <a:r>
              <a:rPr lang="zh-CN" altLang="zh-CN" sz="1800" dirty="0">
                <a:effectLst/>
                <a:ea typeface="DengXian" panose="02010600030101010101" pitchFamily="2" charset="-122"/>
                <a:cs typeface="Times New Roman" panose="02020603050405020304" pitchFamily="18" charset="0"/>
              </a:rPr>
              <a:t> </a:t>
            </a:r>
            <a:endParaRPr lang="en-US" altLang="zh-CN" sz="1800" dirty="0">
              <a:effectLst/>
              <a:ea typeface="DengXian" panose="02010600030101010101" pitchFamily="2" charset="-122"/>
              <a:cs typeface="Times New Roman" panose="02020603050405020304" pitchFamily="18" charset="0"/>
            </a:endParaRPr>
          </a:p>
          <a:p>
            <a:endParaRPr lang="en-US" sz="1800" dirty="0">
              <a:effectLst/>
              <a:ea typeface="DengXian" panose="02010600030101010101" pitchFamily="2" charset="-122"/>
              <a:cs typeface="Times New Roman" panose="02020603050405020304" pitchFamily="18" charset="0"/>
            </a:endParaRPr>
          </a:p>
          <a:p>
            <a:pPr algn="just"/>
            <a:r>
              <a:rPr lang="zh-CN" altLang="zh-CN" sz="1800" b="1" dirty="0">
                <a:effectLst/>
                <a:latin typeface="宋体" panose="02010600030101010101" pitchFamily="2" charset="-122"/>
                <a:ea typeface="宋体" panose="02010600030101010101" pitchFamily="2" charset="-122"/>
                <a:cs typeface="宋体" panose="02010600030101010101" pitchFamily="2" charset="-122"/>
              </a:rPr>
              <a:t>双曲空间</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庞加莱球</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就是另一种流形</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只不过它的弯曲方向和球面相反。球面是</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正曲率</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表面向外鼓</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双曲空间是</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负曲率</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表面向内凹陷。负曲率带来的最神奇的性质就是</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空间体积随半径</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指数级膨胀</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所以能容纳树状层级结构里那种</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越往下分叉越多</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的几何形态。</a:t>
            </a:r>
          </a:p>
          <a:p>
            <a:pPr algn="just"/>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这里我们选用</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 </a:t>
            </a:r>
            <a:r>
              <a:rPr lang="en-US" altLang="zh-CN" sz="1800" kern="0" dirty="0" err="1">
                <a:effectLst/>
                <a:latin typeface="DengXian" panose="02010600030101010101" pitchFamily="2" charset="-122"/>
                <a:ea typeface="宋体" panose="02010600030101010101" pitchFamily="2" charset="-122"/>
                <a:cs typeface="宋体" panose="02010600030101010101" pitchFamily="2" charset="-122"/>
              </a:rPr>
              <a:t>MuRP</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 </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评分模型。双曲空间越靠近边界容量越大</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能自然地将底层叶子节点推向边缘</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从而缓解欧式空间的</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几何拥挤</a:t>
            </a:r>
            <a:r>
              <a:rPr lang="en-US" altLang="zh-CN" sz="1800" kern="0" dirty="0">
                <a:effectLst/>
                <a:latin typeface="DengXian" panose="02010600030101010101" pitchFamily="2" charset="-122"/>
                <a:ea typeface="宋体" panose="02010600030101010101" pitchFamily="2" charset="-122"/>
                <a:cs typeface="宋体" panose="02010600030101010101" pitchFamily="2" charset="-122"/>
              </a:rPr>
              <a:t>"</a:t>
            </a:r>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问题。</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lang="en-US" altLang="zh-CN" sz="1800" kern="0">
              <a:effectLst/>
              <a:ea typeface="宋体" panose="02010600030101010101" pitchFamily="2" charset="-122"/>
              <a:cs typeface="宋体" panose="02010600030101010101" pitchFamily="2" charset="-122"/>
            </a:endParaRPr>
          </a:p>
          <a:p>
            <a:r>
              <a:rPr lang="zh-CN" altLang="zh-CN" sz="1800" kern="0">
                <a:effectLst/>
                <a:ea typeface="宋体" panose="02010600030101010101" pitchFamily="2" charset="-122"/>
                <a:cs typeface="宋体" panose="02010600030101010101" pitchFamily="2" charset="-122"/>
              </a:rPr>
              <a:t>在</a:t>
            </a:r>
            <a:r>
              <a:rPr lang="zh-CN" altLang="zh-CN" sz="1800" kern="0" dirty="0">
                <a:effectLst/>
                <a:ea typeface="宋体" panose="02010600030101010101" pitchFamily="2" charset="-122"/>
                <a:cs typeface="宋体" panose="02010600030101010101" pitchFamily="2" charset="-122"/>
              </a:rPr>
              <a:t>欧式空间里，加权很简单，直接相乘即可。但双曲庞加莱球是一个弯曲的非欧空间，直接进行矩阵相乘会破坏原有的几何性质，导致节点脱离球面。因此，我们采取了</a:t>
            </a:r>
            <a:r>
              <a:rPr lang="en-US" altLang="zh-CN" sz="1800" kern="0" dirty="0">
                <a:effectLst/>
                <a:ea typeface="宋体" panose="02010600030101010101" pitchFamily="2" charset="-122"/>
                <a:cs typeface="宋体" panose="02010600030101010101" pitchFamily="2" charset="-122"/>
              </a:rPr>
              <a:t>‘</a:t>
            </a:r>
            <a:r>
              <a:rPr lang="zh-CN" altLang="zh-CN" sz="1800" kern="0" dirty="0">
                <a:effectLst/>
                <a:ea typeface="宋体" panose="02010600030101010101" pitchFamily="2" charset="-122"/>
                <a:cs typeface="宋体" panose="02010600030101010101" pitchFamily="2" charset="-122"/>
              </a:rPr>
              <a:t>展平</a:t>
            </a:r>
            <a:r>
              <a:rPr lang="en-US" altLang="zh-CN" sz="1800" kern="0" dirty="0">
                <a:effectLst/>
                <a:ea typeface="宋体" panose="02010600030101010101" pitchFamily="2" charset="-122"/>
                <a:cs typeface="宋体" panose="02010600030101010101" pitchFamily="2" charset="-122"/>
              </a:rPr>
              <a:t>-</a:t>
            </a:r>
            <a:r>
              <a:rPr lang="zh-CN" altLang="zh-CN" sz="1800" kern="0" dirty="0">
                <a:effectLst/>
                <a:ea typeface="宋体" panose="02010600030101010101" pitchFamily="2" charset="-122"/>
                <a:cs typeface="宋体" panose="02010600030101010101" pitchFamily="2" charset="-122"/>
              </a:rPr>
              <a:t>加权</a:t>
            </a:r>
            <a:r>
              <a:rPr lang="en-US" altLang="zh-CN" sz="1800" kern="0" dirty="0">
                <a:effectLst/>
                <a:ea typeface="宋体" panose="02010600030101010101" pitchFamily="2" charset="-122"/>
                <a:cs typeface="宋体" panose="02010600030101010101" pitchFamily="2" charset="-122"/>
              </a:rPr>
              <a:t>-</a:t>
            </a:r>
            <a:r>
              <a:rPr lang="zh-CN" altLang="zh-CN" sz="1800" kern="0" dirty="0">
                <a:effectLst/>
                <a:ea typeface="宋体" panose="02010600030101010101" pitchFamily="2" charset="-122"/>
                <a:cs typeface="宋体" panose="02010600030101010101" pitchFamily="2" charset="-122"/>
              </a:rPr>
              <a:t>还原</a:t>
            </a:r>
            <a:r>
              <a:rPr lang="en-US" altLang="zh-CN" sz="1800" kern="0" dirty="0">
                <a:effectLst/>
                <a:ea typeface="宋体" panose="02010600030101010101" pitchFamily="2" charset="-122"/>
                <a:cs typeface="宋体" panose="02010600030101010101" pitchFamily="2" charset="-122"/>
              </a:rPr>
              <a:t>’</a:t>
            </a:r>
            <a:r>
              <a:rPr lang="zh-CN" altLang="zh-CN" sz="1800" kern="0" dirty="0">
                <a:effectLst/>
                <a:ea typeface="宋体" panose="02010600030101010101" pitchFamily="2" charset="-122"/>
                <a:cs typeface="宋体" panose="02010600030101010101" pitchFamily="2" charset="-122"/>
              </a:rPr>
              <a:t>的策略：</a:t>
            </a:r>
            <a:r>
              <a:rPr lang="zh-CN" altLang="zh-CN" dirty="0">
                <a:effectLst/>
              </a:rPr>
              <a:t> </a:t>
            </a:r>
            <a:endParaRPr lang="en-US" altLang="zh-CN" dirty="0">
              <a:effectLst/>
            </a:endParaRPr>
          </a:p>
          <a:p>
            <a:endParaRPr lang="en-US" dirty="0">
              <a:effectLst/>
            </a:endParaRPr>
          </a:p>
          <a:p>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具体来说</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先用对数映射</a:t>
            </a:r>
            <a:r>
              <a:rPr lang="zh-CN" altLang="en-US"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log0​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将头节点从双曲空间投影到原点处的欧式切空间</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在这个平直的切空间里</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用关系特定权重矩阵</a:t>
            </a:r>
            <a:r>
              <a:rPr lang="zh-CN" altLang="zh-CN" sz="1800" kern="0" dirty="0">
                <a:effectLst/>
                <a:ea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Rr</a:t>
            </a:r>
            <a:r>
              <a:rPr lang="zh-CN" altLang="en-US" sz="1800" kern="0" dirty="0">
                <a:effectLst/>
                <a:latin typeface="Times New Roman" panose="02020603050405020304" pitchFamily="18" charset="0"/>
                <a:ea typeface="宋体" panose="02010600030101010101" pitchFamily="2" charset="-122"/>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进行逐元素相乘</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提取关系特异性</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最后通过</a:t>
            </a:r>
            <a:r>
              <a:rPr lang="zh-CN" altLang="en-US" sz="1800" kern="0" dirty="0">
                <a:effectLst/>
                <a:latin typeface="Times New Roman" panose="02020603050405020304" pitchFamily="18" charset="0"/>
                <a:ea typeface="宋体" panose="02010600030101010101" pitchFamily="2" charset="-122"/>
                <a:cs typeface="Times New Roman" panose="02020603050405020304" pitchFamily="18" charset="0"/>
              </a:rPr>
              <a:t>指数</a:t>
            </a:r>
            <a:r>
              <a:rPr lang="zh-CN" altLang="zh-CN" sz="1800" kern="0" dirty="0">
                <a:effectLst/>
                <a:ea typeface="Times New Roman" panose="02020603050405020304" pitchFamily="18" charset="0"/>
              </a:rPr>
              <a:t> </a:t>
            </a:r>
            <a:r>
              <a:rPr lang="en-US" altLang="zh-CN" sz="1800" kern="0" dirty="0">
                <a:effectLst/>
                <a:latin typeface="Times New Roman" panose="02020603050405020304" pitchFamily="18" charset="0"/>
                <a:ea typeface="宋体" panose="02010600030101010101" pitchFamily="2" charset="-122"/>
              </a:rPr>
              <a:t>exp0</a:t>
            </a:r>
            <a:r>
              <a:rPr lang="zh-CN" altLang="en-US" sz="1800" kern="0" dirty="0">
                <a:effectLst/>
                <a:latin typeface="Times New Roman" panose="02020603050405020304" pitchFamily="18" charset="0"/>
                <a:ea typeface="宋体" panose="02010600030101010101" pitchFamily="2" charset="-122"/>
              </a:rPr>
              <a:t> </a:t>
            </a:r>
            <a:r>
              <a:rPr lang="en-US" altLang="zh-CN" sz="1800" kern="0" dirty="0" err="1">
                <a:effectLst/>
                <a:latin typeface="宋体" panose="02010600030101010101" pitchFamily="2" charset="-122"/>
                <a:ea typeface="宋体" panose="02010600030101010101" pitchFamily="2" charset="-122"/>
                <a:cs typeface="Times New Roman" panose="02020603050405020304" pitchFamily="18" charset="0"/>
              </a:rPr>
              <a:t>还原回双曲空间</a:t>
            </a:r>
            <a:r>
              <a:rPr lang="zh-CN" altLang="en-US" sz="1800" kern="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0" dirty="0">
              <a:effectLst/>
              <a:latin typeface="Times New Roman" panose="02020603050405020304" pitchFamily="18" charset="0"/>
              <a:ea typeface="宋体" panose="02010600030101010101" pitchFamily="2" charset="-122"/>
            </a:endParaRPr>
          </a:p>
          <a:p>
            <a:endParaRPr lang="en-US" sz="1800" kern="0" dirty="0">
              <a:effectLst/>
              <a:latin typeface="Times New Roman" panose="02020603050405020304" pitchFamily="18" charset="0"/>
              <a:ea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对尾实体</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我们则加入关系平移项</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lang="en-US" dirty="0"/>
          </a:p>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kern="0" dirty="0">
                <a:effectLst/>
                <a:latin typeface="Cambria Math" panose="02040503050406030204" pitchFamily="18" charset="0"/>
                <a:ea typeface="宋体" panose="02010600030101010101" pitchFamily="2" charset="-122"/>
                <a:cs typeface="Cambria Math" panose="02040503050406030204" pitchFamily="18" charset="0"/>
              </a:rPr>
              <a:t>⊕</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M ​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表示双曲空间中的</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Möbius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加法，</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kern="0" baseline="-25000" dirty="0" err="1">
                <a:effectLst/>
                <a:latin typeface="Times New Roman" panose="02020603050405020304" pitchFamily="18" charset="0"/>
                <a:ea typeface="宋体" panose="02010600030101010101" pitchFamily="2" charset="-122"/>
                <a:cs typeface="Times New Roman" panose="02020603050405020304" pitchFamily="18" charset="0"/>
              </a:rPr>
              <a:t>r</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是关系对应的双曲平移向量。通过这一步，关系不仅参与头实体的缩放变换，也参与尾实体侧的层级位置调整。</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这里可以注意到，同一个关系</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r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在我们的设计里其实有两套参数</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大写</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R_r</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管</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头实体在哪些维度上聚焦</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小写</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r_r</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管</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尾实体在树状结构里跳到哪里</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。这种把缩放和平移解耦的设计</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MuRP</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评分函数最核心的几何直觉。</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最终三元组评分函数为：</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lang="en-US" dirty="0"/>
          </a:p>
          <a:p>
            <a:pPr algn="just"/>
            <a:r>
              <a:rPr lang="zh-CN" altLang="zh-CN" sz="1800" kern="0" dirty="0">
                <a:effectLst/>
                <a:latin typeface="DengXian" panose="02010600030101010101" pitchFamily="2" charset="-122"/>
                <a:ea typeface="宋体" panose="02010600030101010101" pitchFamily="2" charset="-122"/>
                <a:cs typeface="宋体" panose="02010600030101010101" pitchFamily="2" charset="-122"/>
              </a:rPr>
              <a:t>其中 </a:t>
            </a:r>
            <a:r>
              <a:rPr lang="en-US" altLang="zh-CN" sz="1800" kern="0" dirty="0" err="1">
                <a:effectLst/>
                <a:latin typeface="宋体" panose="02010600030101010101" pitchFamily="2" charset="-122"/>
                <a:ea typeface="DengXian" panose="02010600030101010101" pitchFamily="2" charset="-122"/>
                <a:cs typeface="宋体" panose="02010600030101010101" pitchFamily="2" charset="-122"/>
              </a:rPr>
              <a:t>dB是庞加莱球中的双曲距离,bh和</a:t>
            </a:r>
            <a:r>
              <a:rPr lang="en-US" altLang="zh-CN" sz="1800" kern="0" dirty="0">
                <a:effectLst/>
                <a:latin typeface="宋体" panose="02010600030101010101" pitchFamily="2" charset="-122"/>
                <a:ea typeface="DengXian" panose="02010600030101010101" pitchFamily="2" charset="-122"/>
                <a:cs typeface="宋体" panose="02010600030101010101" pitchFamily="2" charset="-122"/>
              </a:rPr>
              <a:t> </a:t>
            </a:r>
            <a:r>
              <a:rPr lang="en-US" altLang="zh-CN" sz="1800" kern="0" dirty="0" err="1">
                <a:effectLst/>
                <a:latin typeface="宋体" panose="02010600030101010101" pitchFamily="2" charset="-122"/>
                <a:ea typeface="DengXian" panose="02010600030101010101" pitchFamily="2" charset="-122"/>
                <a:cs typeface="宋体" panose="02010600030101010101" pitchFamily="2" charset="-122"/>
              </a:rPr>
              <a:t>bt是实体偏置项。由于前面有负号,h′与</a:t>
            </a:r>
            <a:r>
              <a:rPr lang="en-US" altLang="zh-CN" sz="1800" kern="0" dirty="0">
                <a:effectLst/>
                <a:latin typeface="宋体" panose="02010600030101010101" pitchFamily="2" charset="-122"/>
                <a:ea typeface="DengXian" panose="02010600030101010101" pitchFamily="2" charset="-122"/>
                <a:cs typeface="宋体" panose="02010600030101010101" pitchFamily="2" charset="-122"/>
              </a:rPr>
              <a:t> </a:t>
            </a:r>
            <a:r>
              <a:rPr lang="en-US" altLang="zh-CN" sz="1800" kern="0" dirty="0" err="1">
                <a:effectLst/>
                <a:latin typeface="宋体" panose="02010600030101010101" pitchFamily="2" charset="-122"/>
                <a:ea typeface="DengXian" panose="02010600030101010101" pitchFamily="2" charset="-122"/>
                <a:cs typeface="宋体" panose="02010600030101010101" pitchFamily="2" charset="-122"/>
              </a:rPr>
              <a:t>t′在双曲空间中距离越近,得分就越高,表示该三元组越可能成立</a:t>
            </a:r>
            <a:r>
              <a:rPr lang="en-US" altLang="zh-CN" sz="1800" kern="0" dirty="0">
                <a:effectLst/>
                <a:latin typeface="宋体" panose="02010600030101010101" pitchFamily="2" charset="-122"/>
                <a:ea typeface="DengXian" panose="02010600030101010101" pitchFamily="2" charset="-122"/>
                <a:cs typeface="宋体" panose="02010600030101010101" pitchFamily="2" charset="-122"/>
              </a:rPr>
              <a:t>。</a:t>
            </a:r>
            <a:endParaRPr lang="en-US" altLang="zh-CN" sz="1800" kern="0" dirty="0">
              <a:effectLst/>
              <a:latin typeface="宋体" panose="02010600030101010101" pitchFamily="2" charset="-122"/>
              <a:ea typeface="宋体" panose="02010600030101010101" pitchFamily="2" charset="-122"/>
              <a:cs typeface="宋体" panose="02010600030101010101" pitchFamily="2" charset="-122"/>
            </a:endParaRPr>
          </a:p>
          <a:p>
            <a:pPr algn="just"/>
            <a:endPar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训练过程中采用二分类损失区分真实三元组和负采样三元组，并加入辅助正则项</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kern="0" dirty="0">
              <a:effectLst/>
              <a:latin typeface="宋体" panose="02010600030101010101" pitchFamily="2" charset="-122"/>
              <a:ea typeface="宋体" panose="02010600030101010101" pitchFamily="2" charset="-122"/>
              <a:cs typeface="宋体" panose="02010600030101010101" pitchFamily="2" charset="-122"/>
            </a:endParaRPr>
          </a:p>
          <a:p>
            <a:pPr algn="just"/>
            <a:r>
              <a:rPr lang="en-US" altLang="zh-CN" sz="1800" kern="100" dirty="0" err="1">
                <a:effectLst/>
                <a:latin typeface="宋体" panose="02010600030101010101" pitchFamily="2" charset="-122"/>
                <a:ea typeface="DengXian" panose="02010600030101010101" pitchFamily="2" charset="-122"/>
                <a:cs typeface="Times New Roman" panose="02020603050405020304" pitchFamily="18" charset="0"/>
              </a:rPr>
              <a:t>对这些关系下的三元组进行排序评估，从而对应</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宋体" panose="02010600030101010101" pitchFamily="2" charset="-122"/>
                <a:ea typeface="DengXian" panose="02010600030101010101" pitchFamily="2" charset="-122"/>
                <a:cs typeface="Times New Roman" panose="02020603050405020304" pitchFamily="18" charset="0"/>
              </a:rPr>
              <a:t>攻击目标预测、工具使用预测和漏洞利用预测</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err="1">
                <a:effectLst/>
                <a:latin typeface="宋体" panose="02010600030101010101" pitchFamily="2" charset="-122"/>
                <a:ea typeface="DengXian" panose="02010600030101010101" pitchFamily="2" charset="-122"/>
                <a:cs typeface="Times New Roman" panose="02020603050405020304" pitchFamily="18" charset="0"/>
              </a:rPr>
              <a:t>三类业务场景</a:t>
            </a:r>
            <a:r>
              <a:rPr lang="en-US" altLang="zh-CN" sz="1800" kern="100" dirty="0">
                <a:effectLst/>
                <a:latin typeface="宋体" panose="02010600030101010101" pitchFamily="2" charset="-122"/>
                <a:ea typeface="DengXian" panose="02010600030101010101" pitchFamily="2" charset="-122"/>
                <a:cs typeface="Times New Roman" panose="02020603050405020304" pitchFamily="18" charset="0"/>
              </a:rPr>
              <a:t>。</a:t>
            </a:r>
            <a:endPar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800" kern="0" dirty="0" err="1">
                <a:effectLst/>
                <a:latin typeface="宋体" panose="02010600030101010101" pitchFamily="2" charset="-122"/>
                <a:ea typeface="宋体" panose="02010600030101010101" pitchFamily="2" charset="-122"/>
                <a:cs typeface="宋体" panose="02010600030101010101" pitchFamily="2" charset="-122"/>
              </a:rPr>
              <a:t>本文重点针对</a:t>
            </a:r>
            <a:r>
              <a:rPr lang="en-US" altLang="zh-CN" sz="1800" kern="0"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kern="0" dirty="0" err="1">
                <a:effectLst/>
                <a:latin typeface="宋体" panose="02010600030101010101" pitchFamily="2" charset="-122"/>
                <a:ea typeface="宋体" panose="02010600030101010101" pitchFamily="2" charset="-122"/>
                <a:cs typeface="宋体" panose="02010600030101010101" pitchFamily="2" charset="-122"/>
              </a:rPr>
              <a:t>target、use、exploit</a:t>
            </a:r>
            <a:r>
              <a:rPr lang="en-US" altLang="zh-CN" sz="1800" kern="0"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kern="0" dirty="0" err="1">
                <a:effectLst/>
                <a:latin typeface="宋体" panose="02010600030101010101" pitchFamily="2" charset="-122"/>
                <a:ea typeface="宋体" panose="02010600030101010101" pitchFamily="2" charset="-122"/>
                <a:cs typeface="宋体" panose="02010600030101010101" pitchFamily="2" charset="-122"/>
              </a:rPr>
              <a:t>三类关系，对应攻击目标、工具使用和漏洞利用预测</a:t>
            </a:r>
            <a:r>
              <a:rPr lang="en-US" altLang="zh-CN" sz="1800" kern="0" dirty="0">
                <a:effectLst/>
                <a:latin typeface="宋体" panose="02010600030101010101" pitchFamily="2" charset="-122"/>
                <a:ea typeface="宋体" panose="02010600030101010101" pitchFamily="2"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just"/>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在训练部署上，两阶段采用了不同的优化策略：欧式阶段使用</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Adam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优化器，嵌入</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256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维，训练</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3000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轮；而双曲阶段因为在黎曼流形上，我们改用黎曼随机梯度下降（</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RSGD</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），嵌入</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128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维，训练</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500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轮。</a:t>
            </a:r>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我们将欧式阶段输出的</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256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维特征，通过指数映射压缩到</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128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维的双曲空间。这并非信息丢失</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由于双曲空间内部具有指数级容量，</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128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维已足以承载极其复杂的层级结构，反而能强制模型滤除欧式空间中的结构噪声。</a:t>
            </a:r>
          </a:p>
          <a:p>
            <a:pPr algn="just"/>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zh-CN" sz="1800" b="1" dirty="0">
                <a:effectLst/>
                <a:ea typeface="DengXian" panose="02010600030101010101" pitchFamily="2" charset="-122"/>
                <a:cs typeface="Times New Roman" panose="02020603050405020304" pitchFamily="18" charset="0"/>
              </a:rPr>
              <a:t>总结来说</a:t>
            </a:r>
            <a:r>
              <a:rPr lang="en-US" altLang="zh-CN" sz="1800" dirty="0">
                <a:effectLst/>
                <a:latin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本模型通过</a:t>
            </a:r>
            <a:r>
              <a:rPr lang="en-US" altLang="zh-CN" sz="1800"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欧式语义初始化、指数无损映射、双曲测地线解码</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这一完整链路</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把欧式空间的语义稳定性和双曲空间的层级表达能力有机地结合了起来。</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实验部分</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我们在</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APT-Flat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和</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APT-</a:t>
            </a:r>
            <a:r>
              <a:rPr lang="en-US" altLang="zh-CN" sz="1800" kern="100" dirty="0" err="1">
                <a:effectLst/>
                <a:latin typeface="DengXian" panose="02010600030101010101" pitchFamily="2" charset="-122"/>
                <a:ea typeface="DengXian" panose="02010600030101010101" pitchFamily="2" charset="-122"/>
                <a:cs typeface="Times New Roman" panose="02020603050405020304" pitchFamily="18" charset="0"/>
              </a:rPr>
              <a:t>Hier</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 </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两个数据集上</a:t>
            </a:r>
            <a:r>
              <a:rPr lang="en-US" altLang="zh-CN" sz="1800" kern="100" dirty="0">
                <a:effectLst/>
                <a:latin typeface="DengXian" panose="02010600030101010101" pitchFamily="2" charset="-122"/>
                <a:ea typeface="DengXian" panose="02010600030101010101" pitchFamily="2" charset="-122"/>
                <a:cs typeface="Times New Roman" panose="02020603050405020304" pitchFamily="18" charset="0"/>
              </a:rPr>
              <a:t>,</a:t>
            </a:r>
            <a:r>
              <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rPr>
              <a:t>对比了欧式、图神经网络、双曲三类共七个基线模型。</a:t>
            </a:r>
          </a:p>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先看通用链接预测</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指向第一张表</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a:t>
            </a:r>
          </a:p>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我们把实验设计成两层</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APT-Flat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上的控制实验</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单独验证模型层双空间框架的独立贡献</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APT-</a:t>
            </a:r>
            <a:r>
              <a:rPr lang="en-US" altLang="zh-CN" sz="1800" b="1" dirty="0" err="1">
                <a:effectLst/>
                <a:latin typeface="宋体" panose="02010600030101010101" pitchFamily="2" charset="-122"/>
                <a:ea typeface="宋体" panose="02010600030101010101" pitchFamily="2" charset="-122"/>
                <a:cs typeface="宋体" panose="02010600030101010101" pitchFamily="2" charset="-122"/>
              </a:rPr>
              <a:t>Hier</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上的完整方法实验</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验证数据层和模型层叠加的整体效果。</a:t>
            </a:r>
          </a:p>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在</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APT-Flat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上</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纯双曲</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dirty="0" err="1">
                <a:effectLst/>
                <a:latin typeface="宋体" panose="02010600030101010101" pitchFamily="2" charset="-122"/>
                <a:ea typeface="宋体" panose="02010600030101010101" pitchFamily="2" charset="-122"/>
                <a:cs typeface="宋体" panose="02010600030101010101" pitchFamily="2" charset="-122"/>
              </a:rPr>
              <a:t>MuRP</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的</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Hits@10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是 </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0.621</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本文方法在不使用层级先验的情况下提升到 </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0.682</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。这部分增益和数据层完全无关</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纯粹说明欧式语义初始化能给双曲优化提供更稳定的起点</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a:t>
            </a:r>
          </a:p>
          <a:p>
            <a:r>
              <a:rPr lang="zh-CN" altLang="zh-CN" sz="1800" dirty="0">
                <a:effectLst/>
                <a:ea typeface="DengXian" panose="02010600030101010101" pitchFamily="2" charset="-122"/>
                <a:cs typeface="Times New Roman" panose="02020603050405020304" pitchFamily="18" charset="0"/>
              </a:rPr>
              <a:t>而在</a:t>
            </a:r>
            <a:r>
              <a:rPr lang="en-US" altLang="zh-CN" sz="1800" dirty="0">
                <a:effectLst/>
                <a:ea typeface="DengXian" panose="02010600030101010101" pitchFamily="2" charset="-122"/>
                <a:cs typeface="Times New Roman" panose="02020603050405020304" pitchFamily="18" charset="0"/>
              </a:rPr>
              <a:t> APT-</a:t>
            </a:r>
            <a:r>
              <a:rPr lang="en-US" altLang="zh-CN" sz="1800" dirty="0" err="1">
                <a:effectLst/>
                <a:ea typeface="DengXian" panose="02010600030101010101" pitchFamily="2" charset="-122"/>
                <a:cs typeface="Times New Roman" panose="02020603050405020304" pitchFamily="18" charset="0"/>
              </a:rPr>
              <a:t>Hier</a:t>
            </a:r>
            <a:r>
              <a:rPr lang="en-US" altLang="zh-CN" sz="1800" dirty="0">
                <a:effectLst/>
                <a:ea typeface="DengXian" panose="02010600030101010101" pitchFamily="2" charset="-122"/>
                <a:cs typeface="Times New Roman" panose="02020603050405020304" pitchFamily="18" charset="0"/>
              </a:rPr>
              <a:t> </a:t>
            </a:r>
            <a:r>
              <a:rPr lang="zh-CN" altLang="zh-CN" sz="1800" dirty="0">
                <a:effectLst/>
                <a:ea typeface="DengXian" panose="02010600030101010101" pitchFamily="2" charset="-122"/>
                <a:cs typeface="Times New Roman" panose="02020603050405020304" pitchFamily="18" charset="0"/>
              </a:rPr>
              <a:t>上</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两个模型都进一步上升</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证明</a:t>
            </a:r>
            <a:r>
              <a:rPr lang="zh-CN" altLang="zh-CN" sz="1800" b="1" dirty="0">
                <a:effectLst/>
                <a:ea typeface="DengXian" panose="02010600030101010101" pitchFamily="2" charset="-122"/>
                <a:cs typeface="Times New Roman" panose="02020603050405020304" pitchFamily="18" charset="0"/>
              </a:rPr>
              <a:t>层级重构对双曲模型存在放大效应</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数据层和模型层是叠加生效的。</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接下来是本文的核心任务</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攻击偏好预测</a:t>
            </a:r>
          </a:p>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需要说明的是</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这个任务的设定</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比通用链接预测更难</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所以表中绝对数值不能直接和其他</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 KGC benchmark </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比较。</a:t>
            </a:r>
          </a:p>
          <a:p>
            <a:pPr algn="just"/>
            <a:r>
              <a:rPr lang="zh-CN" altLang="zh-CN" sz="1800" dirty="0">
                <a:effectLst/>
                <a:latin typeface="宋体" panose="02010600030101010101" pitchFamily="2" charset="-122"/>
                <a:ea typeface="宋体" panose="02010600030101010101" pitchFamily="2" charset="-122"/>
                <a:cs typeface="宋体" panose="02010600030101010101" pitchFamily="2" charset="-122"/>
              </a:rPr>
              <a:t>最值得注意的是</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KLEC </a:t>
            </a:r>
            <a:r>
              <a:rPr lang="zh-CN" altLang="zh-CN" sz="1800" b="0" dirty="0">
                <a:effectLst/>
                <a:latin typeface="宋体" panose="02010600030101010101" pitchFamily="2" charset="-122"/>
                <a:ea typeface="宋体" panose="02010600030101010101" pitchFamily="2" charset="-122"/>
                <a:cs typeface="宋体" panose="02010600030101010101" pitchFamily="2" charset="-122"/>
              </a:rPr>
              <a:t>这个我们实验室的前期工作</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0" dirty="0">
                <a:effectLst/>
                <a:latin typeface="宋体" panose="02010600030101010101" pitchFamily="2" charset="-122"/>
                <a:ea typeface="宋体" panose="02010600030101010101" pitchFamily="2" charset="-122"/>
                <a:cs typeface="宋体" panose="02010600030101010101" pitchFamily="2" charset="-122"/>
              </a:rPr>
              <a:t>在</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 APT-Flat </a:t>
            </a:r>
            <a:r>
              <a:rPr lang="zh-CN" altLang="zh-CN" sz="1800" b="0" dirty="0">
                <a:effectLst/>
                <a:latin typeface="宋体" panose="02010600030101010101" pitchFamily="2" charset="-122"/>
                <a:ea typeface="宋体" panose="02010600030101010101" pitchFamily="2" charset="-122"/>
                <a:cs typeface="宋体" panose="02010600030101010101" pitchFamily="2" charset="-122"/>
              </a:rPr>
              <a:t>上</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 Hits@10 </a:t>
            </a:r>
            <a:r>
              <a:rPr lang="zh-CN" altLang="zh-CN" sz="1800" b="0" dirty="0">
                <a:effectLst/>
                <a:latin typeface="宋体" panose="02010600030101010101" pitchFamily="2" charset="-122"/>
                <a:ea typeface="宋体" panose="02010600030101010101" pitchFamily="2" charset="-122"/>
                <a:cs typeface="宋体" panose="02010600030101010101" pitchFamily="2" charset="-122"/>
              </a:rPr>
              <a:t>能达到</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 0.453,</a:t>
            </a:r>
            <a:r>
              <a:rPr lang="zh-CN" altLang="zh-CN" sz="1800" b="0" dirty="0">
                <a:effectLst/>
                <a:latin typeface="宋体" panose="02010600030101010101" pitchFamily="2" charset="-122"/>
                <a:ea typeface="宋体" panose="02010600030101010101" pitchFamily="2" charset="-122"/>
                <a:cs typeface="宋体" panose="02010600030101010101" pitchFamily="2" charset="-122"/>
              </a:rPr>
              <a:t>但到了</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 APT-</a:t>
            </a:r>
            <a:r>
              <a:rPr lang="en-US" altLang="zh-CN" sz="1800" b="0" dirty="0" err="1">
                <a:effectLst/>
                <a:latin typeface="宋体" panose="02010600030101010101" pitchFamily="2" charset="-122"/>
                <a:ea typeface="宋体" panose="02010600030101010101" pitchFamily="2" charset="-122"/>
                <a:cs typeface="宋体" panose="02010600030101010101" pitchFamily="2" charset="-122"/>
              </a:rPr>
              <a:t>Hier</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 </a:t>
            </a:r>
            <a:r>
              <a:rPr lang="zh-CN" altLang="zh-CN" sz="1800" b="0" dirty="0">
                <a:effectLst/>
                <a:latin typeface="宋体" panose="02010600030101010101" pitchFamily="2" charset="-122"/>
                <a:ea typeface="宋体" panose="02010600030101010101" pitchFamily="2" charset="-122"/>
                <a:cs typeface="宋体" panose="02010600030101010101" pitchFamily="2" charset="-122"/>
              </a:rPr>
              <a:t>上反而跌到</a:t>
            </a:r>
            <a:r>
              <a:rPr lang="en-US" altLang="zh-CN" sz="1800" b="0" dirty="0">
                <a:effectLst/>
                <a:latin typeface="宋体" panose="02010600030101010101" pitchFamily="2" charset="-122"/>
                <a:ea typeface="宋体" panose="02010600030101010101" pitchFamily="2" charset="-122"/>
                <a:cs typeface="宋体" panose="02010600030101010101" pitchFamily="2" charset="-122"/>
              </a:rPr>
              <a:t> 0.284</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下降了</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17 </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个百分点。反过来</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双曲基线</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a:t>
            </a:r>
            <a:r>
              <a:rPr lang="en-US" altLang="zh-CN" sz="1800" b="1" dirty="0" err="1">
                <a:effectLst/>
                <a:latin typeface="宋体" panose="02010600030101010101" pitchFamily="2" charset="-122"/>
                <a:ea typeface="宋体" panose="02010600030101010101" pitchFamily="2" charset="-122"/>
                <a:cs typeface="宋体" panose="02010600030101010101" pitchFamily="2" charset="-122"/>
              </a:rPr>
              <a:t>MuRP</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 </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在同一组数据上是稳定上升的</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a:t>
            </a:r>
          </a:p>
          <a:p>
            <a:pPr algn="just"/>
            <a:r>
              <a:rPr lang="zh-CN" altLang="zh-CN" sz="1800" b="1" dirty="0">
                <a:effectLst/>
                <a:latin typeface="宋体" panose="02010600030101010101" pitchFamily="2" charset="-122"/>
                <a:ea typeface="宋体" panose="02010600030101010101" pitchFamily="2" charset="-122"/>
                <a:cs typeface="宋体" panose="02010600030101010101" pitchFamily="2" charset="-122"/>
              </a:rPr>
              <a:t>欧式模型跌、双曲模型升</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这是同一份层级先验在两种几何空间下产生的完全相反的响应</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。它清楚地说明</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层级结构必须遇到匹配的几何容器才能转化为预测能力</a:t>
            </a:r>
            <a:r>
              <a:rPr lang="en-US" altLang="zh-CN" sz="1800" b="1"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b="1" dirty="0">
                <a:effectLst/>
                <a:latin typeface="宋体" panose="02010600030101010101" pitchFamily="2" charset="-122"/>
                <a:ea typeface="宋体" panose="02010600030101010101" pitchFamily="2" charset="-122"/>
                <a:cs typeface="宋体" panose="02010600030101010101" pitchFamily="2" charset="-122"/>
              </a:rPr>
              <a:t>否则反而是干扰</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a:t>
            </a:r>
          </a:p>
          <a:p>
            <a:r>
              <a:rPr lang="zh-CN" altLang="zh-CN" sz="1800" dirty="0">
                <a:effectLst/>
                <a:ea typeface="DengXian" panose="02010600030101010101" pitchFamily="2" charset="-122"/>
                <a:cs typeface="Times New Roman" panose="02020603050405020304" pitchFamily="18" charset="0"/>
              </a:rPr>
              <a:t>本文完整方法在</a:t>
            </a:r>
            <a:r>
              <a:rPr lang="en-US" altLang="zh-CN" sz="1800" dirty="0">
                <a:effectLst/>
                <a:ea typeface="DengXian" panose="02010600030101010101" pitchFamily="2" charset="-122"/>
                <a:cs typeface="Times New Roman" panose="02020603050405020304" pitchFamily="18" charset="0"/>
              </a:rPr>
              <a:t> APT-</a:t>
            </a:r>
            <a:r>
              <a:rPr lang="en-US" altLang="zh-CN" sz="1800" dirty="0" err="1">
                <a:effectLst/>
                <a:ea typeface="DengXian" panose="02010600030101010101" pitchFamily="2" charset="-122"/>
                <a:cs typeface="Times New Roman" panose="02020603050405020304" pitchFamily="18" charset="0"/>
              </a:rPr>
              <a:t>Hier</a:t>
            </a:r>
            <a:r>
              <a:rPr lang="en-US" altLang="zh-CN" sz="1800" dirty="0">
                <a:effectLst/>
                <a:ea typeface="DengXian" panose="02010600030101010101" pitchFamily="2" charset="-122"/>
                <a:cs typeface="Times New Roman" panose="02020603050405020304" pitchFamily="18" charset="0"/>
              </a:rPr>
              <a:t> </a:t>
            </a:r>
            <a:r>
              <a:rPr lang="zh-CN" altLang="zh-CN" sz="1800" dirty="0">
                <a:effectLst/>
                <a:ea typeface="DengXian" panose="02010600030101010101" pitchFamily="2" charset="-122"/>
                <a:cs typeface="Times New Roman" panose="02020603050405020304" pitchFamily="18" charset="0"/>
              </a:rPr>
              <a:t>上达到 </a:t>
            </a:r>
            <a:r>
              <a:rPr lang="en-US" altLang="zh-CN" sz="1800" b="1" dirty="0">
                <a:effectLst/>
                <a:latin typeface="DengXian" panose="02010600030101010101" pitchFamily="2" charset="-122"/>
                <a:ea typeface="DengXian" panose="02010600030101010101" pitchFamily="2" charset="-122"/>
                <a:cs typeface="Times New Roman" panose="02020603050405020304" pitchFamily="18" charset="0"/>
              </a:rPr>
              <a:t>Hits@10 = 0.514</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在四个排序指标上都取得最优</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相对</a:t>
            </a:r>
            <a:r>
              <a:rPr lang="en-US" altLang="zh-CN" sz="1800" dirty="0">
                <a:effectLst/>
                <a:ea typeface="DengXian" panose="02010600030101010101" pitchFamily="2" charset="-122"/>
                <a:cs typeface="Times New Roman" panose="02020603050405020304" pitchFamily="18" charset="0"/>
              </a:rPr>
              <a:t> </a:t>
            </a:r>
            <a:r>
              <a:rPr lang="en-US" altLang="zh-CN" sz="1800" dirty="0" err="1">
                <a:effectLst/>
                <a:ea typeface="DengXian" panose="02010600030101010101" pitchFamily="2" charset="-122"/>
                <a:cs typeface="Times New Roman" panose="02020603050405020304" pitchFamily="18" charset="0"/>
              </a:rPr>
              <a:t>MuRP</a:t>
            </a:r>
            <a:r>
              <a:rPr lang="en-US" altLang="zh-CN" sz="1800" dirty="0">
                <a:effectLst/>
                <a:ea typeface="DengXian" panose="02010600030101010101" pitchFamily="2" charset="-122"/>
                <a:cs typeface="Times New Roman" panose="02020603050405020304" pitchFamily="18" charset="0"/>
              </a:rPr>
              <a:t> </a:t>
            </a:r>
            <a:r>
              <a:rPr lang="zh-CN" altLang="zh-CN" sz="1800" dirty="0">
                <a:effectLst/>
                <a:ea typeface="DengXian" panose="02010600030101010101" pitchFamily="2" charset="-122"/>
                <a:cs typeface="Times New Roman" panose="02020603050405020304" pitchFamily="18" charset="0"/>
              </a:rPr>
              <a:t>提升</a:t>
            </a:r>
            <a:r>
              <a:rPr lang="en-US" altLang="zh-CN" sz="1800" dirty="0">
                <a:effectLst/>
                <a:ea typeface="DengXian" panose="02010600030101010101" pitchFamily="2" charset="-122"/>
                <a:cs typeface="Times New Roman" panose="02020603050405020304" pitchFamily="18" charset="0"/>
              </a:rPr>
              <a:t> 7.9 </a:t>
            </a:r>
            <a:r>
              <a:rPr lang="zh-CN" altLang="zh-CN" sz="1800" dirty="0">
                <a:effectLst/>
                <a:ea typeface="DengXian" panose="02010600030101010101" pitchFamily="2" charset="-122"/>
                <a:cs typeface="Times New Roman" panose="02020603050405020304" pitchFamily="18" charset="0"/>
              </a:rPr>
              <a:t>个百分点</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相对</a:t>
            </a:r>
            <a:r>
              <a:rPr lang="en-US" altLang="zh-CN" sz="1800" dirty="0">
                <a:effectLst/>
                <a:ea typeface="DengXian" panose="02010600030101010101" pitchFamily="2" charset="-122"/>
                <a:cs typeface="Times New Roman" panose="02020603050405020304" pitchFamily="18" charset="0"/>
              </a:rPr>
              <a:t> APT-Flat </a:t>
            </a:r>
            <a:r>
              <a:rPr lang="zh-CN" altLang="zh-CN" sz="1800" dirty="0">
                <a:effectLst/>
                <a:ea typeface="DengXian" panose="02010600030101010101" pitchFamily="2" charset="-122"/>
                <a:cs typeface="Times New Roman" panose="02020603050405020304" pitchFamily="18" charset="0"/>
              </a:rPr>
              <a:t>上的同方法变体提升</a:t>
            </a:r>
            <a:r>
              <a:rPr lang="en-US" altLang="zh-CN" sz="1800" dirty="0">
                <a:effectLst/>
                <a:ea typeface="DengXian" panose="02010600030101010101" pitchFamily="2" charset="-122"/>
                <a:cs typeface="Times New Roman" panose="02020603050405020304" pitchFamily="18" charset="0"/>
              </a:rPr>
              <a:t> 4.3 </a:t>
            </a:r>
            <a:r>
              <a:rPr lang="zh-CN" altLang="zh-CN" sz="1800" dirty="0">
                <a:effectLst/>
                <a:ea typeface="DengXian" panose="02010600030101010101" pitchFamily="2" charset="-122"/>
                <a:cs typeface="Times New Roman" panose="02020603050405020304" pitchFamily="18" charset="0"/>
              </a:rPr>
              <a:t>个百分点。这两个对比分别验证了</a:t>
            </a:r>
            <a:r>
              <a:rPr lang="zh-CN" altLang="zh-CN" sz="1800" b="1" dirty="0">
                <a:effectLst/>
                <a:ea typeface="DengXian" panose="02010600030101010101" pitchFamily="2" charset="-122"/>
                <a:cs typeface="Times New Roman" panose="02020603050405020304" pitchFamily="18" charset="0"/>
              </a:rPr>
              <a:t>模型层和数据层各自的独立贡献</a:t>
            </a:r>
            <a:r>
              <a:rPr lang="zh-CN" altLang="zh-CN" sz="1800" dirty="0">
                <a:effectLst/>
                <a:ea typeface="DengXian" panose="02010600030101010101" pitchFamily="2" charset="-122"/>
                <a:cs typeface="Times New Roman" panose="02020603050405020304" pitchFamily="18" charset="0"/>
              </a:rPr>
              <a:t>。</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ea typeface="DengXian" panose="02010600030101010101" pitchFamily="2" charset="-122"/>
                <a:cs typeface="Times New Roman" panose="02020603050405020304" pitchFamily="18" charset="0"/>
              </a:rPr>
              <a:t>系统地去除了三个组件</a:t>
            </a:r>
            <a:r>
              <a:rPr lang="en-US" altLang="zh-CN" sz="1800" dirty="0">
                <a:effectLst/>
                <a:ea typeface="DengXian" panose="02010600030101010101" pitchFamily="2" charset="-122"/>
                <a:cs typeface="Times New Roman" panose="02020603050405020304" pitchFamily="18" charset="0"/>
              </a:rPr>
              <a:t>,Hits@10 </a:t>
            </a:r>
            <a:r>
              <a:rPr lang="zh-CN" altLang="zh-CN" sz="1800" dirty="0">
                <a:effectLst/>
                <a:ea typeface="DengXian" panose="02010600030101010101" pitchFamily="2" charset="-122"/>
                <a:cs typeface="Times New Roman" panose="02020603050405020304" pitchFamily="18" charset="0"/>
              </a:rPr>
              <a:t>从完整模型的 </a:t>
            </a:r>
            <a:r>
              <a:rPr lang="en-US" altLang="zh-CN" sz="1800" b="1" dirty="0">
                <a:effectLst/>
                <a:latin typeface="DengXian" panose="02010600030101010101" pitchFamily="2" charset="-122"/>
                <a:ea typeface="DengXian" panose="02010600030101010101" pitchFamily="2" charset="-122"/>
                <a:cs typeface="Times New Roman" panose="02020603050405020304" pitchFamily="18" charset="0"/>
              </a:rPr>
              <a:t>0.514</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依次下降到</a:t>
            </a:r>
            <a:r>
              <a:rPr lang="en-US" altLang="zh-CN" sz="1800" dirty="0">
                <a:effectLst/>
                <a:ea typeface="DengXian" panose="02010600030101010101" pitchFamily="2" charset="-122"/>
                <a:cs typeface="Times New Roman" panose="02020603050405020304" pitchFamily="18" charset="0"/>
              </a:rPr>
              <a:t> 0.471</a:t>
            </a:r>
            <a:r>
              <a:rPr lang="zh-CN" altLang="zh-CN" sz="1800" dirty="0">
                <a:effectLst/>
                <a:ea typeface="DengXian" panose="02010600030101010101" pitchFamily="2" charset="-122"/>
                <a:cs typeface="Times New Roman" panose="02020603050405020304" pitchFamily="18" charset="0"/>
              </a:rPr>
              <a:t>、</a:t>
            </a:r>
            <a:r>
              <a:rPr lang="en-US" altLang="zh-CN" sz="1800" dirty="0">
                <a:effectLst/>
                <a:ea typeface="DengXian" panose="02010600030101010101" pitchFamily="2" charset="-122"/>
                <a:cs typeface="Times New Roman" panose="02020603050405020304" pitchFamily="18" charset="0"/>
              </a:rPr>
              <a:t>0.435</a:t>
            </a:r>
            <a:r>
              <a:rPr lang="zh-CN" altLang="zh-CN" sz="1800" dirty="0">
                <a:effectLst/>
                <a:ea typeface="DengXian" panose="02010600030101010101" pitchFamily="2" charset="-122"/>
                <a:cs typeface="Times New Roman" panose="02020603050405020304" pitchFamily="18" charset="0"/>
              </a:rPr>
              <a:t>、</a:t>
            </a:r>
            <a:r>
              <a:rPr lang="en-US" altLang="zh-CN" sz="1800" b="1" dirty="0">
                <a:effectLst/>
                <a:latin typeface="DengXian" panose="02010600030101010101" pitchFamily="2" charset="-122"/>
                <a:ea typeface="DengXian" panose="02010600030101010101" pitchFamily="2" charset="-122"/>
                <a:cs typeface="Times New Roman" panose="02020603050405020304" pitchFamily="18" charset="0"/>
              </a:rPr>
              <a:t>0.284</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也就是说</a:t>
            </a:r>
            <a:r>
              <a:rPr lang="en-US" altLang="zh-CN" sz="1800"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去掉双曲建模带来的性能损失最大</a:t>
            </a:r>
            <a:r>
              <a:rPr lang="en-US" altLang="zh-CN" sz="1800" b="1" dirty="0">
                <a:effectLst/>
                <a:ea typeface="DengXian" panose="02010600030101010101" pitchFamily="2" charset="-122"/>
                <a:cs typeface="Times New Roman" panose="02020603050405020304" pitchFamily="18" charset="0"/>
              </a:rPr>
              <a:t>,</a:t>
            </a:r>
            <a:r>
              <a:rPr lang="zh-CN" altLang="zh-CN" sz="1800" b="1" dirty="0">
                <a:effectLst/>
                <a:ea typeface="DengXian" panose="02010600030101010101" pitchFamily="2" charset="-122"/>
                <a:cs typeface="Times New Roman" panose="02020603050405020304" pitchFamily="18" charset="0"/>
              </a:rPr>
              <a:t>直接跌掉将近一半</a:t>
            </a:r>
            <a:r>
              <a:rPr lang="zh-CN" altLang="zh-CN" sz="1800" dirty="0">
                <a:effectLst/>
                <a:ea typeface="DengXian" panose="02010600030101010101" pitchFamily="2" charset="-122"/>
                <a:cs typeface="Times New Roman" panose="02020603050405020304" pitchFamily="18" charset="0"/>
              </a:rPr>
              <a:t>。</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dirty="0">
                <a:effectLst/>
                <a:ea typeface="DengXian" panose="02010600030101010101" pitchFamily="2" charset="-122"/>
                <a:cs typeface="Times New Roman" panose="02020603050405020304" pitchFamily="18" charset="0"/>
              </a:rPr>
              <a:t>我们还做了层级约束的注入规模敏感性实验</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结果在</a:t>
            </a:r>
            <a:r>
              <a:rPr lang="en-US" altLang="zh-CN" sz="1800" dirty="0">
                <a:effectLst/>
                <a:ea typeface="DengXian" panose="02010600030101010101" pitchFamily="2" charset="-122"/>
                <a:cs typeface="Times New Roman" panose="02020603050405020304" pitchFamily="18" charset="0"/>
              </a:rPr>
              <a:t> PPT </a:t>
            </a:r>
            <a:r>
              <a:rPr lang="zh-CN" altLang="zh-CN" sz="1800" dirty="0">
                <a:effectLst/>
                <a:ea typeface="DengXian" panose="02010600030101010101" pitchFamily="2" charset="-122"/>
                <a:cs typeface="Times New Roman" panose="02020603050405020304" pitchFamily="18" charset="0"/>
              </a:rPr>
              <a:t>上</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简单说就是从</a:t>
            </a:r>
            <a:r>
              <a:rPr lang="en-US" altLang="zh-CN" sz="1800" dirty="0">
                <a:effectLst/>
                <a:ea typeface="DengXian" panose="02010600030101010101" pitchFamily="2" charset="-122"/>
                <a:cs typeface="Times New Roman" panose="02020603050405020304" pitchFamily="18" charset="0"/>
              </a:rPr>
              <a:t> 0% </a:t>
            </a:r>
            <a:r>
              <a:rPr lang="zh-CN" altLang="zh-CN" sz="1800" dirty="0">
                <a:effectLst/>
                <a:ea typeface="DengXian" panose="02010600030101010101" pitchFamily="2" charset="-122"/>
                <a:cs typeface="Times New Roman" panose="02020603050405020304" pitchFamily="18" charset="0"/>
              </a:rPr>
              <a:t>注入到</a:t>
            </a:r>
            <a:r>
              <a:rPr lang="en-US" altLang="zh-CN" sz="1800" dirty="0">
                <a:effectLst/>
                <a:ea typeface="DengXian" panose="02010600030101010101" pitchFamily="2" charset="-122"/>
                <a:cs typeface="Times New Roman" panose="02020603050405020304" pitchFamily="18" charset="0"/>
              </a:rPr>
              <a:t> 100%,Hits@10 </a:t>
            </a:r>
            <a:r>
              <a:rPr lang="zh-CN" altLang="zh-CN" sz="1800" dirty="0">
                <a:effectLst/>
                <a:ea typeface="DengXian" panose="02010600030101010101" pitchFamily="2" charset="-122"/>
                <a:cs typeface="Times New Roman" panose="02020603050405020304" pitchFamily="18" charset="0"/>
              </a:rPr>
              <a:t>稳步上升</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没有出现拐点</a:t>
            </a:r>
            <a:r>
              <a:rPr lang="en-US" altLang="zh-CN" sz="1800" dirty="0">
                <a:effectLst/>
                <a:ea typeface="DengXian" panose="02010600030101010101" pitchFamily="2" charset="-122"/>
                <a:cs typeface="Times New Roman" panose="02020603050405020304" pitchFamily="18" charset="0"/>
              </a:rPr>
              <a:t>,</a:t>
            </a:r>
            <a:r>
              <a:rPr lang="zh-CN" altLang="zh-CN" sz="1800" dirty="0">
                <a:effectLst/>
                <a:ea typeface="DengXian" panose="02010600030101010101" pitchFamily="2" charset="-122"/>
                <a:cs typeface="Times New Roman" panose="02020603050405020304" pitchFamily="18" charset="0"/>
              </a:rPr>
              <a:t>说明</a:t>
            </a:r>
            <a:r>
              <a:rPr lang="en-US" altLang="zh-CN" sz="1800" dirty="0">
                <a:effectLst/>
                <a:ea typeface="DengXian" panose="02010600030101010101" pitchFamily="2" charset="-122"/>
                <a:cs typeface="Times New Roman" panose="02020603050405020304" pitchFamily="18" charset="0"/>
              </a:rPr>
              <a:t> LLM </a:t>
            </a:r>
            <a:r>
              <a:rPr lang="zh-CN" altLang="zh-CN" sz="1800" dirty="0">
                <a:effectLst/>
                <a:ea typeface="DengXian" panose="02010600030101010101" pitchFamily="2" charset="-122"/>
                <a:cs typeface="Times New Roman" panose="02020603050405020304" pitchFamily="18" charset="0"/>
              </a:rPr>
              <a:t>受控重构策略在当前规模下不会引入明显噪声。</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本文存在一些不足。首先，</a:t>
            </a:r>
            <a:r>
              <a:rPr lang="en-US" altLang="zh-CN" sz="1800" kern="0" dirty="0">
                <a:effectLst/>
                <a:latin typeface="Times New Roman" panose="02020603050405020304" pitchFamily="18" charset="0"/>
                <a:ea typeface="宋体" panose="02010600030101010101" pitchFamily="2" charset="-122"/>
              </a:rPr>
              <a:t>APT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威胁情报数据规模仍然较小，实验结论还需要在更大规模、多来源数据集上进一步验证。其次，本文的层级关系主要通过实体类型映射注入，对更细粒度的事件级、时间演化级攻击偏好建模还不充分。未来可以进一步结合动态知识图谱、时间序列建模和更细粒度的威胁情报抽取方法，提升模型在真实攻防场景中的应用能力。</a:t>
            </a:r>
            <a:r>
              <a:rPr lang="zh-CN" altLang="zh-CN" dirty="0">
                <a:effectLst/>
              </a:rPr>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最后总结本文的主要工作。</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第一</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本文构建了面向层级结构的</a:t>
            </a:r>
            <a:r>
              <a:rPr lang="zh-CN" altLang="zh-CN" sz="1800" kern="0" dirty="0">
                <a:effectLst/>
                <a:latin typeface="DengXian" panose="02010600030101010101" pitchFamily="2" charset="-122"/>
                <a:ea typeface="Times New Roman" panose="02020603050405020304" pitchFamily="18" charset="0"/>
                <a:cs typeface="Times New Roman" panose="02020603050405020304" pitchFamily="18" charset="0"/>
              </a:rPr>
              <a:t> </a:t>
            </a:r>
            <a:r>
              <a:rPr lang="en-US" altLang="zh-CN" sz="1800" b="1" kern="0" dirty="0">
                <a:effectLst/>
                <a:latin typeface="DengXian" panose="02010600030101010101" pitchFamily="2" charset="-122"/>
                <a:ea typeface="Times New Roman" panose="02020603050405020304" pitchFamily="18" charset="0"/>
                <a:cs typeface="Times New Roman" panose="02020603050405020304" pitchFamily="18" charset="0"/>
              </a:rPr>
              <a:t>APT-</a:t>
            </a:r>
            <a:r>
              <a:rPr lang="en-US" altLang="zh-CN" sz="1800" b="1" kern="0" dirty="0" err="1">
                <a:effectLst/>
                <a:latin typeface="DengXian" panose="02010600030101010101" pitchFamily="2" charset="-122"/>
                <a:ea typeface="Times New Roman" panose="02020603050405020304" pitchFamily="18" charset="0"/>
                <a:cs typeface="Times New Roman" panose="02020603050405020304" pitchFamily="18" charset="0"/>
              </a:rPr>
              <a:t>Hier</a:t>
            </a:r>
            <a:r>
              <a:rPr lang="en-US" altLang="zh-CN" sz="1800" b="1" kern="0" dirty="0">
                <a:effectLst/>
                <a:latin typeface="DengXian" panose="02010600030101010101" pitchFamily="2" charset="-122"/>
                <a:ea typeface="Times New Roman" panose="02020603050405020304" pitchFamily="18" charset="0"/>
                <a:cs typeface="Times New Roman" panose="02020603050405020304" pitchFamily="18" charset="0"/>
              </a:rPr>
              <a:t> </a:t>
            </a:r>
            <a:r>
              <a:rPr lang="zh-CN"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数据集</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。相比原始</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APT-</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Flat,APT</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Hier</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7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个高层抽象节点和</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1,253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条</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0" dirty="0" err="1">
                <a:effectLst/>
                <a:latin typeface="Times New Roman" panose="02020603050405020304" pitchFamily="18" charset="0"/>
                <a:ea typeface="宋体" panose="02010600030101010101" pitchFamily="2" charset="-122"/>
                <a:cs typeface="Times New Roman" panose="02020603050405020304" pitchFamily="18" charset="0"/>
              </a:rPr>
              <a:t>subClassOf</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关系</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为原始威胁情报图谱补充了显式层级先验</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采用的是</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"LLM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语义归纳</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确定性规则注入</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的受控方式</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避免了开放域生成的幻觉风险。</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pPr algn="just"/>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第二，本文提出了欧式</a:t>
            </a: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双曲两阶段表示学习框架。第一阶段利用欧式空间学习稳定语义表示，第二阶段通过指数映射迁移到庞加莱球，并使用双曲测地线距离进行层级结构优化和偏好排序。该设计缓解了纯欧式空间的几何容量不足，也降低了直接双曲随机初始化的优化难度。</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a:p>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第三</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本文围绕通用链接预测、攻击偏好预测、消融实验和敏感性分析开展了</a:t>
            </a:r>
            <a:r>
              <a:rPr lang="zh-CN"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系统评估</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kern="0" dirty="0">
                <a:effectLst/>
                <a:latin typeface="Times New Roman" panose="02020603050405020304" pitchFamily="18" charset="0"/>
                <a:ea typeface="宋体" panose="02010600030101010101" pitchFamily="2" charset="-122"/>
              </a:rPr>
              <a:t> APT-</a:t>
            </a:r>
            <a:r>
              <a:rPr lang="en-US" altLang="zh-CN" sz="1800" kern="0" dirty="0" err="1">
                <a:effectLst/>
                <a:latin typeface="Times New Roman" panose="02020603050405020304" pitchFamily="18" charset="0"/>
                <a:ea typeface="宋体" panose="02010600030101010101" pitchFamily="2" charset="-122"/>
              </a:rPr>
              <a:t>Hier</a:t>
            </a:r>
            <a:r>
              <a:rPr lang="en-US" altLang="zh-CN" sz="1800" kern="0" dirty="0">
                <a:effectLst/>
                <a:latin typeface="Times New Roman" panose="02020603050405020304" pitchFamily="18" charset="0"/>
                <a:ea typeface="宋体" panose="02010600030101010101" pitchFamily="2" charset="-122"/>
              </a:rPr>
              <a:t> </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攻击偏好预测任务中</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完整模型</a:t>
            </a:r>
            <a:r>
              <a:rPr lang="zh-CN" altLang="zh-CN" sz="1800" kern="0" dirty="0">
                <a:effectLst/>
                <a:ea typeface="Times New Roman" panose="02020603050405020304" pitchFamily="18" charset="0"/>
              </a:rPr>
              <a:t> </a:t>
            </a:r>
            <a:r>
              <a:rPr lang="en-US" altLang="zh-CN" sz="1800" b="1" kern="0" dirty="0">
                <a:effectLst/>
                <a:ea typeface="Times New Roman" panose="02020603050405020304" pitchFamily="18" charset="0"/>
              </a:rPr>
              <a:t>Hits@10 </a:t>
            </a:r>
            <a:r>
              <a:rPr lang="zh-CN" altLang="zh-CN" sz="1800" b="1" kern="0" dirty="0">
                <a:effectLst/>
                <a:latin typeface="Times New Roman" panose="02020603050405020304" pitchFamily="18" charset="0"/>
                <a:ea typeface="宋体" panose="02010600030101010101" pitchFamily="2" charset="-122"/>
                <a:cs typeface="Times New Roman" panose="02020603050405020304" pitchFamily="18" charset="0"/>
              </a:rPr>
              <a:t>达到</a:t>
            </a:r>
            <a:r>
              <a:rPr lang="en-US" altLang="zh-CN" sz="1800" b="1" kern="0" dirty="0">
                <a:effectLst/>
                <a:latin typeface="Times New Roman" panose="02020603050405020304" pitchFamily="18" charset="0"/>
                <a:ea typeface="宋体" panose="02010600030101010101" pitchFamily="2" charset="-122"/>
              </a:rPr>
              <a:t> 0.514</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在四个主要排序指标上都取得最优</a:t>
            </a:r>
            <a:r>
              <a:rPr lang="en-US" altLang="zh-CN" sz="1800" kern="0" dirty="0">
                <a:effectLst/>
                <a:latin typeface="Times New Roman" panose="02020603050405020304" pitchFamily="18" charset="0"/>
                <a:ea typeface="宋体" panose="02010600030101010101" pitchFamily="2" charset="-122"/>
              </a:rPr>
              <a:t>,</a:t>
            </a: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消融实验也明确分解出了数据层和模型层各自的独立贡献以及二者的协同关系。</a:t>
            </a:r>
            <a:r>
              <a:rPr lang="zh-CN" altLang="zh-CN" dirty="0">
                <a:effectLst/>
              </a:rPr>
              <a:t> </a:t>
            </a:r>
            <a:endParaRPr lang="en-US" altLang="zh-CN" dirty="0">
              <a:effectLst/>
            </a:endParaRPr>
          </a:p>
          <a:p>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以上就是我的汇报，请各位老师批评指正，谢谢！</a:t>
            </a:r>
            <a:endParaRPr lang="zh-CN" altLang="zh-CN" sz="18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1.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10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7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00B4CC"/>
          </a:solidFill>
          <a:ln w="12700">
            <a:solidFill>
              <a:srgbClr val="00B4CC"/>
            </a:solidFill>
            <a:prstDash val="solid"/>
          </a:ln>
        </p:spPr>
      </p:sp>
      <p:sp>
        <p:nvSpPr>
          <p:cNvPr id="3" name="Shape 1"/>
          <p:cNvSpPr/>
          <p:nvPr/>
        </p:nvSpPr>
        <p:spPr>
          <a:xfrm>
            <a:off x="0" y="6775704"/>
            <a:ext cx="12161520" cy="82296"/>
          </a:xfrm>
          <a:prstGeom prst="rect">
            <a:avLst/>
          </a:prstGeom>
          <a:solidFill>
            <a:srgbClr val="00B4CC"/>
          </a:solidFill>
          <a:ln w="12700">
            <a:solidFill>
              <a:srgbClr val="00B4CC"/>
            </a:solidFill>
            <a:prstDash val="solid"/>
          </a:ln>
        </p:spPr>
      </p:sp>
      <p:sp>
        <p:nvSpPr>
          <p:cNvPr id="4" name="Shape 2"/>
          <p:cNvSpPr/>
          <p:nvPr/>
        </p:nvSpPr>
        <p:spPr>
          <a:xfrm>
            <a:off x="0" y="0"/>
            <a:ext cx="502920" cy="6858000"/>
          </a:xfrm>
          <a:prstGeom prst="rect">
            <a:avLst/>
          </a:prstGeom>
          <a:solidFill>
            <a:srgbClr val="1A3A6B"/>
          </a:solidFill>
          <a:ln w="12700">
            <a:solidFill>
              <a:srgbClr val="1A3A6B"/>
            </a:solidFill>
            <a:prstDash val="solid"/>
          </a:ln>
        </p:spPr>
      </p:sp>
      <p:sp>
        <p:nvSpPr>
          <p:cNvPr id="5" name="Shape 3"/>
          <p:cNvSpPr/>
          <p:nvPr/>
        </p:nvSpPr>
        <p:spPr>
          <a:xfrm>
            <a:off x="777240" y="502920"/>
            <a:ext cx="2743200" cy="384048"/>
          </a:xfrm>
          <a:prstGeom prst="rect">
            <a:avLst/>
          </a:prstGeom>
          <a:solidFill>
            <a:srgbClr val="006579"/>
          </a:solidFill>
          <a:ln w="12700">
            <a:solidFill>
              <a:srgbClr val="006579"/>
            </a:solidFill>
            <a:prstDash val="solid"/>
          </a:ln>
        </p:spPr>
      </p:sp>
      <p:sp>
        <p:nvSpPr>
          <p:cNvPr id="6" name="Text 4"/>
          <p:cNvSpPr/>
          <p:nvPr/>
        </p:nvSpPr>
        <p:spPr>
          <a:xfrm>
            <a:off x="777240" y="502920"/>
            <a:ext cx="2743200" cy="384048"/>
          </a:xfrm>
          <a:prstGeom prst="rect">
            <a:avLst/>
          </a:prstGeom>
          <a:noFill/>
          <a:ln/>
        </p:spPr>
        <p:txBody>
          <a:bodyPr wrap="square" lIns="0" tIns="0" rIns="0" bIns="0" rtlCol="0" anchor="ctr"/>
          <a:lstStyle/>
          <a:p>
            <a:pPr marL="0" indent="0" algn="ctr">
              <a:buNone/>
            </a:pPr>
            <a:r>
              <a:rPr lang="en-US" sz="1100" dirty="0">
                <a:solidFill>
                  <a:srgbClr val="FFFFFF"/>
                </a:solidFill>
              </a:rPr>
              <a:t>暨南大学 · 电子信息（计算机技术）</a:t>
            </a:r>
            <a:endParaRPr lang="en-US" sz="1100" dirty="0"/>
          </a:p>
        </p:txBody>
      </p:sp>
      <p:sp>
        <p:nvSpPr>
          <p:cNvPr id="7" name="Text 5"/>
          <p:cNvSpPr/>
          <p:nvPr/>
        </p:nvSpPr>
        <p:spPr>
          <a:xfrm>
            <a:off x="777240" y="1143000"/>
            <a:ext cx="10881360" cy="2103120"/>
          </a:xfrm>
          <a:prstGeom prst="rect">
            <a:avLst/>
          </a:prstGeom>
          <a:noFill/>
          <a:ln/>
        </p:spPr>
        <p:txBody>
          <a:bodyPr wrap="square" rtlCol="0" anchor="ctr"/>
          <a:lstStyle/>
          <a:p>
            <a:pPr marL="0" indent="0" algn="ctr">
              <a:buNone/>
            </a:pPr>
            <a:r>
              <a:rPr lang="en-US" sz="3200" b="1" dirty="0">
                <a:solidFill>
                  <a:srgbClr val="FFFFFF"/>
                </a:solidFill>
                <a:latin typeface="Microsoft YaHei" pitchFamily="34" charset="0"/>
                <a:ea typeface="Microsoft YaHei" pitchFamily="34" charset="-122"/>
                <a:cs typeface="Microsoft YaHei" pitchFamily="34" charset="-120"/>
              </a:rPr>
              <a:t>基于先验本体约束与双空间表示学习的</a:t>
            </a:r>
            <a:endParaRPr lang="en-US" sz="3200" dirty="0"/>
          </a:p>
          <a:p>
            <a:pPr marL="0" indent="0" algn="ctr">
              <a:buNone/>
            </a:pPr>
            <a:r>
              <a:rPr lang="en-US" sz="3200" b="1" dirty="0">
                <a:solidFill>
                  <a:srgbClr val="FFFFFF"/>
                </a:solidFill>
                <a:latin typeface="Microsoft YaHei" pitchFamily="34" charset="0"/>
                <a:ea typeface="Microsoft YaHei" pitchFamily="34" charset="-122"/>
                <a:cs typeface="Microsoft YaHei" pitchFamily="34" charset="-120"/>
              </a:rPr>
              <a:t>APT 组织攻击偏好预测方法</a:t>
            </a:r>
            <a:endParaRPr lang="en-US" sz="3200" dirty="0"/>
          </a:p>
        </p:txBody>
      </p:sp>
      <p:sp>
        <p:nvSpPr>
          <p:cNvPr id="8" name="Text 6"/>
          <p:cNvSpPr/>
          <p:nvPr/>
        </p:nvSpPr>
        <p:spPr>
          <a:xfrm>
            <a:off x="777240" y="3337560"/>
            <a:ext cx="10881360" cy="777240"/>
          </a:xfrm>
          <a:prstGeom prst="rect">
            <a:avLst/>
          </a:prstGeom>
          <a:noFill/>
          <a:ln/>
        </p:spPr>
        <p:txBody>
          <a:bodyPr wrap="square" rtlCol="0" anchor="ctr"/>
          <a:lstStyle/>
          <a:p>
            <a:pPr marL="0" indent="0" algn="ctr">
              <a:buNone/>
            </a:pPr>
            <a:r>
              <a:rPr lang="en-US" sz="1600" i="1" dirty="0">
                <a:solidFill>
                  <a:srgbClr val="90A4AE"/>
                </a:solidFill>
              </a:rPr>
              <a:t>A Method for APT Organization Attack Preference Prediction</a:t>
            </a:r>
            <a:endParaRPr lang="en-US" sz="1600" dirty="0"/>
          </a:p>
          <a:p>
            <a:pPr marL="0" indent="0" algn="ctr">
              <a:buNone/>
            </a:pPr>
            <a:r>
              <a:rPr lang="en-US" sz="1600" i="1" dirty="0">
                <a:solidFill>
                  <a:srgbClr val="90A4AE"/>
                </a:solidFill>
              </a:rPr>
              <a:t>Based on Prior Ontology Constraints and Dual-Space Representation Learning</a:t>
            </a:r>
            <a:endParaRPr lang="en-US" sz="1600" dirty="0"/>
          </a:p>
        </p:txBody>
      </p:sp>
      <p:sp>
        <p:nvSpPr>
          <p:cNvPr id="9" name="Shape 7"/>
          <p:cNvSpPr/>
          <p:nvPr/>
        </p:nvSpPr>
        <p:spPr>
          <a:xfrm>
            <a:off x="2286000" y="4251960"/>
            <a:ext cx="7589520" cy="0"/>
          </a:xfrm>
          <a:prstGeom prst="line">
            <a:avLst/>
          </a:prstGeom>
          <a:noFill/>
          <a:ln w="12700">
            <a:solidFill>
              <a:srgbClr val="00B4CC"/>
            </a:solidFill>
            <a:prstDash val="solid"/>
          </a:ln>
        </p:spPr>
      </p:sp>
      <p:sp>
        <p:nvSpPr>
          <p:cNvPr id="10" name="Text 8"/>
          <p:cNvSpPr/>
          <p:nvPr/>
        </p:nvSpPr>
        <p:spPr>
          <a:xfrm>
            <a:off x="777240" y="4434840"/>
            <a:ext cx="10881360" cy="457200"/>
          </a:xfrm>
          <a:prstGeom prst="rect">
            <a:avLst/>
          </a:prstGeom>
          <a:noFill/>
          <a:ln/>
        </p:spPr>
        <p:txBody>
          <a:bodyPr wrap="square" rtlCol="0" anchor="ctr"/>
          <a:lstStyle/>
          <a:p>
            <a:pPr marL="0" indent="0" algn="ctr">
              <a:buNone/>
            </a:pPr>
            <a:r>
              <a:rPr lang="en-US" dirty="0">
                <a:solidFill>
                  <a:srgbClr val="90A4AE"/>
                </a:solidFill>
              </a:rPr>
              <a:t>答辩人：</a:t>
            </a:r>
            <a:r>
              <a:rPr lang="en-US" b="1" dirty="0">
                <a:solidFill>
                  <a:srgbClr val="FFFFFF"/>
                </a:solidFill>
              </a:rPr>
              <a:t>李之聿</a:t>
            </a:r>
            <a:r>
              <a:rPr lang="en-US" dirty="0">
                <a:solidFill>
                  <a:srgbClr val="90A4AE"/>
                </a:solidFill>
              </a:rPr>
              <a:t>          指导教师：</a:t>
            </a:r>
            <a:r>
              <a:rPr lang="en-US" b="1" dirty="0">
                <a:solidFill>
                  <a:srgbClr val="FFFFFF"/>
                </a:solidFill>
              </a:rPr>
              <a:t>孙玉霞 副教授</a:t>
            </a:r>
            <a:endParaRPr lang="en-US" dirty="0"/>
          </a:p>
        </p:txBody>
      </p:sp>
      <p:sp>
        <p:nvSpPr>
          <p:cNvPr id="11" name="Text 9"/>
          <p:cNvSpPr/>
          <p:nvPr/>
        </p:nvSpPr>
        <p:spPr>
          <a:xfrm>
            <a:off x="777240" y="5029200"/>
            <a:ext cx="10881360" cy="365760"/>
          </a:xfrm>
          <a:prstGeom prst="rect">
            <a:avLst/>
          </a:prstGeom>
          <a:noFill/>
          <a:ln/>
        </p:spPr>
        <p:txBody>
          <a:bodyPr wrap="square" rtlCol="0" anchor="ctr"/>
          <a:lstStyle/>
          <a:p>
            <a:pPr marL="0" indent="0" algn="ctr">
              <a:buNone/>
            </a:pPr>
            <a:r>
              <a:rPr lang="en-US" sz="1600" dirty="0">
                <a:solidFill>
                  <a:srgbClr val="90A4AE"/>
                </a:solidFill>
              </a:rPr>
              <a:t>专业学位 · 硕士论文答辩　2026 年 6 月</a:t>
            </a:r>
            <a:endParaRPr lang="en-US" sz="1600" dirty="0"/>
          </a:p>
        </p:txBody>
      </p:sp>
      <p:sp>
        <p:nvSpPr>
          <p:cNvPr id="12" name="Text 10"/>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1/18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01  研究背景与动机</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960120"/>
            <a:ext cx="5303520" cy="228600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960120"/>
            <a:ext cx="5303520" cy="365760"/>
          </a:xfrm>
          <a:prstGeom prst="rect">
            <a:avLst/>
          </a:prstGeom>
          <a:solidFill>
            <a:srgbClr val="1A3A6B"/>
          </a:solidFill>
          <a:ln w="12700">
            <a:solidFill>
              <a:srgbClr val="1A3A6B"/>
            </a:solidFill>
            <a:prstDash val="solid"/>
          </a:ln>
        </p:spPr>
      </p:sp>
      <p:sp>
        <p:nvSpPr>
          <p:cNvPr id="7" name="Text 5"/>
          <p:cNvSpPr/>
          <p:nvPr/>
        </p:nvSpPr>
        <p:spPr>
          <a:xfrm>
            <a:off x="274320" y="960120"/>
            <a:ext cx="5303520" cy="365760"/>
          </a:xfrm>
          <a:prstGeom prst="rect">
            <a:avLst/>
          </a:prstGeom>
          <a:noFill/>
          <a:ln/>
        </p:spPr>
        <p:txBody>
          <a:bodyPr wrap="square" lIns="0" tIns="0" rIns="0" bIns="0" rtlCol="0" anchor="ctr"/>
          <a:lstStyle/>
          <a:p>
            <a:pPr marL="0" indent="0" algn="ctr">
              <a:buNone/>
            </a:pPr>
            <a:r>
              <a:rPr lang="en-US" sz="1600" b="1" dirty="0">
                <a:solidFill>
                  <a:srgbClr val="FFFFFF"/>
                </a:solidFill>
              </a:rPr>
              <a:t>APT 攻击的核心特征</a:t>
            </a:r>
            <a:endParaRPr lang="en-US" sz="1600" dirty="0"/>
          </a:p>
        </p:txBody>
      </p:sp>
      <p:sp>
        <p:nvSpPr>
          <p:cNvPr id="8" name="Text 6"/>
          <p:cNvSpPr/>
          <p:nvPr/>
        </p:nvSpPr>
        <p:spPr>
          <a:xfrm>
            <a:off x="411480" y="1389888"/>
            <a:ext cx="5029200" cy="1828800"/>
          </a:xfrm>
          <a:prstGeom prst="rect">
            <a:avLst/>
          </a:prstGeom>
          <a:noFill/>
          <a:ln/>
        </p:spPr>
        <p:txBody>
          <a:bodyPr wrap="square" rtlCol="0" anchor="t"/>
          <a:lstStyle/>
          <a:p>
            <a:pPr marL="0" indent="0">
              <a:buNone/>
            </a:pPr>
            <a:r>
              <a:rPr lang="en-US" sz="1600" dirty="0">
                <a:solidFill>
                  <a:srgbClr val="0D1B2A"/>
                </a:solidFill>
              </a:rPr>
              <a:t>• 长期潜伏、定向攻击、多阶段协同</a:t>
            </a:r>
            <a:endParaRPr lang="en-US" sz="1600" dirty="0"/>
          </a:p>
          <a:p>
            <a:pPr marL="0" indent="0">
              <a:buNone/>
            </a:pPr>
            <a:r>
              <a:rPr lang="en-US" sz="1600" dirty="0">
                <a:solidFill>
                  <a:srgbClr val="0D1B2A"/>
                </a:solidFill>
              </a:rPr>
              <a:t>• 攻击链：初始入侵→权限提升→横向移动→数据窃取</a:t>
            </a:r>
            <a:endParaRPr lang="en-US" sz="1600" dirty="0"/>
          </a:p>
          <a:p>
            <a:pPr marL="0" indent="0">
              <a:buNone/>
            </a:pPr>
            <a:r>
              <a:rPr lang="en-US" sz="1600" dirty="0">
                <a:solidFill>
                  <a:srgbClr val="0D1B2A"/>
                </a:solidFill>
              </a:rPr>
              <a:t>• TTP 层面呈现稳定的阶段化模式（Cyber Kill Chain）</a:t>
            </a:r>
            <a:endParaRPr lang="en-US" sz="1600" dirty="0"/>
          </a:p>
          <a:p>
            <a:pPr marL="0" indent="0">
              <a:buNone/>
            </a:pPr>
            <a:r>
              <a:rPr lang="en-US" sz="1600" dirty="0">
                <a:solidFill>
                  <a:srgbClr val="0D1B2A"/>
                </a:solidFill>
              </a:rPr>
              <a:t>• 组织级工具链与攻击路径存在跨事件高度复用</a:t>
            </a:r>
            <a:endParaRPr lang="en-US" sz="1600" dirty="0"/>
          </a:p>
          <a:p>
            <a:pPr marL="0" indent="0">
              <a:buNone/>
            </a:pPr>
            <a:r>
              <a:rPr lang="en-US" sz="1600" dirty="0">
                <a:solidFill>
                  <a:srgbClr val="0D1B2A"/>
                </a:solidFill>
              </a:rPr>
              <a:t>  （Lazarus、Gamaredon 等组织实证）</a:t>
            </a:r>
            <a:endParaRPr lang="en-US" sz="1600" dirty="0"/>
          </a:p>
        </p:txBody>
      </p:sp>
      <p:sp>
        <p:nvSpPr>
          <p:cNvPr id="9" name="Shape 7"/>
          <p:cNvSpPr/>
          <p:nvPr/>
        </p:nvSpPr>
        <p:spPr>
          <a:xfrm>
            <a:off x="5806440" y="960120"/>
            <a:ext cx="6126480" cy="228600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0" name="Shape 8"/>
          <p:cNvSpPr/>
          <p:nvPr/>
        </p:nvSpPr>
        <p:spPr>
          <a:xfrm>
            <a:off x="5806440" y="960120"/>
            <a:ext cx="6126480" cy="365760"/>
          </a:xfrm>
          <a:prstGeom prst="rect">
            <a:avLst/>
          </a:prstGeom>
          <a:solidFill>
            <a:srgbClr val="006579"/>
          </a:solidFill>
          <a:ln w="12700">
            <a:solidFill>
              <a:srgbClr val="006579"/>
            </a:solidFill>
            <a:prstDash val="solid"/>
          </a:ln>
        </p:spPr>
      </p:sp>
      <p:sp>
        <p:nvSpPr>
          <p:cNvPr id="11" name="Text 9"/>
          <p:cNvSpPr/>
          <p:nvPr/>
        </p:nvSpPr>
        <p:spPr>
          <a:xfrm>
            <a:off x="5806440" y="960120"/>
            <a:ext cx="6126480" cy="365760"/>
          </a:xfrm>
          <a:prstGeom prst="rect">
            <a:avLst/>
          </a:prstGeom>
          <a:noFill/>
          <a:ln/>
        </p:spPr>
        <p:txBody>
          <a:bodyPr wrap="square" lIns="0" tIns="0" rIns="0" bIns="0" rtlCol="0" anchor="ctr"/>
          <a:lstStyle/>
          <a:p>
            <a:pPr marL="0" indent="0" algn="ctr">
              <a:buNone/>
            </a:pPr>
            <a:r>
              <a:rPr lang="en-US" sz="1600" b="1" dirty="0">
                <a:solidFill>
                  <a:srgbClr val="FFFFFF"/>
                </a:solidFill>
              </a:rPr>
              <a:t>2024 年全球 APT 攻击目标行业分布</a:t>
            </a:r>
            <a:endParaRPr lang="en-US" sz="1600" dirty="0"/>
          </a:p>
        </p:txBody>
      </p:sp>
      <p:sp>
        <p:nvSpPr>
          <p:cNvPr id="12" name="Shape 10"/>
          <p:cNvSpPr/>
          <p:nvPr/>
        </p:nvSpPr>
        <p:spPr>
          <a:xfrm>
            <a:off x="5943600" y="1463040"/>
            <a:ext cx="1106424" cy="246888"/>
          </a:xfrm>
          <a:prstGeom prst="rect">
            <a:avLst/>
          </a:prstGeom>
          <a:solidFill>
            <a:srgbClr val="B71C1C"/>
          </a:solidFill>
          <a:ln w="12700">
            <a:solidFill>
              <a:srgbClr val="B71C1C"/>
            </a:solidFill>
            <a:prstDash val="solid"/>
          </a:ln>
        </p:spPr>
      </p:sp>
      <p:sp>
        <p:nvSpPr>
          <p:cNvPr id="13" name="Text 11"/>
          <p:cNvSpPr/>
          <p:nvPr/>
        </p:nvSpPr>
        <p:spPr>
          <a:xfrm>
            <a:off x="7095744" y="1463040"/>
            <a:ext cx="2286000" cy="246888"/>
          </a:xfrm>
          <a:prstGeom prst="rect">
            <a:avLst/>
          </a:prstGeom>
          <a:noFill/>
          <a:ln/>
        </p:spPr>
        <p:txBody>
          <a:bodyPr wrap="square" rtlCol="0" anchor="ctr"/>
          <a:lstStyle/>
          <a:p>
            <a:pPr marL="0" indent="0">
              <a:buNone/>
            </a:pPr>
            <a:r>
              <a:rPr lang="en-US" sz="1400" dirty="0">
                <a:solidFill>
                  <a:srgbClr val="0D1B2A"/>
                </a:solidFill>
              </a:rPr>
              <a:t>政府部门</a:t>
            </a:r>
            <a:endParaRPr lang="en-US" sz="1400" dirty="0"/>
          </a:p>
        </p:txBody>
      </p:sp>
      <p:sp>
        <p:nvSpPr>
          <p:cNvPr id="14" name="Text 12"/>
          <p:cNvSpPr/>
          <p:nvPr/>
        </p:nvSpPr>
        <p:spPr>
          <a:xfrm>
            <a:off x="6501384" y="1463040"/>
            <a:ext cx="502920" cy="246888"/>
          </a:xfrm>
          <a:prstGeom prst="rect">
            <a:avLst/>
          </a:prstGeom>
          <a:noFill/>
          <a:ln/>
        </p:spPr>
        <p:txBody>
          <a:bodyPr wrap="square" lIns="0" tIns="0" rIns="0" bIns="0" rtlCol="0" anchor="ctr"/>
          <a:lstStyle/>
          <a:p>
            <a:pPr marL="0" indent="0" algn="r">
              <a:buNone/>
            </a:pPr>
            <a:r>
              <a:rPr lang="en-US" sz="1400" b="1" dirty="0">
                <a:solidFill>
                  <a:srgbClr val="FFFFFF"/>
                </a:solidFill>
              </a:rPr>
              <a:t>22%</a:t>
            </a:r>
            <a:endParaRPr lang="en-US" sz="1400" dirty="0"/>
          </a:p>
        </p:txBody>
      </p:sp>
      <p:sp>
        <p:nvSpPr>
          <p:cNvPr id="15" name="Shape 13"/>
          <p:cNvSpPr/>
          <p:nvPr/>
        </p:nvSpPr>
        <p:spPr>
          <a:xfrm>
            <a:off x="5943600" y="1801368"/>
            <a:ext cx="804672" cy="246888"/>
          </a:xfrm>
          <a:prstGeom prst="rect">
            <a:avLst/>
          </a:prstGeom>
          <a:solidFill>
            <a:srgbClr val="1565C0"/>
          </a:solidFill>
          <a:ln w="12700">
            <a:solidFill>
              <a:srgbClr val="1565C0"/>
            </a:solidFill>
            <a:prstDash val="solid"/>
          </a:ln>
        </p:spPr>
      </p:sp>
      <p:sp>
        <p:nvSpPr>
          <p:cNvPr id="16" name="Text 14"/>
          <p:cNvSpPr/>
          <p:nvPr/>
        </p:nvSpPr>
        <p:spPr>
          <a:xfrm>
            <a:off x="6793992" y="1801368"/>
            <a:ext cx="2286000" cy="246888"/>
          </a:xfrm>
          <a:prstGeom prst="rect">
            <a:avLst/>
          </a:prstGeom>
          <a:noFill/>
          <a:ln/>
        </p:spPr>
        <p:txBody>
          <a:bodyPr wrap="square" rtlCol="0" anchor="ctr"/>
          <a:lstStyle/>
          <a:p>
            <a:pPr marL="0" indent="0">
              <a:buNone/>
            </a:pPr>
            <a:r>
              <a:rPr lang="en-US" sz="1400" dirty="0">
                <a:solidFill>
                  <a:srgbClr val="0D1B2A"/>
                </a:solidFill>
              </a:rPr>
              <a:t>NGO / 高价值个人</a:t>
            </a:r>
            <a:endParaRPr lang="en-US" sz="1400" dirty="0"/>
          </a:p>
        </p:txBody>
      </p:sp>
      <p:sp>
        <p:nvSpPr>
          <p:cNvPr id="17" name="Text 15"/>
          <p:cNvSpPr/>
          <p:nvPr/>
        </p:nvSpPr>
        <p:spPr>
          <a:xfrm>
            <a:off x="6199632" y="1801368"/>
            <a:ext cx="502920" cy="246888"/>
          </a:xfrm>
          <a:prstGeom prst="rect">
            <a:avLst/>
          </a:prstGeom>
          <a:noFill/>
          <a:ln/>
        </p:spPr>
        <p:txBody>
          <a:bodyPr wrap="square" lIns="0" tIns="0" rIns="0" bIns="0" rtlCol="0" anchor="ctr"/>
          <a:lstStyle/>
          <a:p>
            <a:pPr marL="0" indent="0" algn="r">
              <a:buNone/>
            </a:pPr>
            <a:r>
              <a:rPr lang="en-US" sz="1400" b="1" dirty="0">
                <a:solidFill>
                  <a:srgbClr val="FFFFFF"/>
                </a:solidFill>
              </a:rPr>
              <a:t>16%</a:t>
            </a:r>
            <a:endParaRPr lang="en-US" sz="1400" dirty="0"/>
          </a:p>
        </p:txBody>
      </p:sp>
      <p:sp>
        <p:nvSpPr>
          <p:cNvPr id="18" name="Shape 16"/>
          <p:cNvSpPr/>
          <p:nvPr/>
        </p:nvSpPr>
        <p:spPr>
          <a:xfrm>
            <a:off x="5943600" y="2139696"/>
            <a:ext cx="553212" cy="246888"/>
          </a:xfrm>
          <a:prstGeom prst="rect">
            <a:avLst/>
          </a:prstGeom>
          <a:solidFill>
            <a:srgbClr val="E65100"/>
          </a:solidFill>
          <a:ln w="12700">
            <a:solidFill>
              <a:srgbClr val="E65100"/>
            </a:solidFill>
            <a:prstDash val="solid"/>
          </a:ln>
        </p:spPr>
      </p:sp>
      <p:sp>
        <p:nvSpPr>
          <p:cNvPr id="19" name="Text 17"/>
          <p:cNvSpPr/>
          <p:nvPr/>
        </p:nvSpPr>
        <p:spPr>
          <a:xfrm>
            <a:off x="6542532" y="2139696"/>
            <a:ext cx="2286000" cy="246888"/>
          </a:xfrm>
          <a:prstGeom prst="rect">
            <a:avLst/>
          </a:prstGeom>
          <a:noFill/>
          <a:ln/>
        </p:spPr>
        <p:txBody>
          <a:bodyPr wrap="square" rtlCol="0" anchor="ctr"/>
          <a:lstStyle/>
          <a:p>
            <a:pPr marL="0" indent="0">
              <a:buNone/>
            </a:pPr>
            <a:r>
              <a:rPr lang="en-US" sz="1400" dirty="0">
                <a:solidFill>
                  <a:srgbClr val="0D1B2A"/>
                </a:solidFill>
              </a:rPr>
              <a:t>高校与科研机构</a:t>
            </a:r>
            <a:endParaRPr lang="en-US" sz="1400" dirty="0"/>
          </a:p>
        </p:txBody>
      </p:sp>
      <p:sp>
        <p:nvSpPr>
          <p:cNvPr id="20" name="Text 18"/>
          <p:cNvSpPr/>
          <p:nvPr/>
        </p:nvSpPr>
        <p:spPr>
          <a:xfrm>
            <a:off x="5948172" y="2139696"/>
            <a:ext cx="502920" cy="246888"/>
          </a:xfrm>
          <a:prstGeom prst="rect">
            <a:avLst/>
          </a:prstGeom>
          <a:noFill/>
          <a:ln/>
        </p:spPr>
        <p:txBody>
          <a:bodyPr wrap="square" lIns="0" tIns="0" rIns="0" bIns="0" rtlCol="0" anchor="ctr"/>
          <a:lstStyle/>
          <a:p>
            <a:pPr marL="0" indent="0" algn="r">
              <a:buNone/>
            </a:pPr>
            <a:r>
              <a:rPr lang="en-US" sz="1400" b="1" dirty="0">
                <a:solidFill>
                  <a:srgbClr val="FFFFFF"/>
                </a:solidFill>
              </a:rPr>
              <a:t>11%</a:t>
            </a:r>
            <a:endParaRPr lang="en-US" sz="1400" dirty="0"/>
          </a:p>
        </p:txBody>
      </p:sp>
      <p:sp>
        <p:nvSpPr>
          <p:cNvPr id="21" name="Shape 19"/>
          <p:cNvSpPr/>
          <p:nvPr/>
        </p:nvSpPr>
        <p:spPr>
          <a:xfrm>
            <a:off x="5943600" y="2478024"/>
            <a:ext cx="452628" cy="246888"/>
          </a:xfrm>
          <a:prstGeom prst="rect">
            <a:avLst/>
          </a:prstGeom>
          <a:solidFill>
            <a:srgbClr val="2E7D32"/>
          </a:solidFill>
          <a:ln w="12700">
            <a:solidFill>
              <a:srgbClr val="2E7D32"/>
            </a:solidFill>
            <a:prstDash val="solid"/>
          </a:ln>
        </p:spPr>
      </p:sp>
      <p:sp>
        <p:nvSpPr>
          <p:cNvPr id="22" name="Text 20"/>
          <p:cNvSpPr/>
          <p:nvPr/>
        </p:nvSpPr>
        <p:spPr>
          <a:xfrm>
            <a:off x="6441948" y="2478024"/>
            <a:ext cx="2286000" cy="246888"/>
          </a:xfrm>
          <a:prstGeom prst="rect">
            <a:avLst/>
          </a:prstGeom>
          <a:noFill/>
          <a:ln/>
        </p:spPr>
        <p:txBody>
          <a:bodyPr wrap="square" rtlCol="0" anchor="ctr"/>
          <a:lstStyle/>
          <a:p>
            <a:pPr marL="0" indent="0">
              <a:buNone/>
            </a:pPr>
            <a:r>
              <a:rPr lang="en-US" sz="1400" dirty="0">
                <a:solidFill>
                  <a:srgbClr val="0D1B2A"/>
                </a:solidFill>
              </a:rPr>
              <a:t>金融行业</a:t>
            </a:r>
            <a:endParaRPr lang="en-US" sz="1400" dirty="0"/>
          </a:p>
        </p:txBody>
      </p:sp>
      <p:sp>
        <p:nvSpPr>
          <p:cNvPr id="23" name="Text 21"/>
          <p:cNvSpPr/>
          <p:nvPr/>
        </p:nvSpPr>
        <p:spPr>
          <a:xfrm>
            <a:off x="5847588" y="2478024"/>
            <a:ext cx="502920" cy="246888"/>
          </a:xfrm>
          <a:prstGeom prst="rect">
            <a:avLst/>
          </a:prstGeom>
          <a:noFill/>
          <a:ln/>
        </p:spPr>
        <p:txBody>
          <a:bodyPr wrap="square" lIns="0" tIns="0" rIns="0" bIns="0" rtlCol="0" anchor="ctr"/>
          <a:lstStyle/>
          <a:p>
            <a:pPr marL="0" indent="0" algn="r">
              <a:buNone/>
            </a:pPr>
            <a:r>
              <a:rPr lang="en-US" sz="1400" b="1" dirty="0">
                <a:solidFill>
                  <a:srgbClr val="FFFFFF"/>
                </a:solidFill>
              </a:rPr>
              <a:t>9%</a:t>
            </a:r>
            <a:endParaRPr lang="en-US" sz="1400" dirty="0"/>
          </a:p>
        </p:txBody>
      </p:sp>
      <p:sp>
        <p:nvSpPr>
          <p:cNvPr id="24" name="Shape 22"/>
          <p:cNvSpPr/>
          <p:nvPr/>
        </p:nvSpPr>
        <p:spPr>
          <a:xfrm>
            <a:off x="5943600" y="2816352"/>
            <a:ext cx="2112264" cy="246888"/>
          </a:xfrm>
          <a:prstGeom prst="rect">
            <a:avLst/>
          </a:prstGeom>
          <a:solidFill>
            <a:srgbClr val="546E7A"/>
          </a:solidFill>
          <a:ln w="12700">
            <a:solidFill>
              <a:srgbClr val="546E7A"/>
            </a:solidFill>
            <a:prstDash val="solid"/>
          </a:ln>
        </p:spPr>
      </p:sp>
      <p:sp>
        <p:nvSpPr>
          <p:cNvPr id="25" name="Text 23"/>
          <p:cNvSpPr/>
          <p:nvPr/>
        </p:nvSpPr>
        <p:spPr>
          <a:xfrm>
            <a:off x="8101584" y="2816352"/>
            <a:ext cx="2286000" cy="246888"/>
          </a:xfrm>
          <a:prstGeom prst="rect">
            <a:avLst/>
          </a:prstGeom>
          <a:noFill/>
          <a:ln/>
        </p:spPr>
        <p:txBody>
          <a:bodyPr wrap="square" rtlCol="0" anchor="ctr"/>
          <a:lstStyle/>
          <a:p>
            <a:pPr marL="0" indent="0">
              <a:buNone/>
            </a:pPr>
            <a:r>
              <a:rPr lang="en-US" sz="1400" dirty="0">
                <a:solidFill>
                  <a:srgbClr val="0D1B2A"/>
                </a:solidFill>
              </a:rPr>
              <a:t>其他</a:t>
            </a:r>
            <a:endParaRPr lang="en-US" sz="1400" dirty="0"/>
          </a:p>
        </p:txBody>
      </p:sp>
      <p:sp>
        <p:nvSpPr>
          <p:cNvPr id="26" name="Text 24"/>
          <p:cNvSpPr/>
          <p:nvPr/>
        </p:nvSpPr>
        <p:spPr>
          <a:xfrm>
            <a:off x="7507224" y="2816352"/>
            <a:ext cx="502920" cy="246888"/>
          </a:xfrm>
          <a:prstGeom prst="rect">
            <a:avLst/>
          </a:prstGeom>
          <a:noFill/>
          <a:ln/>
        </p:spPr>
        <p:txBody>
          <a:bodyPr wrap="square" lIns="0" tIns="0" rIns="0" bIns="0" rtlCol="0" anchor="ctr"/>
          <a:lstStyle/>
          <a:p>
            <a:pPr marL="0" indent="0" algn="r">
              <a:buNone/>
            </a:pPr>
            <a:r>
              <a:rPr lang="en-US" sz="1400" b="1" dirty="0">
                <a:solidFill>
                  <a:srgbClr val="FFFFFF"/>
                </a:solidFill>
              </a:rPr>
              <a:t>42%</a:t>
            </a:r>
            <a:endParaRPr lang="en-US" sz="1400" dirty="0"/>
          </a:p>
        </p:txBody>
      </p:sp>
      <p:sp>
        <p:nvSpPr>
          <p:cNvPr id="27" name="Shape 25"/>
          <p:cNvSpPr/>
          <p:nvPr/>
        </p:nvSpPr>
        <p:spPr>
          <a:xfrm>
            <a:off x="274320" y="3428999"/>
            <a:ext cx="11612880" cy="1737359"/>
          </a:xfrm>
          <a:prstGeom prst="rect">
            <a:avLst/>
          </a:prstGeom>
          <a:solidFill>
            <a:srgbClr val="FFF8E1"/>
          </a:solidFill>
          <a:ln w="6350">
            <a:solidFill>
              <a:srgbClr val="CCCCCC"/>
            </a:solidFill>
            <a:prstDash val="solid"/>
          </a:ln>
          <a:effectLst>
            <a:outerShdw blurRad="76200" dist="25400" dir="8100000" algn="bl" rotWithShape="0">
              <a:srgbClr val="000000">
                <a:alpha val="12000"/>
              </a:srgbClr>
            </a:outerShdw>
          </a:effectLst>
        </p:spPr>
      </p:sp>
      <p:sp>
        <p:nvSpPr>
          <p:cNvPr id="28" name="Shape 26"/>
          <p:cNvSpPr/>
          <p:nvPr/>
        </p:nvSpPr>
        <p:spPr>
          <a:xfrm>
            <a:off x="274320" y="3429000"/>
            <a:ext cx="45719" cy="1737358"/>
          </a:xfrm>
          <a:prstGeom prst="rect">
            <a:avLst/>
          </a:prstGeom>
          <a:solidFill>
            <a:srgbClr val="E65100"/>
          </a:solidFill>
          <a:ln w="12700">
            <a:solidFill>
              <a:srgbClr val="E65100"/>
            </a:solidFill>
            <a:prstDash val="solid"/>
          </a:ln>
        </p:spPr>
      </p:sp>
      <p:sp>
        <p:nvSpPr>
          <p:cNvPr id="29" name="Text 27"/>
          <p:cNvSpPr/>
          <p:nvPr/>
        </p:nvSpPr>
        <p:spPr>
          <a:xfrm>
            <a:off x="457200" y="3474720"/>
            <a:ext cx="3657600" cy="365760"/>
          </a:xfrm>
          <a:prstGeom prst="rect">
            <a:avLst/>
          </a:prstGeom>
          <a:noFill/>
          <a:ln/>
        </p:spPr>
        <p:txBody>
          <a:bodyPr wrap="square" rtlCol="0" anchor="ctr"/>
          <a:lstStyle/>
          <a:p>
            <a:pPr marL="0" indent="0">
              <a:buNone/>
            </a:pPr>
            <a:r>
              <a:rPr lang="en-US" sz="1600" b="1" dirty="0">
                <a:solidFill>
                  <a:srgbClr val="E65100"/>
                </a:solidFill>
              </a:rPr>
              <a:t>研究缺口与意义</a:t>
            </a:r>
            <a:endParaRPr lang="en-US" sz="1600" dirty="0"/>
          </a:p>
        </p:txBody>
      </p:sp>
      <p:sp>
        <p:nvSpPr>
          <p:cNvPr id="30" name="Text 28"/>
          <p:cNvSpPr/>
          <p:nvPr/>
        </p:nvSpPr>
        <p:spPr>
          <a:xfrm>
            <a:off x="457200" y="3840480"/>
            <a:ext cx="3657600" cy="1051560"/>
          </a:xfrm>
          <a:prstGeom prst="rect">
            <a:avLst/>
          </a:prstGeom>
          <a:noFill/>
          <a:ln/>
        </p:spPr>
        <p:txBody>
          <a:bodyPr wrap="square" rtlCol="0" anchor="ctr"/>
          <a:lstStyle/>
          <a:p>
            <a:pPr marL="0" indent="0">
              <a:buNone/>
            </a:pPr>
            <a:r>
              <a:rPr lang="en-US" sz="1600" b="1" dirty="0">
                <a:solidFill>
                  <a:srgbClr val="0D1B2A"/>
                </a:solidFill>
              </a:rPr>
              <a:t>威胁情报碎片化</a:t>
            </a:r>
            <a:endParaRPr lang="en-US" sz="1600" dirty="0"/>
          </a:p>
          <a:p>
            <a:pPr marL="0" indent="0">
              <a:buNone/>
            </a:pPr>
            <a:r>
              <a:rPr lang="en-US" sz="1600" dirty="0">
                <a:solidFill>
                  <a:srgbClr val="0D1B2A"/>
                </a:solidFill>
              </a:rPr>
              <a:t>IOC 与 TTP 彼此独立，缺乏统一建模，难以形成系统性 APT 行为认知</a:t>
            </a:r>
            <a:endParaRPr lang="en-US" sz="1600" dirty="0"/>
          </a:p>
        </p:txBody>
      </p:sp>
      <p:sp>
        <p:nvSpPr>
          <p:cNvPr id="31" name="Shape 29"/>
          <p:cNvSpPr/>
          <p:nvPr/>
        </p:nvSpPr>
        <p:spPr>
          <a:xfrm>
            <a:off x="4343400" y="3520439"/>
            <a:ext cx="0" cy="1532963"/>
          </a:xfrm>
          <a:prstGeom prst="line">
            <a:avLst/>
          </a:prstGeom>
          <a:noFill/>
          <a:ln w="9525">
            <a:solidFill>
              <a:srgbClr val="CCCCCC"/>
            </a:solidFill>
            <a:prstDash val="solid"/>
          </a:ln>
        </p:spPr>
      </p:sp>
      <p:sp>
        <p:nvSpPr>
          <p:cNvPr id="32" name="Text 30"/>
          <p:cNvSpPr/>
          <p:nvPr/>
        </p:nvSpPr>
        <p:spPr>
          <a:xfrm>
            <a:off x="4480560" y="3840480"/>
            <a:ext cx="3840480" cy="1051560"/>
          </a:xfrm>
          <a:prstGeom prst="rect">
            <a:avLst/>
          </a:prstGeom>
          <a:noFill/>
          <a:ln/>
        </p:spPr>
        <p:txBody>
          <a:bodyPr wrap="square" rtlCol="0" anchor="ctr"/>
          <a:lstStyle/>
          <a:p>
            <a:pPr marL="0" indent="0">
              <a:buNone/>
            </a:pPr>
            <a:r>
              <a:rPr lang="en-US" sz="1600" b="1" dirty="0">
                <a:solidFill>
                  <a:srgbClr val="0D1B2A"/>
                </a:solidFill>
              </a:rPr>
              <a:t>欧式 KGE 几何瓶颈</a:t>
            </a:r>
            <a:endParaRPr lang="en-US" sz="1600" dirty="0"/>
          </a:p>
          <a:p>
            <a:pPr marL="0" indent="0">
              <a:buNone/>
            </a:pPr>
            <a:r>
              <a:rPr lang="en-US" sz="1600" dirty="0">
                <a:solidFill>
                  <a:srgbClr val="0D1B2A"/>
                </a:solidFill>
              </a:rPr>
              <a:t>叶子节点密集（MAL+TOOL&gt;40%），欧式空间容量多项式增长，</a:t>
            </a:r>
            <a:endParaRPr lang="en-US" sz="1600" dirty="0"/>
          </a:p>
          <a:p>
            <a:pPr marL="0" indent="0">
              <a:buNone/>
            </a:pPr>
            <a:r>
              <a:rPr lang="en-US" sz="1600" dirty="0">
                <a:solidFill>
                  <a:srgbClr val="0D1B2A"/>
                </a:solidFill>
              </a:rPr>
              <a:t>产生几何拥挤效应</a:t>
            </a:r>
            <a:endParaRPr lang="en-US" sz="1600" dirty="0"/>
          </a:p>
        </p:txBody>
      </p:sp>
      <p:sp>
        <p:nvSpPr>
          <p:cNvPr id="33" name="Shape 31"/>
          <p:cNvSpPr/>
          <p:nvPr/>
        </p:nvSpPr>
        <p:spPr>
          <a:xfrm>
            <a:off x="8549640" y="3520439"/>
            <a:ext cx="0" cy="1532963"/>
          </a:xfrm>
          <a:prstGeom prst="line">
            <a:avLst/>
          </a:prstGeom>
          <a:noFill/>
          <a:ln w="9525">
            <a:solidFill>
              <a:srgbClr val="CCCCCC"/>
            </a:solidFill>
            <a:prstDash val="solid"/>
          </a:ln>
        </p:spPr>
      </p:sp>
      <p:sp>
        <p:nvSpPr>
          <p:cNvPr id="34" name="Text 32"/>
          <p:cNvSpPr/>
          <p:nvPr/>
        </p:nvSpPr>
        <p:spPr>
          <a:xfrm>
            <a:off x="8686800" y="3840480"/>
            <a:ext cx="3108960" cy="1051560"/>
          </a:xfrm>
          <a:prstGeom prst="rect">
            <a:avLst/>
          </a:prstGeom>
          <a:noFill/>
          <a:ln/>
        </p:spPr>
        <p:txBody>
          <a:bodyPr wrap="square" rtlCol="0" anchor="ctr"/>
          <a:lstStyle/>
          <a:p>
            <a:pPr marL="0" indent="0">
              <a:buNone/>
            </a:pPr>
            <a:r>
              <a:rPr lang="en-US" sz="1600" b="1" dirty="0">
                <a:solidFill>
                  <a:srgbClr val="0D1B2A"/>
                </a:solidFill>
              </a:rPr>
              <a:t>目标</a:t>
            </a:r>
            <a:endParaRPr lang="en-US" sz="1600" dirty="0"/>
          </a:p>
          <a:p>
            <a:pPr marL="0" indent="0">
              <a:buNone/>
            </a:pPr>
            <a:r>
              <a:rPr lang="en-US" sz="1600" dirty="0">
                <a:solidFill>
                  <a:srgbClr val="0D1B2A"/>
                </a:solidFill>
              </a:rPr>
              <a:t>基于历史情报预测 APT 组织工具偏好与攻击目标，实现 被动响应→主动防御</a:t>
            </a:r>
            <a:endParaRPr lang="en-US" sz="1600" dirty="0"/>
          </a:p>
        </p:txBody>
      </p:sp>
      <p:sp>
        <p:nvSpPr>
          <p:cNvPr id="35" name="Text 33"/>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2/18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02  任务定义：APT 攻击偏好预测的形式化</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987552"/>
            <a:ext cx="5650992" cy="1261872"/>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987552"/>
            <a:ext cx="73152" cy="1261872"/>
          </a:xfrm>
          <a:prstGeom prst="rect">
            <a:avLst/>
          </a:prstGeom>
          <a:solidFill>
            <a:srgbClr val="1A3A6B"/>
          </a:solidFill>
          <a:ln w="12700">
            <a:solidFill>
              <a:srgbClr val="1A3A6B"/>
            </a:solidFill>
            <a:prstDash val="solid"/>
          </a:ln>
        </p:spPr>
      </p:sp>
      <p:sp>
        <p:nvSpPr>
          <p:cNvPr id="7" name="Text 5"/>
          <p:cNvSpPr/>
          <p:nvPr/>
        </p:nvSpPr>
        <p:spPr>
          <a:xfrm>
            <a:off x="457200" y="1005840"/>
            <a:ext cx="2743200" cy="347472"/>
          </a:xfrm>
          <a:prstGeom prst="rect">
            <a:avLst/>
          </a:prstGeom>
          <a:noFill/>
          <a:ln/>
        </p:spPr>
        <p:txBody>
          <a:bodyPr wrap="square" rtlCol="0" anchor="ctr"/>
          <a:lstStyle/>
          <a:p>
            <a:pPr marL="0" indent="0">
              <a:buNone/>
            </a:pPr>
            <a:r>
              <a:rPr lang="en-US" sz="1600" b="1" dirty="0">
                <a:solidFill>
                  <a:srgbClr val="1A3A6B"/>
                </a:solidFill>
              </a:rPr>
              <a:t>知识图谱定义</a:t>
            </a:r>
            <a:endParaRPr lang="en-US" sz="1600" dirty="0"/>
          </a:p>
        </p:txBody>
      </p:sp>
      <p:sp>
        <p:nvSpPr>
          <p:cNvPr id="8" name="Shape 6"/>
          <p:cNvSpPr/>
          <p:nvPr/>
        </p:nvSpPr>
        <p:spPr>
          <a:xfrm>
            <a:off x="457200" y="1371600"/>
            <a:ext cx="3200400" cy="804672"/>
          </a:xfrm>
          <a:prstGeom prst="rect">
            <a:avLst/>
          </a:prstGeom>
          <a:solidFill>
            <a:srgbClr val="E1F5FE"/>
          </a:solidFill>
          <a:ln w="19050">
            <a:solidFill>
              <a:srgbClr val="00B4CC"/>
            </a:solidFill>
            <a:prstDash val="solid"/>
          </a:ln>
        </p:spPr>
      </p:sp>
      <p:sp>
        <p:nvSpPr>
          <p:cNvPr id="9" name="Text 7"/>
          <p:cNvSpPr/>
          <p:nvPr/>
        </p:nvSpPr>
        <p:spPr>
          <a:xfrm>
            <a:off x="566928" y="1426464"/>
            <a:ext cx="2980944" cy="694944"/>
          </a:xfrm>
          <a:prstGeom prst="rect">
            <a:avLst/>
          </a:prstGeom>
          <a:noFill/>
          <a:ln/>
        </p:spPr>
        <p:txBody>
          <a:bodyPr wrap="square" rtlCol="0" anchor="ctr"/>
          <a:lstStyle/>
          <a:p>
            <a:pPr marL="0" indent="0" algn="ctr">
              <a:buNone/>
            </a:pPr>
            <a:r>
              <a:rPr lang="en-US" sz="1600" dirty="0">
                <a:solidFill>
                  <a:srgbClr val="0D1B2A"/>
                </a:solidFill>
              </a:rPr>
              <a:t>G = (ℰ, ℛ, 𝒯 )</a:t>
            </a:r>
            <a:endParaRPr lang="en-US" sz="1600" dirty="0"/>
          </a:p>
        </p:txBody>
      </p:sp>
      <p:sp>
        <p:nvSpPr>
          <p:cNvPr id="10" name="Text 8"/>
          <p:cNvSpPr/>
          <p:nvPr/>
        </p:nvSpPr>
        <p:spPr>
          <a:xfrm>
            <a:off x="3730257" y="1472184"/>
            <a:ext cx="4114800" cy="1097280"/>
          </a:xfrm>
          <a:prstGeom prst="rect">
            <a:avLst/>
          </a:prstGeom>
          <a:noFill/>
          <a:ln/>
        </p:spPr>
        <p:txBody>
          <a:bodyPr wrap="square" rtlCol="0" anchor="t"/>
          <a:lstStyle/>
          <a:p>
            <a:pPr marL="0" indent="0">
              <a:buNone/>
            </a:pPr>
            <a:r>
              <a:rPr lang="en-US" sz="1200" b="1" dirty="0">
                <a:solidFill>
                  <a:srgbClr val="0D1B2A"/>
                </a:solidFill>
              </a:rPr>
              <a:t>ℰ</a:t>
            </a:r>
            <a:r>
              <a:rPr lang="en-US" sz="1200" dirty="0">
                <a:solidFill>
                  <a:srgbClr val="0D1B2A"/>
                </a:solidFill>
              </a:rPr>
              <a:t> — 实体集合（1,476 / 1,483）
</a:t>
            </a:r>
            <a:r>
              <a:rPr lang="en-US" sz="1200" b="1" dirty="0">
                <a:solidFill>
                  <a:srgbClr val="0D1B2A"/>
                </a:solidFill>
              </a:rPr>
              <a:t>ℛ</a:t>
            </a:r>
            <a:r>
              <a:rPr lang="en-US" sz="1200" dirty="0">
                <a:solidFill>
                  <a:srgbClr val="0D1B2A"/>
                </a:solidFill>
              </a:rPr>
              <a:t> — 关系类型（11 / 12 类）
</a:t>
            </a:r>
            <a:r>
              <a:rPr lang="en-US" sz="1200" b="1" dirty="0">
                <a:solidFill>
                  <a:srgbClr val="0D1B2A"/>
                </a:solidFill>
              </a:rPr>
              <a:t>𝒯 ⊆ ℰ × ℛ × ℰ</a:t>
            </a:r>
            <a:r>
              <a:rPr lang="en-US" sz="1200" dirty="0">
                <a:solidFill>
                  <a:srgbClr val="0D1B2A"/>
                </a:solidFill>
              </a:rPr>
              <a:t> — 已观测三元组</a:t>
            </a:r>
            <a:endParaRPr lang="en-US" sz="1200" dirty="0"/>
          </a:p>
        </p:txBody>
      </p:sp>
      <p:sp>
        <p:nvSpPr>
          <p:cNvPr id="11" name="Text 9"/>
          <p:cNvSpPr/>
          <p:nvPr/>
        </p:nvSpPr>
        <p:spPr>
          <a:xfrm>
            <a:off x="457200" y="2377440"/>
            <a:ext cx="2743200" cy="347472"/>
          </a:xfrm>
          <a:prstGeom prst="rect">
            <a:avLst/>
          </a:prstGeom>
          <a:noFill/>
          <a:ln/>
        </p:spPr>
        <p:txBody>
          <a:bodyPr wrap="square" rtlCol="0" anchor="ctr"/>
          <a:lstStyle/>
          <a:p>
            <a:pPr marL="0" indent="0">
              <a:buNone/>
            </a:pPr>
            <a:r>
              <a:rPr lang="en-US" sz="1600" b="1" dirty="0">
                <a:solidFill>
                  <a:srgbClr val="1A3A6B"/>
                </a:solidFill>
              </a:rPr>
              <a:t>链接预测任务</a:t>
            </a:r>
            <a:endParaRPr lang="en-US" sz="1600" dirty="0"/>
          </a:p>
        </p:txBody>
      </p:sp>
      <p:sp>
        <p:nvSpPr>
          <p:cNvPr id="12" name="Shape 10"/>
          <p:cNvSpPr/>
          <p:nvPr/>
        </p:nvSpPr>
        <p:spPr>
          <a:xfrm>
            <a:off x="457200" y="2743200"/>
            <a:ext cx="5303520" cy="658368"/>
          </a:xfrm>
          <a:prstGeom prst="rect">
            <a:avLst/>
          </a:prstGeom>
          <a:solidFill>
            <a:srgbClr val="E1F5FE"/>
          </a:solidFill>
          <a:ln w="19050">
            <a:solidFill>
              <a:srgbClr val="00B4CC"/>
            </a:solidFill>
            <a:prstDash val="solid"/>
          </a:ln>
        </p:spPr>
      </p:sp>
      <p:sp>
        <p:nvSpPr>
          <p:cNvPr id="13" name="Text 11"/>
          <p:cNvSpPr/>
          <p:nvPr/>
        </p:nvSpPr>
        <p:spPr>
          <a:xfrm>
            <a:off x="566928" y="2798064"/>
            <a:ext cx="5084064" cy="548640"/>
          </a:xfrm>
          <a:prstGeom prst="rect">
            <a:avLst/>
          </a:prstGeom>
          <a:noFill/>
          <a:ln/>
        </p:spPr>
        <p:txBody>
          <a:bodyPr wrap="square" rtlCol="0" anchor="ctr"/>
          <a:lstStyle/>
          <a:p>
            <a:pPr marL="0" indent="0" algn="ctr">
              <a:buNone/>
            </a:pPr>
            <a:r>
              <a:rPr lang="en-US" sz="1600" dirty="0">
                <a:solidFill>
                  <a:srgbClr val="0D1B2A"/>
                </a:solidFill>
              </a:rPr>
              <a:t>(h, r, ?)  →  </a:t>
            </a:r>
            <a:r>
              <a:rPr lang="en-US" sz="1600" b="1" dirty="0">
                <a:solidFill>
                  <a:srgbClr val="0D1B2A"/>
                </a:solidFill>
              </a:rPr>
              <a:t>t* = arg max  f(h, r, t)</a:t>
            </a:r>
            <a:endParaRPr lang="en-US" sz="1600" dirty="0"/>
          </a:p>
        </p:txBody>
      </p:sp>
      <p:sp>
        <p:nvSpPr>
          <p:cNvPr id="14" name="Shape 12"/>
          <p:cNvSpPr/>
          <p:nvPr/>
        </p:nvSpPr>
        <p:spPr>
          <a:xfrm>
            <a:off x="6035040" y="987552"/>
            <a:ext cx="5852160" cy="2423160"/>
          </a:xfrm>
          <a:prstGeom prst="rect">
            <a:avLst/>
          </a:prstGeom>
          <a:solidFill>
            <a:srgbClr val="EEF6FF"/>
          </a:solidFill>
          <a:ln w="6350">
            <a:solidFill>
              <a:srgbClr val="CCCCCC"/>
            </a:solidFill>
            <a:prstDash val="solid"/>
          </a:ln>
          <a:effectLst>
            <a:outerShdw blurRad="76200" dist="25400" dir="8100000" algn="bl" rotWithShape="0">
              <a:srgbClr val="000000">
                <a:alpha val="12000"/>
              </a:srgbClr>
            </a:outerShdw>
          </a:effectLst>
        </p:spPr>
      </p:sp>
      <p:sp>
        <p:nvSpPr>
          <p:cNvPr id="15" name="Shape 13"/>
          <p:cNvSpPr/>
          <p:nvPr/>
        </p:nvSpPr>
        <p:spPr>
          <a:xfrm>
            <a:off x="6035040" y="987552"/>
            <a:ext cx="5852160" cy="365760"/>
          </a:xfrm>
          <a:prstGeom prst="rect">
            <a:avLst/>
          </a:prstGeom>
          <a:solidFill>
            <a:srgbClr val="3A5FAF"/>
          </a:solidFill>
          <a:ln w="12700">
            <a:solidFill>
              <a:srgbClr val="3A5FAF"/>
            </a:solidFill>
            <a:prstDash val="solid"/>
          </a:ln>
        </p:spPr>
      </p:sp>
      <p:sp>
        <p:nvSpPr>
          <p:cNvPr id="16" name="Text 14"/>
          <p:cNvSpPr/>
          <p:nvPr/>
        </p:nvSpPr>
        <p:spPr>
          <a:xfrm>
            <a:off x="6035040" y="987552"/>
            <a:ext cx="5852160" cy="365760"/>
          </a:xfrm>
          <a:prstGeom prst="rect">
            <a:avLst/>
          </a:prstGeom>
          <a:noFill/>
          <a:ln/>
        </p:spPr>
        <p:txBody>
          <a:bodyPr wrap="square" lIns="0" tIns="0" rIns="0" bIns="0" rtlCol="0" anchor="ctr"/>
          <a:lstStyle/>
          <a:p>
            <a:pPr marL="0" indent="0" algn="ctr">
              <a:buNone/>
            </a:pPr>
            <a:r>
              <a:rPr lang="en-US" sz="1600" b="1" dirty="0">
                <a:solidFill>
                  <a:srgbClr val="FFFFFF"/>
                </a:solidFill>
              </a:rPr>
              <a:t>攻击偏好预测子空间 𝒯_pref</a:t>
            </a:r>
            <a:endParaRPr lang="en-US" sz="1600" dirty="0"/>
          </a:p>
        </p:txBody>
      </p:sp>
      <p:sp>
        <p:nvSpPr>
          <p:cNvPr id="17" name="Shape 15"/>
          <p:cNvSpPr/>
          <p:nvPr/>
        </p:nvSpPr>
        <p:spPr>
          <a:xfrm>
            <a:off x="6172200" y="1540890"/>
            <a:ext cx="5577840" cy="594360"/>
          </a:xfrm>
          <a:prstGeom prst="rect">
            <a:avLst/>
          </a:prstGeom>
          <a:solidFill>
            <a:srgbClr val="E1F5FE"/>
          </a:solidFill>
          <a:ln w="19050">
            <a:solidFill>
              <a:srgbClr val="00B4CC"/>
            </a:solidFill>
            <a:prstDash val="solid"/>
          </a:ln>
        </p:spPr>
      </p:sp>
      <p:sp>
        <p:nvSpPr>
          <p:cNvPr id="18" name="Text 16"/>
          <p:cNvSpPr/>
          <p:nvPr/>
        </p:nvSpPr>
        <p:spPr>
          <a:xfrm>
            <a:off x="6281928" y="1595754"/>
            <a:ext cx="5358384" cy="484632"/>
          </a:xfrm>
          <a:prstGeom prst="rect">
            <a:avLst/>
          </a:prstGeom>
          <a:noFill/>
          <a:ln/>
        </p:spPr>
        <p:txBody>
          <a:bodyPr wrap="square" rtlCol="0" anchor="ctr"/>
          <a:lstStyle/>
          <a:p>
            <a:pPr marL="0" indent="0" algn="ctr">
              <a:buNone/>
            </a:pPr>
            <a:r>
              <a:rPr lang="en-US" sz="1600" dirty="0">
                <a:solidFill>
                  <a:srgbClr val="0D1B2A"/>
                </a:solidFill>
              </a:rPr>
              <a:t>h ∈ ℰ</a:t>
            </a:r>
            <a:r>
              <a:rPr lang="en-US" sz="1600" baseline="-40000" dirty="0">
                <a:solidFill>
                  <a:srgbClr val="0D1B2A"/>
                </a:solidFill>
              </a:rPr>
              <a:t>APT</a:t>
            </a:r>
            <a:r>
              <a:rPr lang="en-US" sz="1600" dirty="0">
                <a:solidFill>
                  <a:srgbClr val="0D1B2A"/>
                </a:solidFill>
              </a:rPr>
              <a:t>  ,   r ∈ {target, use, exploit}</a:t>
            </a:r>
            <a:endParaRPr lang="en-US" sz="1600" dirty="0"/>
          </a:p>
        </p:txBody>
      </p:sp>
      <p:sp>
        <p:nvSpPr>
          <p:cNvPr id="19" name="Text 17"/>
          <p:cNvSpPr/>
          <p:nvPr/>
        </p:nvSpPr>
        <p:spPr>
          <a:xfrm>
            <a:off x="6184062" y="2270925"/>
            <a:ext cx="5486400" cy="1234440"/>
          </a:xfrm>
          <a:prstGeom prst="rect">
            <a:avLst/>
          </a:prstGeom>
          <a:noFill/>
          <a:ln/>
        </p:spPr>
        <p:txBody>
          <a:bodyPr wrap="square" rtlCol="0" anchor="t"/>
          <a:lstStyle/>
          <a:p>
            <a:pPr marL="0" indent="0">
              <a:buNone/>
            </a:pPr>
            <a:r>
              <a:rPr lang="en-US" sz="1600" b="1" dirty="0">
                <a:solidFill>
                  <a:srgbClr val="B71C1C"/>
                </a:solidFill>
              </a:rPr>
              <a:t>target</a:t>
            </a:r>
            <a:r>
              <a:rPr lang="en-US" sz="1600" dirty="0">
                <a:solidFill>
                  <a:srgbClr val="0D1B2A"/>
                </a:solidFill>
              </a:rPr>
              <a:t>  → 预测攻击目标行业
</a:t>
            </a:r>
            <a:r>
              <a:rPr lang="en-US" sz="1600" b="1" dirty="0">
                <a:solidFill>
                  <a:srgbClr val="006579"/>
                </a:solidFill>
              </a:rPr>
              <a:t>use</a:t>
            </a:r>
            <a:r>
              <a:rPr lang="en-US" sz="1600" dirty="0">
                <a:solidFill>
                  <a:srgbClr val="0D1B2A"/>
                </a:solidFill>
              </a:rPr>
              <a:t>      → 预测调用工具
</a:t>
            </a:r>
            <a:r>
              <a:rPr lang="en-US" sz="1600" b="1" dirty="0">
                <a:solidFill>
                  <a:srgbClr val="E65100"/>
                </a:solidFill>
              </a:rPr>
              <a:t>exploit</a:t>
            </a:r>
            <a:r>
              <a:rPr lang="en-US" sz="1600" dirty="0">
                <a:solidFill>
                  <a:srgbClr val="0D1B2A"/>
                </a:solidFill>
              </a:rPr>
              <a:t>  → 预测利用漏洞</a:t>
            </a:r>
            <a:endParaRPr lang="en-US" sz="1600" dirty="0"/>
          </a:p>
        </p:txBody>
      </p:sp>
      <p:sp>
        <p:nvSpPr>
          <p:cNvPr id="20" name="Shape 18"/>
          <p:cNvSpPr/>
          <p:nvPr/>
        </p:nvSpPr>
        <p:spPr>
          <a:xfrm>
            <a:off x="274320" y="3520440"/>
            <a:ext cx="11612880" cy="1865376"/>
          </a:xfrm>
          <a:prstGeom prst="rect">
            <a:avLst/>
          </a:prstGeom>
          <a:solidFill>
            <a:srgbClr val="F3FCF3"/>
          </a:solidFill>
          <a:ln w="6350">
            <a:solidFill>
              <a:srgbClr val="CCCCCC"/>
            </a:solidFill>
            <a:prstDash val="solid"/>
          </a:ln>
          <a:effectLst>
            <a:outerShdw blurRad="76200" dist="25400" dir="8100000" algn="bl" rotWithShape="0">
              <a:srgbClr val="000000">
                <a:alpha val="12000"/>
              </a:srgbClr>
            </a:outerShdw>
          </a:effectLst>
        </p:spPr>
      </p:sp>
      <p:sp>
        <p:nvSpPr>
          <p:cNvPr id="21" name="Shape 19"/>
          <p:cNvSpPr/>
          <p:nvPr/>
        </p:nvSpPr>
        <p:spPr>
          <a:xfrm>
            <a:off x="274320" y="3520440"/>
            <a:ext cx="45719" cy="1865376"/>
          </a:xfrm>
          <a:prstGeom prst="rect">
            <a:avLst/>
          </a:prstGeom>
          <a:solidFill>
            <a:srgbClr val="1B5E20"/>
          </a:solidFill>
          <a:ln w="12700">
            <a:solidFill>
              <a:srgbClr val="1B5E20"/>
            </a:solidFill>
            <a:prstDash val="solid"/>
          </a:ln>
        </p:spPr>
      </p:sp>
      <p:sp>
        <p:nvSpPr>
          <p:cNvPr id="22" name="Text 20"/>
          <p:cNvSpPr/>
          <p:nvPr/>
        </p:nvSpPr>
        <p:spPr>
          <a:xfrm>
            <a:off x="457200" y="3566160"/>
            <a:ext cx="3200400" cy="347472"/>
          </a:xfrm>
          <a:prstGeom prst="rect">
            <a:avLst/>
          </a:prstGeom>
          <a:noFill/>
          <a:ln/>
        </p:spPr>
        <p:txBody>
          <a:bodyPr wrap="square" rtlCol="0" anchor="ctr"/>
          <a:lstStyle/>
          <a:p>
            <a:pPr marL="0" indent="0">
              <a:buNone/>
            </a:pPr>
            <a:r>
              <a:rPr lang="en-US" sz="1600" b="1" dirty="0" err="1">
                <a:solidFill>
                  <a:srgbClr val="1B5E20"/>
                </a:solidFill>
              </a:rPr>
              <a:t>评估设计</a:t>
            </a:r>
            <a:endParaRPr lang="en-US" sz="1600" dirty="0"/>
          </a:p>
        </p:txBody>
      </p:sp>
      <p:sp>
        <p:nvSpPr>
          <p:cNvPr id="23" name="Text 21"/>
          <p:cNvSpPr/>
          <p:nvPr/>
        </p:nvSpPr>
        <p:spPr>
          <a:xfrm>
            <a:off x="457200" y="3931920"/>
            <a:ext cx="11585448" cy="1572768"/>
          </a:xfrm>
          <a:prstGeom prst="rect">
            <a:avLst/>
          </a:prstGeom>
          <a:noFill/>
          <a:ln/>
        </p:spPr>
        <p:txBody>
          <a:bodyPr wrap="square" rtlCol="0" anchor="t"/>
          <a:lstStyle/>
          <a:p>
            <a:pPr marL="0" indent="0">
              <a:buNone/>
            </a:pPr>
            <a:r>
              <a:rPr lang="en-US" sz="1600" b="1" dirty="0" err="1">
                <a:solidFill>
                  <a:srgbClr val="0D1B2A"/>
                </a:solidFill>
              </a:rPr>
              <a:t>任务驱动单向严格过滤设定</a:t>
            </a:r>
            <a:r>
              <a:rPr lang="en-US" sz="1600" dirty="0">
                <a:solidFill>
                  <a:srgbClr val="0D1B2A"/>
                </a:solidFill>
              </a:rPr>
              <a:t> — </a:t>
            </a:r>
            <a:r>
              <a:rPr lang="en-US" sz="1600" dirty="0" err="1">
                <a:solidFill>
                  <a:srgbClr val="0D1B2A"/>
                </a:solidFill>
              </a:rPr>
              <a:t>区别于标准双向平均设定</a:t>
            </a:r>
            <a:r>
              <a:rPr lang="en-US" sz="1600" dirty="0">
                <a:solidFill>
                  <a:srgbClr val="0D1B2A"/>
                </a:solidFill>
              </a:rPr>
              <a:t>
① 仅评估尾实体检索 (h, r, ?) — 对应前瞻性威胁预警，而非攻击溯源
② 候选池 = 全量实体集（</a:t>
            </a:r>
            <a:r>
              <a:rPr lang="en-US" sz="1600" b="1" dirty="0">
                <a:solidFill>
                  <a:srgbClr val="B71C1C"/>
                </a:solidFill>
              </a:rPr>
              <a:t>|ℰ| = 1,483</a:t>
            </a:r>
            <a:r>
              <a:rPr lang="en-US" sz="1600" dirty="0">
                <a:solidFill>
                  <a:srgbClr val="0D1B2A"/>
                </a:solidFill>
              </a:rPr>
              <a:t>），模拟真实防御中大海捞针场景
③ 严格过滤：剔除训练/验证/测试中所有已知真实三元组（当前查询除外）
Hits@10 含义：真实目标出现在前10名候选 → </a:t>
            </a:r>
            <a:r>
              <a:rPr lang="en-US" altLang="zh-CN" sz="1600" kern="0" dirty="0" err="1">
                <a:effectLst/>
                <a:latin typeface="Microsoft YaHei" panose="020B0503020204020204" pitchFamily="34" charset="-122"/>
                <a:ea typeface="Microsoft YaHei" panose="020B0503020204020204" pitchFamily="34" charset="-122"/>
                <a:cs typeface="宋体" panose="02010600030101010101" pitchFamily="2" charset="-122"/>
              </a:rPr>
              <a:t>模型需要从候选实体集合中找出最可能的尾实体</a:t>
            </a:r>
            <a:r>
              <a:rPr lang="en-US" altLang="zh-CN" sz="1600" kern="0" dirty="0">
                <a:effectLst/>
                <a:latin typeface="Microsoft YaHei" panose="020B0503020204020204" pitchFamily="34" charset="-122"/>
                <a:ea typeface="Microsoft YaHei" panose="020B0503020204020204" pitchFamily="34" charset="-122"/>
                <a:cs typeface="宋体" panose="02010600030101010101" pitchFamily="2" charset="-122"/>
              </a:rPr>
              <a:t> t</a:t>
            </a:r>
            <a:r>
              <a:rPr lang="zh-CN" altLang="en-US" sz="1600" kern="0" dirty="0">
                <a:effectLst/>
                <a:latin typeface="Microsoft YaHei" panose="020B0503020204020204" pitchFamily="34" charset="-122"/>
                <a:ea typeface="Microsoft YaHei" panose="020B0503020204020204" pitchFamily="34" charset="-122"/>
                <a:cs typeface="宋体" panose="02010600030101010101" pitchFamily="2" charset="-122"/>
              </a:rPr>
              <a:t> </a:t>
            </a:r>
            <a:r>
              <a:rPr lang="en-US" altLang="zh-CN" sz="1600" kern="0" dirty="0" err="1">
                <a:effectLst/>
                <a:latin typeface="Microsoft YaHei" panose="020B0503020204020204" pitchFamily="34" charset="-122"/>
                <a:ea typeface="Microsoft YaHei" panose="020B0503020204020204" pitchFamily="34" charset="-122"/>
                <a:cs typeface="宋体" panose="02010600030101010101" pitchFamily="2" charset="-122"/>
              </a:rPr>
              <a:t>并尽可能把正确答案排在前面</a:t>
            </a:r>
            <a:r>
              <a:rPr lang="en-US" altLang="zh-CN" sz="1600" kern="0" dirty="0">
                <a:effectLst/>
                <a:latin typeface="Microsoft YaHei" panose="020B0503020204020204" pitchFamily="34" charset="-122"/>
                <a:ea typeface="Microsoft YaHei" panose="020B0503020204020204" pitchFamily="34" charset="-122"/>
                <a:cs typeface="宋体" panose="02010600030101010101" pitchFamily="2" charset="-122"/>
              </a:rPr>
              <a:t>。 </a:t>
            </a:r>
            <a:endParaRPr lang="en-US" sz="1600" dirty="0">
              <a:latin typeface="Microsoft YaHei" panose="020B0503020204020204" pitchFamily="34" charset="-122"/>
              <a:ea typeface="Microsoft YaHei" panose="020B0503020204020204" pitchFamily="34" charset="-122"/>
            </a:endParaRPr>
          </a:p>
        </p:txBody>
      </p:sp>
      <p:sp>
        <p:nvSpPr>
          <p:cNvPr id="24" name="Text 22"/>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3/18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03  两大核心挑战：稀疏性 × 几何容量</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987552"/>
            <a:ext cx="5623560" cy="534924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987552"/>
            <a:ext cx="5623560" cy="438912"/>
          </a:xfrm>
          <a:prstGeom prst="rect">
            <a:avLst/>
          </a:prstGeom>
          <a:solidFill>
            <a:srgbClr val="1A3A6B"/>
          </a:solidFill>
          <a:ln w="12700">
            <a:solidFill>
              <a:srgbClr val="1A3A6B"/>
            </a:solidFill>
            <a:prstDash val="solid"/>
          </a:ln>
        </p:spPr>
      </p:sp>
      <p:sp>
        <p:nvSpPr>
          <p:cNvPr id="7" name="Text 5"/>
          <p:cNvSpPr/>
          <p:nvPr/>
        </p:nvSpPr>
        <p:spPr>
          <a:xfrm>
            <a:off x="274320" y="987552"/>
            <a:ext cx="5623560" cy="438912"/>
          </a:xfrm>
          <a:prstGeom prst="rect">
            <a:avLst/>
          </a:prstGeom>
          <a:noFill/>
          <a:ln/>
        </p:spPr>
        <p:txBody>
          <a:bodyPr wrap="square" lIns="0" tIns="0" rIns="0" bIns="0" rtlCol="0" anchor="ctr"/>
          <a:lstStyle/>
          <a:p>
            <a:pPr marL="0" indent="0" algn="ctr">
              <a:buNone/>
            </a:pPr>
            <a:r>
              <a:rPr lang="en-US" sz="1600" b="1" dirty="0">
                <a:solidFill>
                  <a:srgbClr val="FFFFFF"/>
                </a:solidFill>
              </a:rPr>
              <a:t>挑战 1  数据层：稀疏 + 层级缺失</a:t>
            </a:r>
            <a:endParaRPr lang="en-US" sz="1600" dirty="0"/>
          </a:p>
        </p:txBody>
      </p:sp>
      <p:sp>
        <p:nvSpPr>
          <p:cNvPr id="8" name="Text 6"/>
          <p:cNvSpPr/>
          <p:nvPr/>
        </p:nvSpPr>
        <p:spPr>
          <a:xfrm>
            <a:off x="457200" y="1508760"/>
            <a:ext cx="5303520" cy="3749040"/>
          </a:xfrm>
          <a:prstGeom prst="rect">
            <a:avLst/>
          </a:prstGeom>
          <a:noFill/>
          <a:ln/>
        </p:spPr>
        <p:txBody>
          <a:bodyPr wrap="square" rtlCol="0" anchor="t"/>
          <a:lstStyle/>
          <a:p>
            <a:pPr marL="0" indent="0">
              <a:buNone/>
            </a:pPr>
            <a:r>
              <a:rPr lang="en-US" sz="1600" b="1" dirty="0">
                <a:solidFill>
                  <a:srgbClr val="1A3A6B"/>
                </a:solidFill>
              </a:rPr>
              <a:t>图谱规模</a:t>
            </a:r>
            <a:r>
              <a:rPr lang="en-US" sz="1600" dirty="0">
                <a:solidFill>
                  <a:srgbClr val="0D1B2A"/>
                </a:solidFill>
              </a:rPr>
              <a:t>：1,476 实体，4,746 三元组，平均节点度 ≈ 4.9
</a:t>
            </a:r>
            <a:r>
              <a:rPr lang="en-US" sz="1600" b="1" dirty="0">
                <a:solidFill>
                  <a:srgbClr val="1A3A6B"/>
                </a:solidFill>
              </a:rPr>
              <a:t>实体分布严重倾斜</a:t>
            </a:r>
            <a:r>
              <a:rPr lang="en-US" sz="1600" dirty="0">
                <a:solidFill>
                  <a:srgbClr val="0D1B2A"/>
                </a:solidFill>
              </a:rPr>
              <a:t>：
  MAL（308）+ TOOL（175）= 占节点总量 &gt; 40%
  CAMPAIGN 仅 6 个（最顶层）
</a:t>
            </a:r>
            <a:r>
              <a:rPr lang="en-US" sz="1600" b="1" dirty="0">
                <a:solidFill>
                  <a:srgbClr val="1A3A6B"/>
                </a:solidFill>
              </a:rPr>
              <a:t>层级关系系统性缺失</a:t>
            </a:r>
            <a:r>
              <a:rPr lang="en-US" sz="1600" dirty="0">
                <a:solidFill>
                  <a:srgbClr val="0D1B2A"/>
                </a:solidFill>
              </a:rPr>
              <a:t>：
 </a:t>
            </a:r>
            <a:r>
              <a:rPr lang="zh-CN" altLang="en-US" sz="1600" dirty="0">
                <a:solidFill>
                  <a:srgbClr val="0D1B2A"/>
                </a:solidFill>
              </a:rPr>
              <a:t> </a:t>
            </a:r>
            <a:r>
              <a:rPr lang="en-US" sz="1600" dirty="0">
                <a:solidFill>
                  <a:srgbClr val="0D1B2A"/>
                </a:solidFill>
              </a:rPr>
              <a:t>实体标签扁平（21 类细粒度），</a:t>
            </a:r>
            <a:r>
              <a:rPr lang="en-US" sz="1600" dirty="0" err="1">
                <a:solidFill>
                  <a:srgbClr val="0D1B2A"/>
                </a:solidFill>
              </a:rPr>
              <a:t>无显式</a:t>
            </a:r>
            <a:r>
              <a:rPr lang="en-US" sz="1600" dirty="0">
                <a:solidFill>
                  <a:srgbClr val="0D1B2A"/>
                </a:solidFill>
              </a:rPr>
              <a:t> </a:t>
            </a:r>
            <a:r>
              <a:rPr lang="en-US" sz="1600" dirty="0" err="1">
                <a:solidFill>
                  <a:srgbClr val="0D1B2A"/>
                </a:solidFill>
              </a:rPr>
              <a:t>层级结构</a:t>
            </a:r>
            <a:r>
              <a:rPr lang="en-US" sz="1600" dirty="0">
                <a:solidFill>
                  <a:srgbClr val="0D1B2A"/>
                </a:solidFill>
              </a:rPr>
              <a:t>
</a:t>
            </a:r>
            <a:r>
              <a:rPr lang="zh-CN" altLang="en-US" sz="1600" dirty="0">
                <a:solidFill>
                  <a:srgbClr val="0D1B2A"/>
                </a:solidFill>
              </a:rPr>
              <a:t>  </a:t>
            </a:r>
            <a:r>
              <a:rPr lang="zh-CN" altLang="zh-CN" sz="1600" kern="0" dirty="0">
                <a:effectLst/>
                <a:latin typeface="Microsoft YaHei" panose="020B0503020204020204" pitchFamily="34" charset="-122"/>
                <a:ea typeface="Microsoft YaHei" panose="020B0503020204020204" pitchFamily="34" charset="-122"/>
                <a:cs typeface="宋体" panose="02010600030101010101" pitchFamily="2" charset="-122"/>
              </a:rPr>
              <a:t>大量底层实体只是作为孤立事实节点存在</a:t>
            </a:r>
            <a:r>
              <a:rPr lang="en-US" altLang="zh-CN" sz="1600" kern="0" dirty="0">
                <a:effectLst/>
                <a:latin typeface="Microsoft YaHei" panose="020B0503020204020204" pitchFamily="34" charset="-122"/>
                <a:ea typeface="Microsoft YaHei" panose="020B0503020204020204" pitchFamily="34" charset="-122"/>
                <a:cs typeface="宋体" panose="02010600030101010101" pitchFamily="2" charset="-122"/>
              </a:rPr>
              <a:t>,</a:t>
            </a:r>
            <a:r>
              <a:rPr lang="zh-CN" altLang="zh-CN" sz="1600" kern="0" dirty="0">
                <a:effectLst/>
                <a:latin typeface="Microsoft YaHei" panose="020B0503020204020204" pitchFamily="34" charset="-122"/>
                <a:ea typeface="Microsoft YaHei" panose="020B0503020204020204" pitchFamily="34" charset="-122"/>
                <a:cs typeface="宋体" panose="02010600030101010101" pitchFamily="2" charset="-122"/>
              </a:rPr>
              <a:t>没有被归入更高层的语义类别。</a:t>
            </a:r>
            <a:r>
              <a:rPr lang="en-US" sz="1600" dirty="0">
                <a:solidFill>
                  <a:srgbClr val="0D1B2A"/>
                </a:solidFill>
              </a:rPr>
              <a:t>
</a:t>
            </a:r>
            <a:r>
              <a:rPr lang="en-US" sz="1600" b="1" dirty="0">
                <a:solidFill>
                  <a:srgbClr val="B71C1C"/>
                </a:solidFill>
              </a:rPr>
              <a:t>层级链路缺失导致双曲嵌入缺乏锚点</a:t>
            </a:r>
            <a:endParaRPr lang="en-US" sz="1600" dirty="0"/>
          </a:p>
        </p:txBody>
      </p:sp>
      <p:sp>
        <p:nvSpPr>
          <p:cNvPr id="9" name="Text 7"/>
          <p:cNvSpPr/>
          <p:nvPr/>
        </p:nvSpPr>
        <p:spPr>
          <a:xfrm>
            <a:off x="457200" y="5074920"/>
            <a:ext cx="5303520" cy="502920"/>
          </a:xfrm>
          <a:prstGeom prst="rect">
            <a:avLst/>
          </a:prstGeom>
          <a:solidFill>
            <a:srgbClr val="006579"/>
          </a:solidFill>
          <a:ln/>
        </p:spPr>
        <p:txBody>
          <a:bodyPr wrap="square" rtlCol="0" anchor="ctr"/>
          <a:lstStyle/>
          <a:p>
            <a:pPr marL="0" indent="0" algn="ctr">
              <a:buNone/>
            </a:pPr>
            <a:r>
              <a:rPr lang="en-US" sz="1600" b="1" dirty="0">
                <a:solidFill>
                  <a:srgbClr val="FFFFFF"/>
                </a:solidFill>
              </a:rPr>
              <a:t>Org → Campaign → Tool → Variant</a:t>
            </a:r>
            <a:endParaRPr lang="en-US" sz="1600" dirty="0"/>
          </a:p>
        </p:txBody>
      </p:sp>
      <p:sp>
        <p:nvSpPr>
          <p:cNvPr id="10" name="Shape 8"/>
          <p:cNvSpPr/>
          <p:nvPr/>
        </p:nvSpPr>
        <p:spPr>
          <a:xfrm>
            <a:off x="457200" y="5074920"/>
            <a:ext cx="5303520" cy="502920"/>
          </a:xfrm>
          <a:prstGeom prst="rect">
            <a:avLst/>
          </a:prstGeom>
          <a:solidFill>
            <a:srgbClr val="006579"/>
          </a:solidFill>
          <a:ln w="12700">
            <a:solidFill>
              <a:srgbClr val="006579"/>
            </a:solidFill>
            <a:prstDash val="solid"/>
          </a:ln>
        </p:spPr>
      </p:sp>
      <p:sp>
        <p:nvSpPr>
          <p:cNvPr id="11" name="Text 9"/>
          <p:cNvSpPr/>
          <p:nvPr/>
        </p:nvSpPr>
        <p:spPr>
          <a:xfrm>
            <a:off x="457200" y="5074920"/>
            <a:ext cx="5303520" cy="502920"/>
          </a:xfrm>
          <a:prstGeom prst="rect">
            <a:avLst/>
          </a:prstGeom>
          <a:noFill/>
          <a:ln/>
        </p:spPr>
        <p:txBody>
          <a:bodyPr wrap="square" lIns="0" tIns="0" rIns="0" bIns="0" rtlCol="0" anchor="ctr"/>
          <a:lstStyle/>
          <a:p>
            <a:pPr marL="0" indent="0" algn="ctr">
              <a:buNone/>
            </a:pPr>
            <a:r>
              <a:rPr lang="en-US" sz="1600" b="1" dirty="0" err="1">
                <a:solidFill>
                  <a:srgbClr val="FFFFFF"/>
                </a:solidFill>
              </a:rPr>
              <a:t>层级链：APT</a:t>
            </a:r>
            <a:r>
              <a:rPr lang="en-US" sz="1600" b="1" dirty="0">
                <a:solidFill>
                  <a:srgbClr val="FFFFFF"/>
                </a:solidFill>
              </a:rPr>
              <a:t> → Campaign → Tool → MAL</a:t>
            </a:r>
            <a:endParaRPr lang="en-US" sz="1600" dirty="0"/>
          </a:p>
        </p:txBody>
      </p:sp>
      <p:sp>
        <p:nvSpPr>
          <p:cNvPr id="12" name="Shape 10"/>
          <p:cNvSpPr/>
          <p:nvPr/>
        </p:nvSpPr>
        <p:spPr>
          <a:xfrm>
            <a:off x="6080760" y="987552"/>
            <a:ext cx="5760720" cy="534924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3" name="Shape 11"/>
          <p:cNvSpPr/>
          <p:nvPr/>
        </p:nvSpPr>
        <p:spPr>
          <a:xfrm>
            <a:off x="6080760" y="987552"/>
            <a:ext cx="5760720" cy="438912"/>
          </a:xfrm>
          <a:prstGeom prst="rect">
            <a:avLst/>
          </a:prstGeom>
          <a:solidFill>
            <a:srgbClr val="006579"/>
          </a:solidFill>
          <a:ln w="12700">
            <a:solidFill>
              <a:srgbClr val="006579"/>
            </a:solidFill>
            <a:prstDash val="solid"/>
          </a:ln>
        </p:spPr>
      </p:sp>
      <p:sp>
        <p:nvSpPr>
          <p:cNvPr id="14" name="Text 12"/>
          <p:cNvSpPr/>
          <p:nvPr/>
        </p:nvSpPr>
        <p:spPr>
          <a:xfrm>
            <a:off x="6080760" y="987552"/>
            <a:ext cx="5760720" cy="438912"/>
          </a:xfrm>
          <a:prstGeom prst="rect">
            <a:avLst/>
          </a:prstGeom>
          <a:noFill/>
          <a:ln/>
        </p:spPr>
        <p:txBody>
          <a:bodyPr wrap="square" lIns="0" tIns="0" rIns="0" bIns="0" rtlCol="0" anchor="ctr"/>
          <a:lstStyle/>
          <a:p>
            <a:pPr marL="0" indent="0" algn="ctr">
              <a:buNone/>
            </a:pPr>
            <a:r>
              <a:rPr lang="en-US" sz="1600" b="1" dirty="0">
                <a:solidFill>
                  <a:srgbClr val="FFFFFF"/>
                </a:solidFill>
              </a:rPr>
              <a:t>挑战 2  </a:t>
            </a:r>
            <a:r>
              <a:rPr lang="en-US" sz="1600" b="1" dirty="0" err="1">
                <a:solidFill>
                  <a:srgbClr val="FFFFFF"/>
                </a:solidFill>
              </a:rPr>
              <a:t>模型层：欧式容量瓶颈</a:t>
            </a:r>
            <a:endParaRPr lang="en-US" sz="1600" dirty="0"/>
          </a:p>
        </p:txBody>
      </p:sp>
      <p:sp>
        <p:nvSpPr>
          <p:cNvPr id="15" name="Text 13"/>
          <p:cNvSpPr/>
          <p:nvPr/>
        </p:nvSpPr>
        <p:spPr>
          <a:xfrm>
            <a:off x="6263640" y="1508760"/>
            <a:ext cx="5394960" cy="3749040"/>
          </a:xfrm>
          <a:prstGeom prst="rect">
            <a:avLst/>
          </a:prstGeom>
          <a:noFill/>
          <a:ln/>
        </p:spPr>
        <p:txBody>
          <a:bodyPr wrap="square" rtlCol="0" anchor="t"/>
          <a:lstStyle/>
          <a:p>
            <a:pPr marL="0" indent="0">
              <a:buNone/>
            </a:pPr>
            <a:r>
              <a:rPr lang="en-US" sz="1600" b="1" dirty="0">
                <a:solidFill>
                  <a:srgbClr val="006579"/>
                </a:solidFill>
              </a:rPr>
              <a:t>欧式空间容量</a:t>
            </a:r>
            <a:r>
              <a:rPr lang="en-US" sz="1600" dirty="0">
                <a:solidFill>
                  <a:srgbClr val="0D1B2A"/>
                </a:solidFill>
              </a:rPr>
              <a:t>：体积 ∝ r^d（多项式增长）
</a:t>
            </a:r>
            <a:r>
              <a:rPr lang="en-US" sz="1600" b="1" dirty="0">
                <a:solidFill>
                  <a:srgbClr val="006579"/>
                </a:solidFill>
              </a:rPr>
              <a:t>树状结构节点数</a:t>
            </a:r>
            <a:r>
              <a:rPr lang="en-US" sz="1600" dirty="0">
                <a:solidFill>
                  <a:srgbClr val="0D1B2A"/>
                </a:solidFill>
              </a:rPr>
              <a:t>：∝ exp(d)（指数增长）
</a:t>
            </a:r>
            <a:r>
              <a:rPr lang="en-US" sz="1600" b="1" dirty="0">
                <a:solidFill>
                  <a:srgbClr val="B71C1C"/>
                </a:solidFill>
              </a:rPr>
              <a:t>→ 几何拥挤（Geometric Crowding）效应</a:t>
            </a:r>
            <a:r>
              <a:rPr lang="en-US" sz="1600" dirty="0">
                <a:solidFill>
                  <a:srgbClr val="0D1B2A"/>
                </a:solidFill>
              </a:rPr>
              <a:t> :
  大量叶子节点（哈希值、MAL变种）
  在低维欧式空间中相互叠压，
  无法有效区分不同层级节点
</a:t>
            </a:r>
            <a:r>
              <a:rPr lang="en-US" sz="1600" b="1" dirty="0">
                <a:solidFill>
                  <a:srgbClr val="006579"/>
                </a:solidFill>
              </a:rPr>
              <a:t>直接双曲训练的工程挑战</a:t>
            </a:r>
            <a:r>
              <a:rPr lang="en-US" sz="1600" dirty="0">
                <a:solidFill>
                  <a:srgbClr val="0D1B2A"/>
                </a:solidFill>
              </a:rPr>
              <a:t>：
  梯度更新需在黎曼流形切空间寻找测地线
  → 数值不稳定，随机初始化易发散
  → 预训练语义无法无损迁移至双曲架构
</a:t>
            </a:r>
            <a:endParaRPr lang="en-US" sz="1600" dirty="0"/>
          </a:p>
        </p:txBody>
      </p:sp>
      <p:sp>
        <p:nvSpPr>
          <p:cNvPr id="16" name="Shape 14"/>
          <p:cNvSpPr/>
          <p:nvPr/>
        </p:nvSpPr>
        <p:spPr>
          <a:xfrm>
            <a:off x="6263640" y="5010912"/>
            <a:ext cx="5394960" cy="566928"/>
          </a:xfrm>
          <a:prstGeom prst="rect">
            <a:avLst/>
          </a:prstGeom>
          <a:solidFill>
            <a:srgbClr val="E1F5FE"/>
          </a:solidFill>
          <a:ln w="19050">
            <a:solidFill>
              <a:srgbClr val="00B4CC"/>
            </a:solidFill>
            <a:prstDash val="solid"/>
          </a:ln>
        </p:spPr>
      </p:sp>
      <p:sp>
        <p:nvSpPr>
          <p:cNvPr id="17" name="Text 15"/>
          <p:cNvSpPr/>
          <p:nvPr/>
        </p:nvSpPr>
        <p:spPr>
          <a:xfrm>
            <a:off x="6373368" y="5065776"/>
            <a:ext cx="5175504" cy="457200"/>
          </a:xfrm>
          <a:prstGeom prst="rect">
            <a:avLst/>
          </a:prstGeom>
          <a:noFill/>
          <a:ln/>
        </p:spPr>
        <p:txBody>
          <a:bodyPr wrap="square" rtlCol="0" anchor="ctr"/>
          <a:lstStyle/>
          <a:p>
            <a:pPr marL="0" indent="0" algn="ctr">
              <a:buNone/>
            </a:pPr>
            <a:r>
              <a:rPr lang="en-US" sz="1600" dirty="0">
                <a:solidFill>
                  <a:srgbClr val="0D1B2A"/>
                </a:solidFill>
              </a:rPr>
              <a:t>Vol</a:t>
            </a:r>
            <a:r>
              <a:rPr lang="en-US" sz="1600" baseline="30000" dirty="0">
                <a:solidFill>
                  <a:srgbClr val="0D1B2A"/>
                </a:solidFill>
              </a:rPr>
              <a:t>ℍ</a:t>
            </a:r>
            <a:r>
              <a:rPr lang="en-US" sz="1600" dirty="0">
                <a:solidFill>
                  <a:srgbClr val="0D1B2A"/>
                </a:solidFill>
              </a:rPr>
              <a:t>(r) ∝ exp(r)   vs   Vol</a:t>
            </a:r>
            <a:r>
              <a:rPr lang="en-US" sz="1600" baseline="30000" dirty="0">
                <a:solidFill>
                  <a:srgbClr val="0D1B2A"/>
                </a:solidFill>
              </a:rPr>
              <a:t>ℝ</a:t>
            </a:r>
            <a:r>
              <a:rPr lang="en-US" sz="1600" dirty="0">
                <a:solidFill>
                  <a:srgbClr val="0D1B2A"/>
                </a:solidFill>
              </a:rPr>
              <a:t>(r) ∝ r</a:t>
            </a:r>
            <a:r>
              <a:rPr lang="en-US" sz="1600" baseline="30000" dirty="0">
                <a:solidFill>
                  <a:srgbClr val="0D1B2A"/>
                </a:solidFill>
              </a:rPr>
              <a:t>d</a:t>
            </a:r>
            <a:endParaRPr lang="en-US" sz="1600" dirty="0"/>
          </a:p>
        </p:txBody>
      </p:sp>
      <p:sp>
        <p:nvSpPr>
          <p:cNvPr id="18" name="Text 16"/>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4/18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00B4CC"/>
          </a:solidFill>
          <a:ln w="12700">
            <a:solidFill>
              <a:srgbClr val="00B4CC"/>
            </a:solidFill>
            <a:prstDash val="solid"/>
          </a:ln>
        </p:spPr>
      </p:sp>
      <p:sp>
        <p:nvSpPr>
          <p:cNvPr id="3" name="Shape 1"/>
          <p:cNvSpPr/>
          <p:nvPr/>
        </p:nvSpPr>
        <p:spPr>
          <a:xfrm>
            <a:off x="0" y="6775704"/>
            <a:ext cx="12161520" cy="82296"/>
          </a:xfrm>
          <a:prstGeom prst="rect">
            <a:avLst/>
          </a:prstGeom>
          <a:solidFill>
            <a:srgbClr val="00B4CC"/>
          </a:solidFill>
          <a:ln w="12700">
            <a:solidFill>
              <a:srgbClr val="00B4CC"/>
            </a:solidFill>
            <a:prstDash val="solid"/>
          </a:ln>
        </p:spPr>
      </p:sp>
      <p:sp>
        <p:nvSpPr>
          <p:cNvPr id="4" name="Text 2"/>
          <p:cNvSpPr/>
          <p:nvPr/>
        </p:nvSpPr>
        <p:spPr>
          <a:xfrm>
            <a:off x="457200" y="137160"/>
            <a:ext cx="11247120" cy="685800"/>
          </a:xfrm>
          <a:prstGeom prst="rect">
            <a:avLst/>
          </a:prstGeom>
          <a:noFill/>
          <a:ln/>
        </p:spPr>
        <p:txBody>
          <a:bodyPr wrap="square" rtlCol="0" anchor="ctr"/>
          <a:lstStyle/>
          <a:p>
            <a:pPr marL="0" indent="0">
              <a:buNone/>
            </a:pPr>
            <a:r>
              <a:rPr lang="en-US" sz="2300" b="1" dirty="0">
                <a:solidFill>
                  <a:srgbClr val="FFFFFF"/>
                </a:solidFill>
              </a:rPr>
              <a:t>04  整体方法框架：数据层 ⊕ 模型层</a:t>
            </a:r>
            <a:endParaRPr lang="en-US" sz="2300" dirty="0"/>
          </a:p>
        </p:txBody>
      </p:sp>
      <p:sp>
        <p:nvSpPr>
          <p:cNvPr id="5" name="Shape 3"/>
          <p:cNvSpPr/>
          <p:nvPr/>
        </p:nvSpPr>
        <p:spPr>
          <a:xfrm>
            <a:off x="457200" y="822960"/>
            <a:ext cx="11247120" cy="0"/>
          </a:xfrm>
          <a:prstGeom prst="line">
            <a:avLst/>
          </a:prstGeom>
          <a:noFill/>
          <a:ln w="19050">
            <a:solidFill>
              <a:srgbClr val="00B4CC"/>
            </a:solidFill>
            <a:prstDash val="solid"/>
          </a:ln>
        </p:spPr>
      </p:sp>
      <p:sp>
        <p:nvSpPr>
          <p:cNvPr id="40" name="Text 38"/>
          <p:cNvSpPr/>
          <p:nvPr/>
        </p:nvSpPr>
        <p:spPr>
          <a:xfrm>
            <a:off x="0" y="6263640"/>
            <a:ext cx="12161520" cy="365760"/>
          </a:xfrm>
          <a:prstGeom prst="rect">
            <a:avLst/>
          </a:prstGeom>
          <a:noFill/>
          <a:ln/>
        </p:spPr>
        <p:txBody>
          <a:bodyPr wrap="square" rtlCol="0" anchor="ctr"/>
          <a:lstStyle/>
          <a:p>
            <a:pPr algn="ctr"/>
            <a:r>
              <a:rPr lang="en-US" sz="1250" dirty="0">
                <a:solidFill>
                  <a:srgbClr val="00B4CD"/>
                </a:solidFill>
              </a:rPr>
              <a:t>【</a:t>
            </a:r>
            <a:r>
              <a:rPr lang="zh-CN" altLang="zh-CN" sz="1400" dirty="0">
                <a:solidFill>
                  <a:srgbClr val="00B4CD"/>
                </a:solidFill>
                <a:effectLst/>
                <a:latin typeface="Times New Roman" panose="02020603050405020304" pitchFamily="18" charset="0"/>
                <a:ea typeface="DengXian" panose="02010600030101010101" pitchFamily="2" charset="-122"/>
                <a:cs typeface="Times New Roman" panose="02020603050405020304" pitchFamily="18" charset="0"/>
              </a:rPr>
              <a:t>围绕上述问题，本文提出了一个</a:t>
            </a:r>
            <a:r>
              <a:rPr lang="zh-CN" altLang="zh-CN" sz="1400" b="1" dirty="0">
                <a:solidFill>
                  <a:srgbClr val="00B4CD"/>
                </a:solidFill>
                <a:effectLst/>
                <a:ea typeface="DengXian" panose="02010600030101010101" pitchFamily="2" charset="-122"/>
                <a:cs typeface="Times New Roman" panose="02020603050405020304" pitchFamily="18" charset="0"/>
              </a:rPr>
              <a:t>由数据层先验本体约束和模型层双空间表示学习共同组成的整体方法框架</a:t>
            </a:r>
            <a:r>
              <a:rPr lang="zh-CN" altLang="zh-CN" sz="1400" dirty="0">
                <a:solidFill>
                  <a:srgbClr val="00B4CD"/>
                </a:solidFill>
                <a:effectLst/>
                <a:latin typeface="Times New Roman" panose="02020603050405020304" pitchFamily="18" charset="0"/>
                <a:ea typeface="DengXian" panose="02010600030101010101" pitchFamily="2" charset="-122"/>
                <a:cs typeface="Times New Roman" panose="02020603050405020304" pitchFamily="18" charset="0"/>
              </a:rPr>
              <a:t>。</a:t>
            </a:r>
            <a:r>
              <a:rPr lang="en-US" sz="1250" dirty="0">
                <a:solidFill>
                  <a:srgbClr val="00B4CD"/>
                </a:solidFill>
              </a:rPr>
              <a:t>】</a:t>
            </a:r>
          </a:p>
        </p:txBody>
      </p:sp>
      <p:sp>
        <p:nvSpPr>
          <p:cNvPr id="41" name="Text 39"/>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5/18</a:t>
            </a:r>
            <a:endParaRPr lang="en-US" sz="900" dirty="0"/>
          </a:p>
        </p:txBody>
      </p:sp>
      <p:pic>
        <p:nvPicPr>
          <p:cNvPr id="43" name="图片 42">
            <a:extLst>
              <a:ext uri="{FF2B5EF4-FFF2-40B4-BE49-F238E27FC236}">
                <a16:creationId xmlns:a16="http://schemas.microsoft.com/office/drawing/2014/main" id="{2D962ABB-41A2-A3DA-B153-E426C1F3EE26}"/>
              </a:ext>
            </a:extLst>
          </p:cNvPr>
          <p:cNvPicPr>
            <a:picLocks noChangeAspect="1"/>
          </p:cNvPicPr>
          <p:nvPr/>
        </p:nvPicPr>
        <p:blipFill>
          <a:blip r:embed="rId3"/>
          <a:stretch>
            <a:fillRect/>
          </a:stretch>
        </p:blipFill>
        <p:spPr>
          <a:xfrm>
            <a:off x="1570268" y="1203299"/>
            <a:ext cx="9386743" cy="468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00B4CC"/>
          </a:solidFill>
          <a:ln w="12700">
            <a:solidFill>
              <a:srgbClr val="00B4CC"/>
            </a:solidFill>
            <a:prstDash val="solid"/>
          </a:ln>
        </p:spPr>
      </p:sp>
      <p:sp>
        <p:nvSpPr>
          <p:cNvPr id="3" name="Shape 1"/>
          <p:cNvSpPr/>
          <p:nvPr/>
        </p:nvSpPr>
        <p:spPr>
          <a:xfrm>
            <a:off x="0" y="6775704"/>
            <a:ext cx="12161520" cy="82296"/>
          </a:xfrm>
          <a:prstGeom prst="rect">
            <a:avLst/>
          </a:prstGeom>
          <a:solidFill>
            <a:srgbClr val="00B4CC"/>
          </a:solidFill>
          <a:ln w="12700">
            <a:solidFill>
              <a:srgbClr val="00B4CC"/>
            </a:solidFill>
            <a:prstDash val="solid"/>
          </a:ln>
        </p:spPr>
      </p:sp>
      <p:sp>
        <p:nvSpPr>
          <p:cNvPr id="4" name="Text 2"/>
          <p:cNvSpPr/>
          <p:nvPr/>
        </p:nvSpPr>
        <p:spPr>
          <a:xfrm>
            <a:off x="457200" y="137160"/>
            <a:ext cx="11247120" cy="685800"/>
          </a:xfrm>
          <a:prstGeom prst="rect">
            <a:avLst/>
          </a:prstGeom>
          <a:noFill/>
          <a:ln/>
        </p:spPr>
        <p:txBody>
          <a:bodyPr wrap="square" rtlCol="0" anchor="ctr"/>
          <a:lstStyle/>
          <a:p>
            <a:pPr marL="0" indent="0">
              <a:buNone/>
            </a:pPr>
            <a:r>
              <a:rPr lang="en-US" sz="2300" b="1" dirty="0">
                <a:solidFill>
                  <a:srgbClr val="FFFFFF"/>
                </a:solidFill>
              </a:rPr>
              <a:t>04  整体方法框架：数据层 ⊕ 模型层</a:t>
            </a:r>
            <a:endParaRPr lang="en-US" sz="2300" dirty="0"/>
          </a:p>
        </p:txBody>
      </p:sp>
      <p:sp>
        <p:nvSpPr>
          <p:cNvPr id="5" name="Shape 3"/>
          <p:cNvSpPr/>
          <p:nvPr/>
        </p:nvSpPr>
        <p:spPr>
          <a:xfrm>
            <a:off x="457200" y="822960"/>
            <a:ext cx="11247120" cy="0"/>
          </a:xfrm>
          <a:prstGeom prst="line">
            <a:avLst/>
          </a:prstGeom>
          <a:noFill/>
          <a:ln w="19050">
            <a:solidFill>
              <a:srgbClr val="00B4CC"/>
            </a:solidFill>
            <a:prstDash val="solid"/>
          </a:ln>
        </p:spPr>
      </p:sp>
      <p:sp>
        <p:nvSpPr>
          <p:cNvPr id="6" name="Shape 4"/>
          <p:cNvSpPr/>
          <p:nvPr/>
        </p:nvSpPr>
        <p:spPr>
          <a:xfrm>
            <a:off x="365760" y="1024128"/>
            <a:ext cx="5029200" cy="5120640"/>
          </a:xfrm>
          <a:prstGeom prst="rect">
            <a:avLst/>
          </a:prstGeom>
          <a:solidFill>
            <a:srgbClr val="0D2137"/>
          </a:solidFill>
          <a:ln w="19050">
            <a:solidFill>
              <a:srgbClr val="00B4CC"/>
            </a:solidFill>
            <a:prstDash val="solid"/>
          </a:ln>
        </p:spPr>
      </p:sp>
      <p:sp>
        <p:nvSpPr>
          <p:cNvPr id="7" name="Text 5"/>
          <p:cNvSpPr/>
          <p:nvPr/>
        </p:nvSpPr>
        <p:spPr>
          <a:xfrm>
            <a:off x="365760" y="1024128"/>
            <a:ext cx="5029200" cy="411480"/>
          </a:xfrm>
          <a:prstGeom prst="rect">
            <a:avLst/>
          </a:prstGeom>
          <a:noFill/>
          <a:ln/>
        </p:spPr>
        <p:txBody>
          <a:bodyPr wrap="square" lIns="0" tIns="0" rIns="0" bIns="0" rtlCol="0" anchor="ctr"/>
          <a:lstStyle/>
          <a:p>
            <a:pPr marL="0" indent="0" algn="ctr">
              <a:buNone/>
            </a:pPr>
            <a:r>
              <a:rPr lang="en-US" b="1" dirty="0">
                <a:solidFill>
                  <a:srgbClr val="00B4CC"/>
                </a:solidFill>
              </a:rPr>
              <a:t>数据层</a:t>
            </a:r>
            <a:endParaRPr lang="en-US" dirty="0"/>
          </a:p>
        </p:txBody>
      </p:sp>
      <p:sp>
        <p:nvSpPr>
          <p:cNvPr id="8" name="Shape 6"/>
          <p:cNvSpPr/>
          <p:nvPr/>
        </p:nvSpPr>
        <p:spPr>
          <a:xfrm>
            <a:off x="548640" y="1508760"/>
            <a:ext cx="4663440" cy="749808"/>
          </a:xfrm>
          <a:prstGeom prst="rect">
            <a:avLst/>
          </a:prstGeom>
          <a:solidFill>
            <a:srgbClr val="1A3A6B"/>
          </a:solidFill>
          <a:ln w="6350">
            <a:solidFill>
              <a:srgbClr val="334455"/>
            </a:solidFill>
            <a:prstDash val="solid"/>
          </a:ln>
        </p:spPr>
      </p:sp>
      <p:sp>
        <p:nvSpPr>
          <p:cNvPr id="9" name="Text 7"/>
          <p:cNvSpPr/>
          <p:nvPr/>
        </p:nvSpPr>
        <p:spPr>
          <a:xfrm>
            <a:off x="594360" y="1536192"/>
            <a:ext cx="4572000" cy="347472"/>
          </a:xfrm>
          <a:prstGeom prst="rect">
            <a:avLst/>
          </a:prstGeom>
          <a:noFill/>
          <a:ln/>
        </p:spPr>
        <p:txBody>
          <a:bodyPr wrap="square" rtlCol="0" anchor="ctr"/>
          <a:lstStyle/>
          <a:p>
            <a:pPr marL="0" indent="0">
              <a:buNone/>
            </a:pPr>
            <a:r>
              <a:rPr lang="en-US" b="1" dirty="0">
                <a:solidFill>
                  <a:srgbClr val="FFFFFF"/>
                </a:solidFill>
              </a:rPr>
              <a:t>APT-Flat</a:t>
            </a:r>
            <a:endParaRPr lang="en-US" sz="1600" dirty="0"/>
          </a:p>
        </p:txBody>
      </p:sp>
      <p:sp>
        <p:nvSpPr>
          <p:cNvPr id="10" name="Text 8"/>
          <p:cNvSpPr/>
          <p:nvPr/>
        </p:nvSpPr>
        <p:spPr>
          <a:xfrm>
            <a:off x="594360" y="1828800"/>
            <a:ext cx="4572000" cy="347472"/>
          </a:xfrm>
          <a:prstGeom prst="rect">
            <a:avLst/>
          </a:prstGeom>
          <a:noFill/>
          <a:ln/>
        </p:spPr>
        <p:txBody>
          <a:bodyPr wrap="square" rtlCol="0" anchor="ctr"/>
          <a:lstStyle/>
          <a:p>
            <a:pPr marL="0" indent="0">
              <a:buNone/>
            </a:pPr>
            <a:r>
              <a:rPr lang="en-US" sz="1400" dirty="0">
                <a:solidFill>
                  <a:srgbClr val="AECDE8"/>
                </a:solidFill>
              </a:rPr>
              <a:t>1476实体 · 11关系 · 4746三元组</a:t>
            </a:r>
            <a:endParaRPr lang="en-US" sz="1400" dirty="0"/>
          </a:p>
        </p:txBody>
      </p:sp>
      <p:sp>
        <p:nvSpPr>
          <p:cNvPr id="11" name="Shape 9"/>
          <p:cNvSpPr/>
          <p:nvPr/>
        </p:nvSpPr>
        <p:spPr>
          <a:xfrm>
            <a:off x="548640" y="2350008"/>
            <a:ext cx="4663440" cy="749808"/>
          </a:xfrm>
          <a:prstGeom prst="rect">
            <a:avLst/>
          </a:prstGeom>
          <a:solidFill>
            <a:srgbClr val="006579"/>
          </a:solidFill>
          <a:ln w="6350">
            <a:solidFill>
              <a:srgbClr val="334455"/>
            </a:solidFill>
            <a:prstDash val="solid"/>
          </a:ln>
        </p:spPr>
      </p:sp>
      <p:sp>
        <p:nvSpPr>
          <p:cNvPr id="12" name="Text 10"/>
          <p:cNvSpPr/>
          <p:nvPr/>
        </p:nvSpPr>
        <p:spPr>
          <a:xfrm>
            <a:off x="594360" y="2377440"/>
            <a:ext cx="4572000" cy="347472"/>
          </a:xfrm>
          <a:prstGeom prst="rect">
            <a:avLst/>
          </a:prstGeom>
          <a:noFill/>
          <a:ln/>
        </p:spPr>
        <p:txBody>
          <a:bodyPr wrap="square" rtlCol="0" anchor="ctr"/>
          <a:lstStyle/>
          <a:p>
            <a:pPr marL="0" indent="0">
              <a:buNone/>
            </a:pPr>
            <a:r>
              <a:rPr lang="en-US" sz="1600" b="1" dirty="0">
                <a:solidFill>
                  <a:srgbClr val="FFFFFF"/>
                </a:solidFill>
              </a:rPr>
              <a:t>▼  STIX2.1标准 </a:t>
            </a:r>
            <a:r>
              <a:rPr lang="en-US" altLang="zh-CN" sz="1600" dirty="0">
                <a:solidFill>
                  <a:schemeClr val="bg1"/>
                </a:solidFill>
              </a:rPr>
              <a:t>+</a:t>
            </a:r>
            <a:r>
              <a:rPr lang="zh-CN" altLang="en-US" sz="1600" dirty="0">
                <a:solidFill>
                  <a:schemeClr val="bg1"/>
                </a:solidFill>
              </a:rPr>
              <a:t> </a:t>
            </a:r>
            <a:r>
              <a:rPr lang="en-US" sz="1600" b="1" dirty="0">
                <a:solidFill>
                  <a:srgbClr val="FFFFFF"/>
                </a:solidFill>
              </a:rPr>
              <a:t>Ward 层次聚类</a:t>
            </a:r>
            <a:endParaRPr lang="en-US" sz="1600" dirty="0"/>
          </a:p>
        </p:txBody>
      </p:sp>
      <p:sp>
        <p:nvSpPr>
          <p:cNvPr id="13" name="Text 11"/>
          <p:cNvSpPr/>
          <p:nvPr/>
        </p:nvSpPr>
        <p:spPr>
          <a:xfrm>
            <a:off x="594360" y="2670048"/>
            <a:ext cx="4572000" cy="347472"/>
          </a:xfrm>
          <a:prstGeom prst="rect">
            <a:avLst/>
          </a:prstGeom>
          <a:noFill/>
          <a:ln/>
        </p:spPr>
        <p:txBody>
          <a:bodyPr wrap="square" rtlCol="0" anchor="ctr"/>
          <a:lstStyle/>
          <a:p>
            <a:pPr marL="0" indent="0">
              <a:buNone/>
            </a:pPr>
            <a:r>
              <a:rPr lang="en-US" sz="1400" dirty="0">
                <a:solidFill>
                  <a:srgbClr val="AECDE8"/>
                </a:solidFill>
              </a:rPr>
              <a:t>21类→7类语义抽象</a:t>
            </a:r>
            <a:endParaRPr lang="en-US" sz="1400" dirty="0"/>
          </a:p>
        </p:txBody>
      </p:sp>
      <p:sp>
        <p:nvSpPr>
          <p:cNvPr id="14" name="Shape 12"/>
          <p:cNvSpPr/>
          <p:nvPr/>
        </p:nvSpPr>
        <p:spPr>
          <a:xfrm>
            <a:off x="548640" y="3191256"/>
            <a:ext cx="4663440" cy="749808"/>
          </a:xfrm>
          <a:prstGeom prst="rect">
            <a:avLst/>
          </a:prstGeom>
          <a:solidFill>
            <a:srgbClr val="006579"/>
          </a:solidFill>
          <a:ln w="6350">
            <a:solidFill>
              <a:srgbClr val="334455"/>
            </a:solidFill>
            <a:prstDash val="solid"/>
          </a:ln>
        </p:spPr>
      </p:sp>
      <p:sp>
        <p:nvSpPr>
          <p:cNvPr id="15" name="Text 13"/>
          <p:cNvSpPr/>
          <p:nvPr/>
        </p:nvSpPr>
        <p:spPr>
          <a:xfrm>
            <a:off x="594360" y="3218688"/>
            <a:ext cx="4572000" cy="347472"/>
          </a:xfrm>
          <a:prstGeom prst="rect">
            <a:avLst/>
          </a:prstGeom>
          <a:noFill/>
          <a:ln/>
        </p:spPr>
        <p:txBody>
          <a:bodyPr wrap="square" rtlCol="0" anchor="ctr"/>
          <a:lstStyle/>
          <a:p>
            <a:pPr marL="0" indent="0">
              <a:buNone/>
            </a:pPr>
            <a:r>
              <a:rPr lang="en-US" sz="1600" b="1" dirty="0">
                <a:solidFill>
                  <a:srgbClr val="FFFFFF"/>
                </a:solidFill>
              </a:rPr>
              <a:t>▼  LLM (GPT-4) 命名</a:t>
            </a:r>
            <a:endParaRPr lang="en-US" sz="1600" dirty="0"/>
          </a:p>
        </p:txBody>
      </p:sp>
      <p:sp>
        <p:nvSpPr>
          <p:cNvPr id="16" name="Text 14"/>
          <p:cNvSpPr/>
          <p:nvPr/>
        </p:nvSpPr>
        <p:spPr>
          <a:xfrm>
            <a:off x="594360" y="3511296"/>
            <a:ext cx="4572000" cy="347472"/>
          </a:xfrm>
          <a:prstGeom prst="rect">
            <a:avLst/>
          </a:prstGeom>
          <a:noFill/>
          <a:ln/>
        </p:spPr>
        <p:txBody>
          <a:bodyPr wrap="square" rtlCol="0" anchor="ctr"/>
          <a:lstStyle/>
          <a:p>
            <a:pPr marL="0" indent="0">
              <a:buNone/>
            </a:pPr>
            <a:r>
              <a:rPr lang="en-US" sz="1400" dirty="0">
                <a:solidFill>
                  <a:srgbClr val="AECDE8"/>
                </a:solidFill>
              </a:rPr>
              <a:t>高层本体框架 𝒞</a:t>
            </a:r>
            <a:endParaRPr lang="en-US" sz="1400" dirty="0"/>
          </a:p>
        </p:txBody>
      </p:sp>
      <p:sp>
        <p:nvSpPr>
          <p:cNvPr id="17" name="Shape 15"/>
          <p:cNvSpPr/>
          <p:nvPr/>
        </p:nvSpPr>
        <p:spPr>
          <a:xfrm>
            <a:off x="548640" y="4032504"/>
            <a:ext cx="4663440" cy="749808"/>
          </a:xfrm>
          <a:prstGeom prst="rect">
            <a:avLst/>
          </a:prstGeom>
          <a:solidFill>
            <a:srgbClr val="1B5E20"/>
          </a:solidFill>
          <a:ln w="6350">
            <a:solidFill>
              <a:srgbClr val="334455"/>
            </a:solidFill>
            <a:prstDash val="solid"/>
          </a:ln>
        </p:spPr>
      </p:sp>
      <p:sp>
        <p:nvSpPr>
          <p:cNvPr id="18" name="Text 16"/>
          <p:cNvSpPr/>
          <p:nvPr/>
        </p:nvSpPr>
        <p:spPr>
          <a:xfrm>
            <a:off x="594360" y="4059936"/>
            <a:ext cx="4572000" cy="347472"/>
          </a:xfrm>
          <a:prstGeom prst="rect">
            <a:avLst/>
          </a:prstGeom>
          <a:noFill/>
          <a:ln/>
        </p:spPr>
        <p:txBody>
          <a:bodyPr wrap="square" rtlCol="0" anchor="ctr"/>
          <a:lstStyle/>
          <a:p>
            <a:pPr marL="0" indent="0">
              <a:buNone/>
            </a:pPr>
            <a:r>
              <a:rPr lang="en-US" sz="1600" b="1" dirty="0">
                <a:solidFill>
                  <a:srgbClr val="FFFFFF"/>
                </a:solidFill>
              </a:rPr>
              <a:t>▼  确定性规则注入</a:t>
            </a:r>
            <a:endParaRPr lang="en-US" sz="1600" dirty="0"/>
          </a:p>
        </p:txBody>
      </p:sp>
      <p:sp>
        <p:nvSpPr>
          <p:cNvPr id="19" name="Text 17"/>
          <p:cNvSpPr/>
          <p:nvPr/>
        </p:nvSpPr>
        <p:spPr>
          <a:xfrm>
            <a:off x="594360" y="4352544"/>
            <a:ext cx="4572000" cy="347472"/>
          </a:xfrm>
          <a:prstGeom prst="rect">
            <a:avLst/>
          </a:prstGeom>
          <a:noFill/>
          <a:ln/>
        </p:spPr>
        <p:txBody>
          <a:bodyPr wrap="square" rtlCol="0" anchor="ctr"/>
          <a:lstStyle/>
          <a:p>
            <a:pPr marL="0" indent="0">
              <a:buNone/>
            </a:pPr>
            <a:r>
              <a:rPr lang="en-US" sz="1400" dirty="0">
                <a:solidFill>
                  <a:srgbClr val="AECDE8"/>
                </a:solidFill>
              </a:rPr>
              <a:t>1,253条 </a:t>
            </a:r>
            <a:r>
              <a:rPr lang="en-US" sz="1400" dirty="0" err="1">
                <a:solidFill>
                  <a:srgbClr val="AECDE8"/>
                </a:solidFill>
              </a:rPr>
              <a:t>subClassOf</a:t>
            </a:r>
            <a:r>
              <a:rPr lang="zh-CN" altLang="en-US" sz="1400" dirty="0">
                <a:solidFill>
                  <a:srgbClr val="AECDE8"/>
                </a:solidFill>
              </a:rPr>
              <a:t> 层级关系</a:t>
            </a:r>
            <a:endParaRPr lang="en-US" sz="1400" dirty="0"/>
          </a:p>
        </p:txBody>
      </p:sp>
      <p:sp>
        <p:nvSpPr>
          <p:cNvPr id="20" name="Shape 18"/>
          <p:cNvSpPr/>
          <p:nvPr/>
        </p:nvSpPr>
        <p:spPr>
          <a:xfrm>
            <a:off x="548640" y="4873752"/>
            <a:ext cx="4663440" cy="749808"/>
          </a:xfrm>
          <a:prstGeom prst="rect">
            <a:avLst/>
          </a:prstGeom>
          <a:solidFill>
            <a:srgbClr val="1A3A6B"/>
          </a:solidFill>
          <a:ln w="6350">
            <a:solidFill>
              <a:srgbClr val="334455"/>
            </a:solidFill>
            <a:prstDash val="solid"/>
          </a:ln>
        </p:spPr>
      </p:sp>
      <p:sp>
        <p:nvSpPr>
          <p:cNvPr id="21" name="Text 19"/>
          <p:cNvSpPr/>
          <p:nvPr/>
        </p:nvSpPr>
        <p:spPr>
          <a:xfrm>
            <a:off x="594360" y="4901184"/>
            <a:ext cx="4572000" cy="347472"/>
          </a:xfrm>
          <a:prstGeom prst="rect">
            <a:avLst/>
          </a:prstGeom>
          <a:noFill/>
          <a:ln/>
        </p:spPr>
        <p:txBody>
          <a:bodyPr wrap="square" rtlCol="0" anchor="ctr"/>
          <a:lstStyle/>
          <a:p>
            <a:pPr marL="0" indent="0">
              <a:buNone/>
            </a:pPr>
            <a:r>
              <a:rPr lang="en-US" b="1" dirty="0">
                <a:solidFill>
                  <a:srgbClr val="FFFFFF"/>
                </a:solidFill>
              </a:rPr>
              <a:t>APT-Hier</a:t>
            </a:r>
            <a:endParaRPr lang="en-US" dirty="0"/>
          </a:p>
        </p:txBody>
      </p:sp>
      <p:sp>
        <p:nvSpPr>
          <p:cNvPr id="22" name="Text 20"/>
          <p:cNvSpPr/>
          <p:nvPr/>
        </p:nvSpPr>
        <p:spPr>
          <a:xfrm>
            <a:off x="594360" y="5193792"/>
            <a:ext cx="4572000" cy="347472"/>
          </a:xfrm>
          <a:prstGeom prst="rect">
            <a:avLst/>
          </a:prstGeom>
          <a:noFill/>
          <a:ln/>
        </p:spPr>
        <p:txBody>
          <a:bodyPr wrap="square" rtlCol="0" anchor="ctr"/>
          <a:lstStyle/>
          <a:p>
            <a:pPr marL="0" indent="0">
              <a:buNone/>
            </a:pPr>
            <a:r>
              <a:rPr lang="en-US" sz="1400" dirty="0">
                <a:solidFill>
                  <a:srgbClr val="AECDE8"/>
                </a:solidFill>
              </a:rPr>
              <a:t>1483实体 · 12关系 · 5999三元组</a:t>
            </a:r>
            <a:endParaRPr lang="en-US" sz="1400" dirty="0"/>
          </a:p>
        </p:txBody>
      </p:sp>
      <p:sp>
        <p:nvSpPr>
          <p:cNvPr id="23" name="Shape 21"/>
          <p:cNvSpPr/>
          <p:nvPr/>
        </p:nvSpPr>
        <p:spPr>
          <a:xfrm>
            <a:off x="5486400" y="3383280"/>
            <a:ext cx="457200" cy="109728"/>
          </a:xfrm>
          <a:prstGeom prst="rect">
            <a:avLst/>
          </a:prstGeom>
          <a:solidFill>
            <a:srgbClr val="00B4CC"/>
          </a:solidFill>
          <a:ln w="12700">
            <a:solidFill>
              <a:srgbClr val="00B4CC"/>
            </a:solidFill>
            <a:prstDash val="solid"/>
          </a:ln>
        </p:spPr>
      </p:sp>
      <p:sp>
        <p:nvSpPr>
          <p:cNvPr id="24" name="Text 22"/>
          <p:cNvSpPr/>
          <p:nvPr/>
        </p:nvSpPr>
        <p:spPr>
          <a:xfrm>
            <a:off x="5440680" y="3200400"/>
            <a:ext cx="548640" cy="457200"/>
          </a:xfrm>
          <a:prstGeom prst="rect">
            <a:avLst/>
          </a:prstGeom>
          <a:noFill/>
          <a:ln/>
        </p:spPr>
        <p:txBody>
          <a:bodyPr wrap="square" rtlCol="0" anchor="ctr"/>
          <a:lstStyle/>
          <a:p>
            <a:pPr marL="0" indent="0" algn="ctr">
              <a:buNone/>
            </a:pPr>
            <a:r>
              <a:rPr lang="en-US" sz="3200" b="1" dirty="0">
                <a:solidFill>
                  <a:srgbClr val="00B4CC"/>
                </a:solidFill>
              </a:rPr>
              <a:t>→</a:t>
            </a:r>
            <a:endParaRPr lang="en-US" sz="3200" dirty="0"/>
          </a:p>
        </p:txBody>
      </p:sp>
      <p:sp>
        <p:nvSpPr>
          <p:cNvPr id="25" name="Shape 23"/>
          <p:cNvSpPr/>
          <p:nvPr/>
        </p:nvSpPr>
        <p:spPr>
          <a:xfrm>
            <a:off x="5989320" y="1024128"/>
            <a:ext cx="3977640" cy="5120640"/>
          </a:xfrm>
          <a:prstGeom prst="rect">
            <a:avLst/>
          </a:prstGeom>
          <a:solidFill>
            <a:srgbClr val="0D2137"/>
          </a:solidFill>
          <a:ln w="19050">
            <a:solidFill>
              <a:srgbClr val="00ACC1"/>
            </a:solidFill>
            <a:prstDash val="solid"/>
          </a:ln>
        </p:spPr>
      </p:sp>
      <p:sp>
        <p:nvSpPr>
          <p:cNvPr id="26" name="Text 24"/>
          <p:cNvSpPr/>
          <p:nvPr/>
        </p:nvSpPr>
        <p:spPr>
          <a:xfrm>
            <a:off x="5989320" y="1024128"/>
            <a:ext cx="3977640" cy="411480"/>
          </a:xfrm>
          <a:prstGeom prst="rect">
            <a:avLst/>
          </a:prstGeom>
          <a:noFill/>
          <a:ln/>
        </p:spPr>
        <p:txBody>
          <a:bodyPr wrap="square" lIns="0" tIns="0" rIns="0" bIns="0" rtlCol="0" anchor="ctr"/>
          <a:lstStyle/>
          <a:p>
            <a:pPr marL="0" indent="0" algn="ctr">
              <a:buNone/>
            </a:pPr>
            <a:r>
              <a:rPr lang="en-US" b="1" dirty="0">
                <a:solidFill>
                  <a:srgbClr val="00ACC1"/>
                </a:solidFill>
              </a:rPr>
              <a:t>模型层</a:t>
            </a:r>
            <a:endParaRPr lang="en-US" dirty="0"/>
          </a:p>
        </p:txBody>
      </p:sp>
      <p:sp>
        <p:nvSpPr>
          <p:cNvPr id="27" name="Shape 25"/>
          <p:cNvSpPr/>
          <p:nvPr/>
        </p:nvSpPr>
        <p:spPr>
          <a:xfrm>
            <a:off x="6172200" y="1508760"/>
            <a:ext cx="3611880" cy="1371600"/>
          </a:xfrm>
          <a:prstGeom prst="rect">
            <a:avLst/>
          </a:prstGeom>
          <a:solidFill>
            <a:srgbClr val="1A3A6B"/>
          </a:solidFill>
          <a:ln w="6350">
            <a:solidFill>
              <a:srgbClr val="334455"/>
            </a:solidFill>
            <a:prstDash val="solid"/>
          </a:ln>
        </p:spPr>
      </p:sp>
      <p:sp>
        <p:nvSpPr>
          <p:cNvPr id="28" name="Text 26"/>
          <p:cNvSpPr/>
          <p:nvPr/>
        </p:nvSpPr>
        <p:spPr>
          <a:xfrm>
            <a:off x="6217920" y="1536192"/>
            <a:ext cx="3520440" cy="457200"/>
          </a:xfrm>
          <a:prstGeom prst="rect">
            <a:avLst/>
          </a:prstGeom>
          <a:noFill/>
          <a:ln/>
        </p:spPr>
        <p:txBody>
          <a:bodyPr wrap="square" rtlCol="0" anchor="ctr"/>
          <a:lstStyle/>
          <a:p>
            <a:pPr marL="0" indent="0">
              <a:buNone/>
            </a:pPr>
            <a:r>
              <a:rPr lang="en-US" sz="1600" b="1" dirty="0">
                <a:solidFill>
                  <a:srgbClr val="FFFFFF"/>
                </a:solidFill>
              </a:rPr>
              <a:t>阶段一：欧式编码</a:t>
            </a:r>
            <a:endParaRPr lang="en-US" sz="1600" dirty="0"/>
          </a:p>
        </p:txBody>
      </p:sp>
      <p:sp>
        <p:nvSpPr>
          <p:cNvPr id="29" name="Text 27"/>
          <p:cNvSpPr/>
          <p:nvPr/>
        </p:nvSpPr>
        <p:spPr>
          <a:xfrm>
            <a:off x="6217920" y="1938528"/>
            <a:ext cx="3520440" cy="868680"/>
          </a:xfrm>
          <a:prstGeom prst="rect">
            <a:avLst/>
          </a:prstGeom>
          <a:noFill/>
          <a:ln/>
        </p:spPr>
        <p:txBody>
          <a:bodyPr wrap="square" rtlCol="0" anchor="t"/>
          <a:lstStyle/>
          <a:p>
            <a:pPr marL="0" indent="0">
              <a:buNone/>
            </a:pPr>
            <a:r>
              <a:rPr lang="en-US" sz="1600" dirty="0">
                <a:solidFill>
                  <a:srgbClr val="AECDE8"/>
                </a:solidFill>
              </a:rPr>
              <a:t>CyBERT + DualQGNN</a:t>
            </a:r>
            <a:endParaRPr lang="en-US" sz="1600" dirty="0"/>
          </a:p>
          <a:p>
            <a:pPr marL="0" indent="0">
              <a:buNone/>
            </a:pPr>
            <a:r>
              <a:rPr lang="en-US" sz="1600" dirty="0">
                <a:solidFill>
                  <a:srgbClr val="AECDE8"/>
                </a:solidFill>
              </a:rPr>
              <a:t>h(l)=tanh(Σ a·W⊗h(l-1))</a:t>
            </a:r>
          </a:p>
          <a:p>
            <a:pPr marL="0" indent="0">
              <a:buNone/>
            </a:pPr>
            <a:r>
              <a:rPr lang="zh-CN" altLang="zh-CN" sz="1400" kern="0" dirty="0">
                <a:solidFill>
                  <a:srgbClr val="AECDE8"/>
                </a:solidFill>
                <a:effectLst/>
                <a:latin typeface="Microsoft YaHei" panose="020B0503020204020204" pitchFamily="34" charset="-122"/>
                <a:ea typeface="Microsoft YaHei" panose="020B0503020204020204" pitchFamily="34" charset="-122"/>
                <a:cs typeface="Times New Roman" panose="02020603050405020304" pitchFamily="18" charset="0"/>
              </a:rPr>
              <a:t>局部语义和邻域结构</a:t>
            </a:r>
            <a:endParaRPr lang="en-US" sz="1400" dirty="0">
              <a:solidFill>
                <a:srgbClr val="AECDE8"/>
              </a:solidFill>
              <a:latin typeface="Microsoft YaHei" panose="020B0503020204020204" pitchFamily="34" charset="-122"/>
              <a:ea typeface="Microsoft YaHei" panose="020B0503020204020204" pitchFamily="34" charset="-122"/>
            </a:endParaRPr>
          </a:p>
        </p:txBody>
      </p:sp>
      <p:sp>
        <p:nvSpPr>
          <p:cNvPr id="30" name="Shape 28"/>
          <p:cNvSpPr/>
          <p:nvPr/>
        </p:nvSpPr>
        <p:spPr>
          <a:xfrm>
            <a:off x="6172200" y="2971800"/>
            <a:ext cx="3611880" cy="1371600"/>
          </a:xfrm>
          <a:prstGeom prst="rect">
            <a:avLst/>
          </a:prstGeom>
          <a:solidFill>
            <a:srgbClr val="006579"/>
          </a:solidFill>
          <a:ln w="6350">
            <a:solidFill>
              <a:srgbClr val="334455"/>
            </a:solidFill>
            <a:prstDash val="solid"/>
          </a:ln>
        </p:spPr>
      </p:sp>
      <p:sp>
        <p:nvSpPr>
          <p:cNvPr id="31" name="Text 29"/>
          <p:cNvSpPr/>
          <p:nvPr/>
        </p:nvSpPr>
        <p:spPr>
          <a:xfrm>
            <a:off x="6217920" y="2999232"/>
            <a:ext cx="3520440" cy="457200"/>
          </a:xfrm>
          <a:prstGeom prst="rect">
            <a:avLst/>
          </a:prstGeom>
          <a:noFill/>
          <a:ln/>
        </p:spPr>
        <p:txBody>
          <a:bodyPr wrap="square" rtlCol="0" anchor="ctr"/>
          <a:lstStyle/>
          <a:p>
            <a:pPr marL="0" indent="0">
              <a:buNone/>
            </a:pPr>
            <a:r>
              <a:rPr lang="en-US" sz="1600" b="1" dirty="0">
                <a:solidFill>
                  <a:srgbClr val="FFFFFF"/>
                </a:solidFill>
              </a:rPr>
              <a:t>▼  指数映射</a:t>
            </a:r>
            <a:endParaRPr lang="en-US" sz="1600" dirty="0"/>
          </a:p>
        </p:txBody>
      </p:sp>
      <p:sp>
        <p:nvSpPr>
          <p:cNvPr id="32" name="Text 30"/>
          <p:cNvSpPr/>
          <p:nvPr/>
        </p:nvSpPr>
        <p:spPr>
          <a:xfrm>
            <a:off x="6217920" y="3401568"/>
            <a:ext cx="3520440" cy="868680"/>
          </a:xfrm>
          <a:prstGeom prst="rect">
            <a:avLst/>
          </a:prstGeom>
          <a:noFill/>
          <a:ln/>
        </p:spPr>
        <p:txBody>
          <a:bodyPr wrap="square" rtlCol="0" anchor="t"/>
          <a:lstStyle/>
          <a:p>
            <a:pPr marL="0" indent="0">
              <a:buNone/>
            </a:pPr>
            <a:r>
              <a:rPr lang="en-US" sz="1600" dirty="0">
                <a:solidFill>
                  <a:srgbClr val="AECDE8"/>
                </a:solidFill>
              </a:rPr>
              <a:t>h̃_E → h_H = exp(</a:t>
            </a:r>
            <a:r>
              <a:rPr lang="en-US" sz="1600" dirty="0" err="1">
                <a:solidFill>
                  <a:srgbClr val="AECDE8"/>
                </a:solidFill>
              </a:rPr>
              <a:t>h̃_E</a:t>
            </a:r>
            <a:r>
              <a:rPr lang="en-US" sz="1600" dirty="0">
                <a:solidFill>
                  <a:srgbClr val="AECDE8"/>
                </a:solidFill>
              </a:rPr>
              <a:t>)</a:t>
            </a:r>
          </a:p>
          <a:p>
            <a:pPr marL="0" indent="0">
              <a:buNone/>
            </a:pPr>
            <a:r>
              <a:rPr lang="zh-CN" altLang="zh-CN" sz="1400" kern="0" dirty="0">
                <a:solidFill>
                  <a:srgbClr val="AECDE8"/>
                </a:solidFill>
                <a:effectLst/>
                <a:latin typeface="Microsoft YaHei" panose="020B0503020204020204" pitchFamily="34" charset="-122"/>
                <a:ea typeface="Microsoft YaHei" panose="020B0503020204020204" pitchFamily="34" charset="-122"/>
                <a:cs typeface="Times New Roman" panose="02020603050405020304" pitchFamily="18" charset="0"/>
              </a:rPr>
              <a:t>将欧式嵌入投影到庞加莱球中</a:t>
            </a:r>
            <a:endParaRPr lang="en-US" sz="1600" dirty="0">
              <a:solidFill>
                <a:srgbClr val="AECDE8"/>
              </a:solidFill>
              <a:latin typeface="Microsoft YaHei" panose="020B0503020204020204" pitchFamily="34" charset="-122"/>
              <a:ea typeface="Microsoft YaHei" panose="020B0503020204020204" pitchFamily="34" charset="-122"/>
            </a:endParaRPr>
          </a:p>
          <a:p>
            <a:pPr marL="0" indent="0">
              <a:buNone/>
            </a:pPr>
            <a:r>
              <a:rPr lang="en-US" sz="1400" dirty="0">
                <a:solidFill>
                  <a:srgbClr val="AECDE8"/>
                </a:solidFill>
              </a:rPr>
              <a:t>局部等距·信息无损</a:t>
            </a:r>
            <a:endParaRPr lang="en-US" sz="1400" dirty="0"/>
          </a:p>
        </p:txBody>
      </p:sp>
      <p:sp>
        <p:nvSpPr>
          <p:cNvPr id="33" name="Shape 31"/>
          <p:cNvSpPr/>
          <p:nvPr/>
        </p:nvSpPr>
        <p:spPr>
          <a:xfrm>
            <a:off x="6172200" y="4434840"/>
            <a:ext cx="3611880" cy="1371600"/>
          </a:xfrm>
          <a:prstGeom prst="rect">
            <a:avLst/>
          </a:prstGeom>
          <a:solidFill>
            <a:srgbClr val="1B5E20"/>
          </a:solidFill>
          <a:ln w="6350">
            <a:solidFill>
              <a:srgbClr val="334455"/>
            </a:solidFill>
            <a:prstDash val="solid"/>
          </a:ln>
        </p:spPr>
      </p:sp>
      <p:sp>
        <p:nvSpPr>
          <p:cNvPr id="34" name="Text 32"/>
          <p:cNvSpPr/>
          <p:nvPr/>
        </p:nvSpPr>
        <p:spPr>
          <a:xfrm>
            <a:off x="6217920" y="4462272"/>
            <a:ext cx="3520440" cy="457200"/>
          </a:xfrm>
          <a:prstGeom prst="rect">
            <a:avLst/>
          </a:prstGeom>
          <a:noFill/>
          <a:ln/>
        </p:spPr>
        <p:txBody>
          <a:bodyPr wrap="square" rtlCol="0" anchor="ctr"/>
          <a:lstStyle/>
          <a:p>
            <a:pPr marL="0" indent="0">
              <a:buNone/>
            </a:pPr>
            <a:r>
              <a:rPr lang="en-US" sz="1600" b="1" dirty="0">
                <a:solidFill>
                  <a:srgbClr val="FFFFFF"/>
                </a:solidFill>
              </a:rPr>
              <a:t>阶段二：双曲解码</a:t>
            </a:r>
            <a:endParaRPr lang="en-US" sz="1600" dirty="0"/>
          </a:p>
        </p:txBody>
      </p:sp>
      <p:sp>
        <p:nvSpPr>
          <p:cNvPr id="35" name="Text 33"/>
          <p:cNvSpPr/>
          <p:nvPr/>
        </p:nvSpPr>
        <p:spPr>
          <a:xfrm>
            <a:off x="6217920" y="4864608"/>
            <a:ext cx="3520440" cy="868680"/>
          </a:xfrm>
          <a:prstGeom prst="rect">
            <a:avLst/>
          </a:prstGeom>
          <a:noFill/>
          <a:ln/>
        </p:spPr>
        <p:txBody>
          <a:bodyPr wrap="square" rtlCol="0" anchor="t"/>
          <a:lstStyle/>
          <a:p>
            <a:pPr marL="0" indent="0">
              <a:buNone/>
            </a:pPr>
            <a:r>
              <a:rPr lang="en-US" sz="1600" dirty="0">
                <a:solidFill>
                  <a:srgbClr val="AECDE8"/>
                </a:solidFill>
              </a:rPr>
              <a:t>MuRP on Poincaré Ball</a:t>
            </a:r>
            <a:endParaRPr lang="en-US" sz="1600" dirty="0"/>
          </a:p>
          <a:p>
            <a:pPr marL="0" indent="0">
              <a:buNone/>
            </a:pPr>
            <a:r>
              <a:rPr lang="en-US" sz="1600" dirty="0">
                <a:solidFill>
                  <a:srgbClr val="AECDE8"/>
                </a:solidFill>
              </a:rPr>
              <a:t>f = -d_B(h'_r, t'_r)+</a:t>
            </a:r>
            <a:r>
              <a:rPr lang="en-US" sz="1600" dirty="0" err="1">
                <a:solidFill>
                  <a:srgbClr val="AECDE8"/>
                </a:solidFill>
              </a:rPr>
              <a:t>b_h+b_t</a:t>
            </a:r>
            <a:endParaRPr lang="en-US" sz="1600" dirty="0">
              <a:solidFill>
                <a:srgbClr val="AECDE8"/>
              </a:solidFill>
            </a:endParaRPr>
          </a:p>
          <a:p>
            <a:pPr marL="0" indent="0">
              <a:buNone/>
            </a:pPr>
            <a:r>
              <a:rPr lang="zh-CN" altLang="zh-CN" sz="1400" kern="0" dirty="0">
                <a:solidFill>
                  <a:srgbClr val="AECDE8"/>
                </a:solidFill>
                <a:effectLst/>
                <a:latin typeface="Microsoft YaHei" panose="020B0503020204020204" pitchFamily="34" charset="-122"/>
                <a:ea typeface="Microsoft YaHei" panose="020B0503020204020204" pitchFamily="34" charset="-122"/>
                <a:cs typeface="Times New Roman" panose="02020603050405020304" pitchFamily="18" charset="0"/>
              </a:rPr>
              <a:t>层级结构优化</a:t>
            </a:r>
            <a:endParaRPr lang="en-US" sz="1600" dirty="0">
              <a:solidFill>
                <a:srgbClr val="AECDE8"/>
              </a:solidFill>
              <a:latin typeface="Microsoft YaHei" panose="020B0503020204020204" pitchFamily="34" charset="-122"/>
              <a:ea typeface="Microsoft YaHei" panose="020B0503020204020204" pitchFamily="34" charset="-122"/>
            </a:endParaRPr>
          </a:p>
        </p:txBody>
      </p:sp>
      <p:sp>
        <p:nvSpPr>
          <p:cNvPr id="36" name="Text 34"/>
          <p:cNvSpPr/>
          <p:nvPr/>
        </p:nvSpPr>
        <p:spPr>
          <a:xfrm>
            <a:off x="10012680" y="3200400"/>
            <a:ext cx="457200" cy="457200"/>
          </a:xfrm>
          <a:prstGeom prst="rect">
            <a:avLst/>
          </a:prstGeom>
          <a:noFill/>
          <a:ln/>
        </p:spPr>
        <p:txBody>
          <a:bodyPr wrap="square" rtlCol="0" anchor="ctr"/>
          <a:lstStyle/>
          <a:p>
            <a:pPr marL="0" indent="0" algn="ctr">
              <a:buNone/>
            </a:pPr>
            <a:r>
              <a:rPr lang="en-US" sz="3200" b="1" dirty="0">
                <a:solidFill>
                  <a:srgbClr val="00B4CC"/>
                </a:solidFill>
              </a:rPr>
              <a:t>→</a:t>
            </a:r>
            <a:endParaRPr lang="en-US" sz="3200" dirty="0"/>
          </a:p>
        </p:txBody>
      </p:sp>
      <p:sp>
        <p:nvSpPr>
          <p:cNvPr id="37" name="Shape 35"/>
          <p:cNvSpPr/>
          <p:nvPr/>
        </p:nvSpPr>
        <p:spPr>
          <a:xfrm>
            <a:off x="10515600" y="1024128"/>
            <a:ext cx="1508760" cy="5120640"/>
          </a:xfrm>
          <a:prstGeom prst="rect">
            <a:avLst/>
          </a:prstGeom>
          <a:solidFill>
            <a:srgbClr val="0D2137"/>
          </a:solidFill>
          <a:ln w="19050">
            <a:solidFill>
              <a:srgbClr val="B71C1C"/>
            </a:solidFill>
            <a:prstDash val="solid"/>
          </a:ln>
        </p:spPr>
      </p:sp>
      <p:sp>
        <p:nvSpPr>
          <p:cNvPr id="38" name="Text 36"/>
          <p:cNvSpPr/>
          <p:nvPr/>
        </p:nvSpPr>
        <p:spPr>
          <a:xfrm>
            <a:off x="10515600" y="2286000"/>
            <a:ext cx="1508760" cy="1828800"/>
          </a:xfrm>
          <a:prstGeom prst="rect">
            <a:avLst/>
          </a:prstGeom>
          <a:noFill/>
          <a:ln/>
        </p:spPr>
        <p:txBody>
          <a:bodyPr wrap="square" rtlCol="0" anchor="ctr"/>
          <a:lstStyle/>
          <a:p>
            <a:pPr marL="0" indent="0" algn="ctr">
              <a:buNone/>
            </a:pPr>
            <a:r>
              <a:rPr lang="en-US" sz="1600" b="1" dirty="0">
                <a:solidFill>
                  <a:srgbClr val="B71C1C"/>
                </a:solidFill>
              </a:rPr>
              <a:t>偏好</a:t>
            </a:r>
            <a:endParaRPr lang="en-US" sz="1600" dirty="0"/>
          </a:p>
          <a:p>
            <a:pPr marL="0" indent="0" algn="ctr">
              <a:buNone/>
            </a:pPr>
            <a:r>
              <a:rPr lang="en-US" sz="1600" b="1" dirty="0">
                <a:solidFill>
                  <a:srgbClr val="B71C1C"/>
                </a:solidFill>
              </a:rPr>
              <a:t>预测</a:t>
            </a:r>
            <a:endParaRPr lang="en-US" sz="1600" dirty="0"/>
          </a:p>
        </p:txBody>
      </p:sp>
      <p:sp>
        <p:nvSpPr>
          <p:cNvPr id="39" name="Text 37"/>
          <p:cNvSpPr/>
          <p:nvPr/>
        </p:nvSpPr>
        <p:spPr>
          <a:xfrm>
            <a:off x="10515600" y="4114800"/>
            <a:ext cx="1508760" cy="1188720"/>
          </a:xfrm>
          <a:prstGeom prst="rect">
            <a:avLst/>
          </a:prstGeom>
          <a:noFill/>
          <a:ln/>
        </p:spPr>
        <p:txBody>
          <a:bodyPr wrap="square" rtlCol="0" anchor="ctr"/>
          <a:lstStyle/>
          <a:p>
            <a:pPr marL="0" indent="0" algn="ctr">
              <a:buNone/>
            </a:pPr>
            <a:r>
              <a:rPr lang="en-US" dirty="0">
                <a:solidFill>
                  <a:srgbClr val="FFCCBC"/>
                </a:solidFill>
              </a:rPr>
              <a:t>Hits@10</a:t>
            </a:r>
            <a:endParaRPr lang="en-US" dirty="0"/>
          </a:p>
          <a:p>
            <a:pPr marL="0" indent="0" algn="ctr">
              <a:buNone/>
            </a:pPr>
            <a:r>
              <a:rPr lang="en-US" b="1" dirty="0">
                <a:solidFill>
                  <a:srgbClr val="FFCCBC"/>
                </a:solidFill>
              </a:rPr>
              <a:t>= 0.514</a:t>
            </a:r>
            <a:endParaRPr lang="en-US" dirty="0"/>
          </a:p>
        </p:txBody>
      </p:sp>
      <p:sp>
        <p:nvSpPr>
          <p:cNvPr id="40" name="Text 38"/>
          <p:cNvSpPr/>
          <p:nvPr/>
        </p:nvSpPr>
        <p:spPr>
          <a:xfrm>
            <a:off x="365760" y="6263640"/>
            <a:ext cx="11795760" cy="365760"/>
          </a:xfrm>
          <a:prstGeom prst="rect">
            <a:avLst/>
          </a:prstGeom>
          <a:noFill/>
          <a:ln/>
        </p:spPr>
        <p:txBody>
          <a:bodyPr wrap="square" rtlCol="0" anchor="ctr"/>
          <a:lstStyle/>
          <a:p>
            <a:pPr marL="0" indent="0" algn="ctr">
              <a:buNone/>
            </a:pPr>
            <a:r>
              <a:rPr lang="en-US" sz="1250" i="1" dirty="0">
                <a:solidFill>
                  <a:srgbClr val="00B4CC"/>
                </a:solidFill>
              </a:rPr>
              <a:t>【</a:t>
            </a:r>
            <a:r>
              <a:rPr lang="zh-CN" altLang="zh-CN" sz="1250" i="1" kern="0" dirty="0">
                <a:solidFill>
                  <a:srgbClr val="00B4CD"/>
                </a:solidFill>
                <a:effectLst/>
                <a:latin typeface="Microsoft YaHei" panose="020B0503020204020204" pitchFamily="34" charset="-122"/>
                <a:ea typeface="Microsoft YaHei" panose="020B0503020204020204" pitchFamily="34" charset="-122"/>
                <a:cs typeface="Times New Roman" panose="02020603050405020304" pitchFamily="18" charset="0"/>
              </a:rPr>
              <a:t>两个部分不是简单堆叠关系</a:t>
            </a:r>
            <a:r>
              <a:rPr lang="zh-CN" altLang="en-US" sz="1250" i="1" kern="0" dirty="0">
                <a:solidFill>
                  <a:srgbClr val="00B4CD"/>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en-US" sz="1250" i="1" dirty="0" err="1">
                <a:solidFill>
                  <a:srgbClr val="00B4CC"/>
                </a:solidFill>
              </a:rPr>
              <a:t>数据层补层级信号</a:t>
            </a:r>
            <a:r>
              <a:rPr lang="en-US" sz="1250" i="1" dirty="0">
                <a:solidFill>
                  <a:srgbClr val="00B4CC"/>
                </a:solidFill>
              </a:rPr>
              <a:t> · 模型层用双曲空间兑现几何收益】</a:t>
            </a:r>
            <a:endParaRPr lang="en-US" sz="1250" dirty="0"/>
          </a:p>
        </p:txBody>
      </p:sp>
      <p:sp>
        <p:nvSpPr>
          <p:cNvPr id="41" name="Text 39"/>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5/18</a:t>
            </a:r>
            <a:endParaRPr lang="en-US" sz="900" dirty="0"/>
          </a:p>
        </p:txBody>
      </p:sp>
    </p:spTree>
    <p:extLst>
      <p:ext uri="{BB962C8B-B14F-4D97-AF65-F5344CB8AC3E}">
        <p14:creationId xmlns:p14="http://schemas.microsoft.com/office/powerpoint/2010/main" val="295311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05  先验本体约束 Ω_onto 的形式化定义</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1371600" y="1024128"/>
            <a:ext cx="9418320" cy="749808"/>
          </a:xfrm>
          <a:prstGeom prst="rect">
            <a:avLst/>
          </a:prstGeom>
          <a:solidFill>
            <a:srgbClr val="E1F5FE"/>
          </a:solidFill>
          <a:ln w="19050">
            <a:solidFill>
              <a:srgbClr val="00B4CC"/>
            </a:solidFill>
            <a:prstDash val="solid"/>
          </a:ln>
        </p:spPr>
      </p:sp>
      <p:sp>
        <p:nvSpPr>
          <p:cNvPr id="6" name="Text 4"/>
          <p:cNvSpPr/>
          <p:nvPr/>
        </p:nvSpPr>
        <p:spPr>
          <a:xfrm>
            <a:off x="1481328" y="1078992"/>
            <a:ext cx="9198864" cy="640080"/>
          </a:xfrm>
          <a:prstGeom prst="rect">
            <a:avLst/>
          </a:prstGeom>
          <a:noFill/>
          <a:ln/>
        </p:spPr>
        <p:txBody>
          <a:bodyPr wrap="square" rtlCol="0" anchor="ctr"/>
          <a:lstStyle/>
          <a:p>
            <a:pPr marL="0" indent="0" algn="ctr">
              <a:buNone/>
            </a:pPr>
            <a:r>
              <a:rPr lang="en-US" dirty="0">
                <a:solidFill>
                  <a:srgbClr val="0D1B2A"/>
                </a:solidFill>
              </a:rPr>
              <a:t>Ω</a:t>
            </a:r>
            <a:r>
              <a:rPr lang="en-US" baseline="-40000" dirty="0">
                <a:solidFill>
                  <a:srgbClr val="0D1B2A"/>
                </a:solidFill>
              </a:rPr>
              <a:t>onto</a:t>
            </a:r>
            <a:r>
              <a:rPr lang="en-US" dirty="0">
                <a:solidFill>
                  <a:srgbClr val="0D1B2A"/>
                </a:solidFill>
              </a:rPr>
              <a:t> = { 𝒱</a:t>
            </a:r>
            <a:r>
              <a:rPr lang="en-US" baseline="-40000" dirty="0">
                <a:solidFill>
                  <a:srgbClr val="0D1B2A"/>
                </a:solidFill>
              </a:rPr>
              <a:t>closed</a:t>
            </a:r>
            <a:r>
              <a:rPr lang="en-US" dirty="0">
                <a:solidFill>
                  <a:srgbClr val="0D1B2A"/>
                </a:solidFill>
              </a:rPr>
              <a:t>, 𝒞, ℳ, ℛ</a:t>
            </a:r>
            <a:r>
              <a:rPr lang="en-US" baseline="-40000" dirty="0">
                <a:solidFill>
                  <a:srgbClr val="0D1B2A"/>
                </a:solidFill>
              </a:rPr>
              <a:t>hier</a:t>
            </a:r>
            <a:r>
              <a:rPr lang="en-US" dirty="0">
                <a:solidFill>
                  <a:srgbClr val="0D1B2A"/>
                </a:solidFill>
              </a:rPr>
              <a:t> }</a:t>
            </a:r>
            <a:endParaRPr lang="en-US" dirty="0"/>
          </a:p>
        </p:txBody>
      </p:sp>
      <p:sp>
        <p:nvSpPr>
          <p:cNvPr id="7" name="Shape 5"/>
          <p:cNvSpPr/>
          <p:nvPr/>
        </p:nvSpPr>
        <p:spPr>
          <a:xfrm>
            <a:off x="274320" y="1965960"/>
            <a:ext cx="5486400" cy="205740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8" name="Shape 6"/>
          <p:cNvSpPr/>
          <p:nvPr/>
        </p:nvSpPr>
        <p:spPr>
          <a:xfrm>
            <a:off x="274320" y="1965960"/>
            <a:ext cx="1371600" cy="2057400"/>
          </a:xfrm>
          <a:prstGeom prst="rect">
            <a:avLst/>
          </a:prstGeom>
          <a:solidFill>
            <a:srgbClr val="1A3A6B"/>
          </a:solidFill>
          <a:ln w="12700">
            <a:solidFill>
              <a:srgbClr val="1A3A6B"/>
            </a:solidFill>
            <a:prstDash val="solid"/>
          </a:ln>
        </p:spPr>
      </p:sp>
      <p:sp>
        <p:nvSpPr>
          <p:cNvPr id="9" name="Text 7"/>
          <p:cNvSpPr/>
          <p:nvPr/>
        </p:nvSpPr>
        <p:spPr>
          <a:xfrm>
            <a:off x="274320" y="2514600"/>
            <a:ext cx="1371600" cy="914400"/>
          </a:xfrm>
          <a:prstGeom prst="rect">
            <a:avLst/>
          </a:prstGeom>
          <a:noFill/>
          <a:ln/>
        </p:spPr>
        <p:txBody>
          <a:bodyPr wrap="square" lIns="0" tIns="0" rIns="0" bIns="0" rtlCol="0" anchor="ctr"/>
          <a:lstStyle/>
          <a:p>
            <a:pPr marL="0" indent="0" algn="ctr">
              <a:buNone/>
            </a:pPr>
            <a:r>
              <a:rPr lang="en-US" sz="2400" b="1" dirty="0">
                <a:solidFill>
                  <a:srgbClr val="FFFFFF"/>
                </a:solidFill>
              </a:rPr>
              <a:t>𝒱_closed</a:t>
            </a:r>
            <a:endParaRPr lang="en-US" sz="2400" dirty="0"/>
          </a:p>
        </p:txBody>
      </p:sp>
      <p:sp>
        <p:nvSpPr>
          <p:cNvPr id="10" name="Text 8"/>
          <p:cNvSpPr/>
          <p:nvPr/>
        </p:nvSpPr>
        <p:spPr>
          <a:xfrm>
            <a:off x="1737360" y="2011680"/>
            <a:ext cx="3886200" cy="384048"/>
          </a:xfrm>
          <a:prstGeom prst="rect">
            <a:avLst/>
          </a:prstGeom>
          <a:noFill/>
          <a:ln/>
        </p:spPr>
        <p:txBody>
          <a:bodyPr wrap="square" rtlCol="0" anchor="ctr"/>
          <a:lstStyle/>
          <a:p>
            <a:pPr marL="0" indent="0">
              <a:buNone/>
            </a:pPr>
            <a:r>
              <a:rPr lang="en-US" sz="1600" b="1" dirty="0">
                <a:solidFill>
                  <a:srgbClr val="1A3A6B"/>
                </a:solidFill>
              </a:rPr>
              <a:t>封闭词表约束</a:t>
            </a:r>
            <a:endParaRPr lang="en-US" sz="1600" dirty="0"/>
          </a:p>
        </p:txBody>
      </p:sp>
      <p:sp>
        <p:nvSpPr>
          <p:cNvPr id="11" name="Text 9"/>
          <p:cNvSpPr/>
          <p:nvPr/>
        </p:nvSpPr>
        <p:spPr>
          <a:xfrm>
            <a:off x="1737360" y="2423160"/>
            <a:ext cx="3886200" cy="1508760"/>
          </a:xfrm>
          <a:prstGeom prst="rect">
            <a:avLst/>
          </a:prstGeom>
          <a:noFill/>
          <a:ln/>
        </p:spPr>
        <p:txBody>
          <a:bodyPr wrap="square" rtlCol="0" anchor="t"/>
          <a:lstStyle/>
          <a:p>
            <a:pPr marL="0" indent="0">
              <a:buNone/>
            </a:pPr>
            <a:r>
              <a:rPr lang="en-US" sz="1600" dirty="0">
                <a:solidFill>
                  <a:srgbClr val="0D1B2A"/>
                </a:solidFill>
              </a:rPr>
              <a:t>底层实体 + 7 个高层节点构成的封闭集合</a:t>
            </a:r>
            <a:endParaRPr lang="en-US" sz="1600" dirty="0"/>
          </a:p>
          <a:p>
            <a:pPr marL="0" indent="0">
              <a:buNone/>
            </a:pPr>
            <a:r>
              <a:rPr lang="en-US" sz="1600" dirty="0">
                <a:solidFill>
                  <a:srgbClr val="0D1B2A"/>
                </a:solidFill>
              </a:rPr>
              <a:t>确保注入三元组两端均在词表内</a:t>
            </a:r>
            <a:endParaRPr lang="en-US" sz="1600" dirty="0"/>
          </a:p>
          <a:p>
            <a:pPr marL="0" indent="0">
              <a:buNone/>
            </a:pPr>
            <a:r>
              <a:rPr lang="en-US" sz="1600" dirty="0">
                <a:solidFill>
                  <a:srgbClr val="0D1B2A"/>
                </a:solidFill>
              </a:rPr>
              <a:t>∀(h,subClassOf,t)∈𝒯_inject: h∈𝒱_closed ∧ t∈𝒱_closed</a:t>
            </a:r>
            <a:endParaRPr lang="en-US" sz="1600" dirty="0"/>
          </a:p>
        </p:txBody>
      </p:sp>
      <p:sp>
        <p:nvSpPr>
          <p:cNvPr id="12" name="Shape 10"/>
          <p:cNvSpPr/>
          <p:nvPr/>
        </p:nvSpPr>
        <p:spPr>
          <a:xfrm>
            <a:off x="274320" y="4206240"/>
            <a:ext cx="5486400" cy="205740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3" name="Shape 11"/>
          <p:cNvSpPr/>
          <p:nvPr/>
        </p:nvSpPr>
        <p:spPr>
          <a:xfrm>
            <a:off x="274320" y="4206240"/>
            <a:ext cx="1371600" cy="2057400"/>
          </a:xfrm>
          <a:prstGeom prst="rect">
            <a:avLst/>
          </a:prstGeom>
          <a:solidFill>
            <a:srgbClr val="006579"/>
          </a:solidFill>
          <a:ln w="12700">
            <a:solidFill>
              <a:srgbClr val="006579"/>
            </a:solidFill>
            <a:prstDash val="solid"/>
          </a:ln>
        </p:spPr>
      </p:sp>
      <p:sp>
        <p:nvSpPr>
          <p:cNvPr id="14" name="Text 12"/>
          <p:cNvSpPr/>
          <p:nvPr/>
        </p:nvSpPr>
        <p:spPr>
          <a:xfrm>
            <a:off x="274320" y="4754880"/>
            <a:ext cx="1371600" cy="914400"/>
          </a:xfrm>
          <a:prstGeom prst="rect">
            <a:avLst/>
          </a:prstGeom>
          <a:noFill/>
          <a:ln/>
        </p:spPr>
        <p:txBody>
          <a:bodyPr wrap="square" lIns="0" tIns="0" rIns="0" bIns="0" rtlCol="0" anchor="ctr"/>
          <a:lstStyle/>
          <a:p>
            <a:pPr marL="0" indent="0" algn="ctr">
              <a:buNone/>
            </a:pPr>
            <a:r>
              <a:rPr lang="en-US" sz="2400" b="1" dirty="0">
                <a:solidFill>
                  <a:srgbClr val="FFFFFF"/>
                </a:solidFill>
              </a:rPr>
              <a:t>𝒞</a:t>
            </a:r>
            <a:endParaRPr lang="en-US" sz="2400" dirty="0"/>
          </a:p>
        </p:txBody>
      </p:sp>
      <p:sp>
        <p:nvSpPr>
          <p:cNvPr id="15" name="Text 13"/>
          <p:cNvSpPr/>
          <p:nvPr/>
        </p:nvSpPr>
        <p:spPr>
          <a:xfrm>
            <a:off x="1737360" y="4251960"/>
            <a:ext cx="3886200" cy="384048"/>
          </a:xfrm>
          <a:prstGeom prst="rect">
            <a:avLst/>
          </a:prstGeom>
          <a:noFill/>
          <a:ln/>
        </p:spPr>
        <p:txBody>
          <a:bodyPr wrap="square" rtlCol="0" anchor="ctr"/>
          <a:lstStyle/>
          <a:p>
            <a:pPr marL="0" indent="0">
              <a:buNone/>
            </a:pPr>
            <a:r>
              <a:rPr lang="en-US" sz="1600" b="1" dirty="0">
                <a:solidFill>
                  <a:srgbClr val="006579"/>
                </a:solidFill>
              </a:rPr>
              <a:t>高层本体框架</a:t>
            </a:r>
            <a:endParaRPr lang="en-US" sz="1600" dirty="0"/>
          </a:p>
        </p:txBody>
      </p:sp>
      <p:sp>
        <p:nvSpPr>
          <p:cNvPr id="16" name="Text 14"/>
          <p:cNvSpPr/>
          <p:nvPr/>
        </p:nvSpPr>
        <p:spPr>
          <a:xfrm>
            <a:off x="1737360" y="4663440"/>
            <a:ext cx="3886200" cy="1508760"/>
          </a:xfrm>
          <a:prstGeom prst="rect">
            <a:avLst/>
          </a:prstGeom>
          <a:noFill/>
          <a:ln/>
        </p:spPr>
        <p:txBody>
          <a:bodyPr wrap="square" rtlCol="0" anchor="t"/>
          <a:lstStyle/>
          <a:p>
            <a:pPr marL="0" indent="0">
              <a:buNone/>
            </a:pPr>
            <a:r>
              <a:rPr lang="en-US" sz="1600" dirty="0">
                <a:solidFill>
                  <a:srgbClr val="0D1B2A"/>
                </a:solidFill>
              </a:rPr>
              <a:t>7 个高层抽象节点：</a:t>
            </a:r>
            <a:endParaRPr lang="en-US" sz="1600" dirty="0"/>
          </a:p>
          <a:p>
            <a:pPr marL="0" indent="0">
              <a:buNone/>
            </a:pPr>
            <a:r>
              <a:rPr lang="en-US" sz="1600" dirty="0">
                <a:solidFill>
                  <a:srgbClr val="0D1B2A"/>
                </a:solidFill>
              </a:rPr>
              <a:t>Strategic_Core / Context / Target_System</a:t>
            </a:r>
            <a:endParaRPr lang="en-US" sz="1600" dirty="0"/>
          </a:p>
          <a:p>
            <a:pPr marL="0" indent="0">
              <a:buNone/>
            </a:pPr>
            <a:r>
              <a:rPr lang="en-US" sz="1600" dirty="0">
                <a:solidFill>
                  <a:srgbClr val="0D1B2A"/>
                </a:solidFill>
              </a:rPr>
              <a:t>Methodology / Attack_Resource / IOC_Network / IOC_Hash</a:t>
            </a:r>
            <a:endParaRPr lang="en-US" sz="1600" dirty="0"/>
          </a:p>
        </p:txBody>
      </p:sp>
      <p:sp>
        <p:nvSpPr>
          <p:cNvPr id="17" name="Shape 15"/>
          <p:cNvSpPr/>
          <p:nvPr/>
        </p:nvSpPr>
        <p:spPr>
          <a:xfrm>
            <a:off x="6035040" y="1965960"/>
            <a:ext cx="5715000" cy="205740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8" name="Shape 16"/>
          <p:cNvSpPr/>
          <p:nvPr/>
        </p:nvSpPr>
        <p:spPr>
          <a:xfrm>
            <a:off x="6035040" y="1965960"/>
            <a:ext cx="1371600" cy="2057400"/>
          </a:xfrm>
          <a:prstGeom prst="rect">
            <a:avLst/>
          </a:prstGeom>
          <a:solidFill>
            <a:srgbClr val="E65100"/>
          </a:solidFill>
          <a:ln w="12700">
            <a:solidFill>
              <a:srgbClr val="E65100"/>
            </a:solidFill>
            <a:prstDash val="solid"/>
          </a:ln>
        </p:spPr>
      </p:sp>
      <p:sp>
        <p:nvSpPr>
          <p:cNvPr id="19" name="Text 17"/>
          <p:cNvSpPr/>
          <p:nvPr/>
        </p:nvSpPr>
        <p:spPr>
          <a:xfrm>
            <a:off x="6035040" y="2514600"/>
            <a:ext cx="1371600" cy="914400"/>
          </a:xfrm>
          <a:prstGeom prst="rect">
            <a:avLst/>
          </a:prstGeom>
          <a:noFill/>
          <a:ln/>
        </p:spPr>
        <p:txBody>
          <a:bodyPr wrap="square" lIns="0" tIns="0" rIns="0" bIns="0" rtlCol="0" anchor="ctr"/>
          <a:lstStyle/>
          <a:p>
            <a:pPr marL="0" indent="0" algn="ctr">
              <a:buNone/>
            </a:pPr>
            <a:r>
              <a:rPr lang="en-US" sz="2400" b="1" dirty="0">
                <a:solidFill>
                  <a:srgbClr val="FFFFFF"/>
                </a:solidFill>
              </a:rPr>
              <a:t>ℳ</a:t>
            </a:r>
            <a:endParaRPr lang="en-US" sz="2400" dirty="0"/>
          </a:p>
        </p:txBody>
      </p:sp>
      <p:sp>
        <p:nvSpPr>
          <p:cNvPr id="20" name="Text 18"/>
          <p:cNvSpPr/>
          <p:nvPr/>
        </p:nvSpPr>
        <p:spPr>
          <a:xfrm>
            <a:off x="7498080" y="2011680"/>
            <a:ext cx="3886200" cy="384048"/>
          </a:xfrm>
          <a:prstGeom prst="rect">
            <a:avLst/>
          </a:prstGeom>
          <a:noFill/>
          <a:ln/>
        </p:spPr>
        <p:txBody>
          <a:bodyPr wrap="square" rtlCol="0" anchor="ctr"/>
          <a:lstStyle/>
          <a:p>
            <a:pPr marL="0" indent="0">
              <a:buNone/>
            </a:pPr>
            <a:r>
              <a:rPr lang="en-US" sz="1600" b="1" dirty="0">
                <a:solidFill>
                  <a:srgbClr val="E65100"/>
                </a:solidFill>
              </a:rPr>
              <a:t>确定性映射字典</a:t>
            </a:r>
            <a:endParaRPr lang="en-US" sz="1600" dirty="0"/>
          </a:p>
        </p:txBody>
      </p:sp>
      <p:sp>
        <p:nvSpPr>
          <p:cNvPr id="21" name="Text 19"/>
          <p:cNvSpPr/>
          <p:nvPr/>
        </p:nvSpPr>
        <p:spPr>
          <a:xfrm>
            <a:off x="7498080" y="2423160"/>
            <a:ext cx="4389120" cy="1508760"/>
          </a:xfrm>
          <a:prstGeom prst="rect">
            <a:avLst/>
          </a:prstGeom>
          <a:noFill/>
          <a:ln/>
        </p:spPr>
        <p:txBody>
          <a:bodyPr wrap="square" rtlCol="0" anchor="t"/>
          <a:lstStyle/>
          <a:p>
            <a:pPr marL="0" indent="0">
              <a:buNone/>
            </a:pPr>
            <a:r>
              <a:rPr lang="en-US" sz="1600" dirty="0">
                <a:solidFill>
                  <a:srgbClr val="0D1B2A"/>
                </a:solidFill>
              </a:rPr>
              <a:t>人工校验的细粒度类型→高层节点映射规则</a:t>
            </a:r>
            <a:endParaRPr lang="en-US" sz="1600" dirty="0"/>
          </a:p>
          <a:p>
            <a:pPr marL="0" indent="0">
              <a:buNone/>
            </a:pPr>
            <a:r>
              <a:rPr lang="en-US" sz="1600" dirty="0">
                <a:solidFill>
                  <a:srgbClr val="0D1B2A"/>
                </a:solidFill>
              </a:rPr>
              <a:t>LLM 仅参与命名；关系生成由确定性脚本执行</a:t>
            </a:r>
            <a:endParaRPr lang="en-US" sz="1600" dirty="0"/>
          </a:p>
          <a:p>
            <a:pPr marL="0" indent="0">
              <a:buNone/>
            </a:pPr>
            <a:r>
              <a:rPr lang="en-US" sz="1600" dirty="0">
                <a:solidFill>
                  <a:srgbClr val="0D1B2A"/>
                </a:solidFill>
              </a:rPr>
              <a:t>消除开放域生成的事实幻觉风险</a:t>
            </a:r>
            <a:endParaRPr lang="en-US" sz="1400" dirty="0"/>
          </a:p>
        </p:txBody>
      </p:sp>
      <p:sp>
        <p:nvSpPr>
          <p:cNvPr id="22" name="Shape 20"/>
          <p:cNvSpPr/>
          <p:nvPr/>
        </p:nvSpPr>
        <p:spPr>
          <a:xfrm>
            <a:off x="6035040" y="4206240"/>
            <a:ext cx="5715000" cy="205740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23" name="Shape 21"/>
          <p:cNvSpPr/>
          <p:nvPr/>
        </p:nvSpPr>
        <p:spPr>
          <a:xfrm>
            <a:off x="6035040" y="4206240"/>
            <a:ext cx="1371600" cy="2057400"/>
          </a:xfrm>
          <a:prstGeom prst="rect">
            <a:avLst/>
          </a:prstGeom>
          <a:solidFill>
            <a:srgbClr val="1B5E20"/>
          </a:solidFill>
          <a:ln w="12700">
            <a:solidFill>
              <a:srgbClr val="1B5E20"/>
            </a:solidFill>
            <a:prstDash val="solid"/>
          </a:ln>
        </p:spPr>
      </p:sp>
      <p:sp>
        <p:nvSpPr>
          <p:cNvPr id="24" name="Text 22"/>
          <p:cNvSpPr/>
          <p:nvPr/>
        </p:nvSpPr>
        <p:spPr>
          <a:xfrm>
            <a:off x="6035040" y="4754880"/>
            <a:ext cx="1371600" cy="914400"/>
          </a:xfrm>
          <a:prstGeom prst="rect">
            <a:avLst/>
          </a:prstGeom>
          <a:noFill/>
          <a:ln/>
        </p:spPr>
        <p:txBody>
          <a:bodyPr wrap="square" lIns="0" tIns="0" rIns="0" bIns="0" rtlCol="0" anchor="ctr"/>
          <a:lstStyle/>
          <a:p>
            <a:pPr marL="0" indent="0" algn="ctr">
              <a:buNone/>
            </a:pPr>
            <a:r>
              <a:rPr lang="en-US" sz="2400" b="1" dirty="0">
                <a:solidFill>
                  <a:srgbClr val="FFFFFF"/>
                </a:solidFill>
              </a:rPr>
              <a:t>ℛ_hier</a:t>
            </a:r>
            <a:endParaRPr lang="en-US" sz="2400" dirty="0"/>
          </a:p>
        </p:txBody>
      </p:sp>
      <p:sp>
        <p:nvSpPr>
          <p:cNvPr id="25" name="Text 23"/>
          <p:cNvSpPr/>
          <p:nvPr/>
        </p:nvSpPr>
        <p:spPr>
          <a:xfrm>
            <a:off x="7498080" y="4251960"/>
            <a:ext cx="3886200" cy="384048"/>
          </a:xfrm>
          <a:prstGeom prst="rect">
            <a:avLst/>
          </a:prstGeom>
          <a:noFill/>
          <a:ln/>
        </p:spPr>
        <p:txBody>
          <a:bodyPr wrap="square" rtlCol="0" anchor="ctr"/>
          <a:lstStyle/>
          <a:p>
            <a:pPr marL="0" indent="0">
              <a:buNone/>
            </a:pPr>
            <a:r>
              <a:rPr lang="en-US" sz="1600" b="1" dirty="0">
                <a:solidFill>
                  <a:srgbClr val="1B5E20"/>
                </a:solidFill>
              </a:rPr>
              <a:t>单向层级关系集</a:t>
            </a:r>
            <a:endParaRPr lang="en-US" sz="1600" dirty="0"/>
          </a:p>
        </p:txBody>
      </p:sp>
      <p:sp>
        <p:nvSpPr>
          <p:cNvPr id="26" name="Text 24"/>
          <p:cNvSpPr/>
          <p:nvPr/>
        </p:nvSpPr>
        <p:spPr>
          <a:xfrm>
            <a:off x="7498080" y="4663440"/>
            <a:ext cx="4206240" cy="1508760"/>
          </a:xfrm>
          <a:prstGeom prst="rect">
            <a:avLst/>
          </a:prstGeom>
          <a:noFill/>
          <a:ln/>
        </p:spPr>
        <p:txBody>
          <a:bodyPr wrap="square" rtlCol="0" anchor="t"/>
          <a:lstStyle/>
          <a:p>
            <a:pPr marL="0" indent="0">
              <a:buNone/>
            </a:pPr>
            <a:r>
              <a:rPr lang="en-US" sz="1600" dirty="0">
                <a:solidFill>
                  <a:srgbClr val="0D1B2A"/>
                </a:solidFill>
              </a:rPr>
              <a:t>由 ℳ 诱导生成的 subClassOf 三元组集合（1,253条）</a:t>
            </a:r>
            <a:endParaRPr lang="en-US" sz="1600" dirty="0"/>
          </a:p>
          <a:p>
            <a:pPr marL="0" indent="0">
              <a:buNone/>
            </a:pPr>
            <a:r>
              <a:rPr lang="en-US" sz="1600" dirty="0">
                <a:solidFill>
                  <a:srgbClr val="0D1B2A"/>
                </a:solidFill>
              </a:rPr>
              <a:t>单向（底层实例→抽象节点），无横向连接</a:t>
            </a:r>
            <a:endParaRPr lang="en-US" sz="1600" dirty="0"/>
          </a:p>
          <a:p>
            <a:pPr marL="0" indent="0">
              <a:buNone/>
            </a:pPr>
            <a:r>
              <a:rPr lang="en-US" sz="1600" dirty="0">
                <a:solidFill>
                  <a:srgbClr val="0D1B2A"/>
                </a:solidFill>
              </a:rPr>
              <a:t>不引入额外新实体</a:t>
            </a:r>
            <a:endParaRPr lang="en-US" sz="1600" dirty="0"/>
          </a:p>
        </p:txBody>
      </p:sp>
      <p:sp>
        <p:nvSpPr>
          <p:cNvPr id="27" name="Shape 25"/>
          <p:cNvSpPr/>
          <p:nvPr/>
        </p:nvSpPr>
        <p:spPr>
          <a:xfrm>
            <a:off x="274320" y="6355080"/>
            <a:ext cx="11612880" cy="411480"/>
          </a:xfrm>
          <a:prstGeom prst="rect">
            <a:avLst/>
          </a:prstGeom>
          <a:solidFill>
            <a:srgbClr val="FFF3E0"/>
          </a:solidFill>
          <a:ln w="12700">
            <a:solidFill>
              <a:srgbClr val="E65100"/>
            </a:solidFill>
            <a:prstDash val="solid"/>
          </a:ln>
        </p:spPr>
      </p:sp>
      <p:sp>
        <p:nvSpPr>
          <p:cNvPr id="28" name="Text 26"/>
          <p:cNvSpPr/>
          <p:nvPr/>
        </p:nvSpPr>
        <p:spPr>
          <a:xfrm>
            <a:off x="411480" y="6355080"/>
            <a:ext cx="11338560" cy="411480"/>
          </a:xfrm>
          <a:prstGeom prst="rect">
            <a:avLst/>
          </a:prstGeom>
          <a:noFill/>
          <a:ln/>
        </p:spPr>
        <p:txBody>
          <a:bodyPr wrap="square" rtlCol="0" anchor="ctr"/>
          <a:lstStyle/>
          <a:p>
            <a:pPr marL="0" indent="0">
              <a:buNone/>
            </a:pPr>
            <a:r>
              <a:rPr lang="en-US" sz="1150" dirty="0">
                <a:solidFill>
                  <a:srgbClr val="E65100"/>
                </a:solidFill>
              </a:rPr>
              <a:t>⚠  Ω_onto 作用于数据重构阶段，不是优化目标中的正则项 — 约束在数据层施加，不影响损失函数设计</a:t>
            </a:r>
            <a:endParaRPr lang="en-US" sz="1150" dirty="0"/>
          </a:p>
        </p:txBody>
      </p:sp>
      <p:sp>
        <p:nvSpPr>
          <p:cNvPr id="29" name="Text 27"/>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6/18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06  APT-Hier 三步构建：语义归纳 + 规则注入</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1005840"/>
            <a:ext cx="36576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1005840"/>
            <a:ext cx="3657600" cy="457200"/>
          </a:xfrm>
          <a:prstGeom prst="rect">
            <a:avLst/>
          </a:prstGeom>
          <a:solidFill>
            <a:srgbClr val="1A3A6B"/>
          </a:solidFill>
          <a:ln w="12700">
            <a:solidFill>
              <a:srgbClr val="1A3A6B"/>
            </a:solidFill>
            <a:prstDash val="solid"/>
          </a:ln>
        </p:spPr>
      </p:sp>
      <p:sp>
        <p:nvSpPr>
          <p:cNvPr id="7" name="Text 5"/>
          <p:cNvSpPr/>
          <p:nvPr/>
        </p:nvSpPr>
        <p:spPr>
          <a:xfrm>
            <a:off x="274320" y="100584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1  语义特征与层次聚类</a:t>
            </a:r>
            <a:endParaRPr lang="en-US" sz="1600" dirty="0"/>
          </a:p>
        </p:txBody>
      </p:sp>
      <p:sp>
        <p:nvSpPr>
          <p:cNvPr id="8" name="Text 6"/>
          <p:cNvSpPr/>
          <p:nvPr/>
        </p:nvSpPr>
        <p:spPr>
          <a:xfrm>
            <a:off x="411480" y="1536192"/>
            <a:ext cx="3383280" cy="4389120"/>
          </a:xfrm>
          <a:prstGeom prst="rect">
            <a:avLst/>
          </a:prstGeom>
          <a:noFill/>
          <a:ln/>
        </p:spPr>
        <p:txBody>
          <a:bodyPr wrap="square" rtlCol="0" anchor="t"/>
          <a:lstStyle/>
          <a:p>
            <a:r>
              <a:rPr lang="zh-CN" altLang="en-US" sz="1600" b="1" dirty="0">
                <a:solidFill>
                  <a:srgbClr val="1A3A6B"/>
                </a:solidFill>
                <a:latin typeface="Microsoft YaHei" panose="020B0503020204020204" pitchFamily="34" charset="-122"/>
                <a:ea typeface="Microsoft YaHei" panose="020B0503020204020204" pitchFamily="34" charset="-122"/>
              </a:rPr>
              <a:t>原始</a:t>
            </a:r>
            <a:r>
              <a:rPr lang="en-US" altLang="zh-CN" sz="1600" b="1" dirty="0">
                <a:solidFill>
                  <a:srgbClr val="1A3A6B"/>
                </a:solidFill>
                <a:latin typeface="Microsoft YaHei" panose="020B0503020204020204" pitchFamily="34" charset="-122"/>
                <a:ea typeface="Microsoft YaHei" panose="020B0503020204020204" pitchFamily="34" charset="-122"/>
              </a:rPr>
              <a:t> </a:t>
            </a:r>
            <a:r>
              <a:rPr lang="en-US" altLang="zh-CN" b="1" dirty="0">
                <a:solidFill>
                  <a:srgbClr val="1A3A6B"/>
                </a:solidFill>
                <a:ea typeface="Microsoft YaHei" panose="020B0503020204020204" pitchFamily="34" charset="-122"/>
              </a:rPr>
              <a:t>APT-Flat</a:t>
            </a:r>
            <a:endParaRPr lang="en-US" altLang="zh-CN" sz="1600" b="1" dirty="0">
              <a:solidFill>
                <a:srgbClr val="1A3A6B"/>
              </a:solidFill>
              <a:ea typeface="Microsoft YaHei" panose="020B0503020204020204" pitchFamily="34" charset="-122"/>
            </a:endParaRPr>
          </a:p>
          <a:p>
            <a:r>
              <a:rPr lang="zh-CN" altLang="zh-CN" sz="1600" dirty="0">
                <a:effectLst/>
                <a:ea typeface="Microsoft YaHei" panose="020B0503020204020204" pitchFamily="34" charset="-122"/>
                <a:cs typeface="Times New Roman" panose="02020603050405020304" pitchFamily="18" charset="0"/>
              </a:rPr>
              <a:t>包括</a:t>
            </a:r>
            <a:r>
              <a:rPr lang="en-US" altLang="zh-CN" sz="1600" dirty="0">
                <a:effectLst/>
                <a:ea typeface="Microsoft YaHei" panose="020B0503020204020204" pitchFamily="34" charset="-122"/>
              </a:rPr>
              <a:t> APT</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CAMPAIGN</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OS</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URL</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IP</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FILE</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MD5</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SHA1</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SHA2</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VULNAME</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VULID</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ACT</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MAL </a:t>
            </a:r>
            <a:r>
              <a:rPr lang="zh-CN" altLang="zh-CN" sz="1600" dirty="0">
                <a:effectLst/>
                <a:ea typeface="Microsoft YaHei" panose="020B0503020204020204" pitchFamily="34" charset="-122"/>
                <a:cs typeface="Times New Roman" panose="02020603050405020304" pitchFamily="18" charset="0"/>
              </a:rPr>
              <a:t>等</a:t>
            </a:r>
            <a:r>
              <a:rPr lang="en-US" altLang="zh-CN" sz="1600" dirty="0">
                <a:effectLst/>
                <a:ea typeface="Microsoft YaHei" panose="020B0503020204020204" pitchFamily="34" charset="-122"/>
              </a:rPr>
              <a:t> 21 </a:t>
            </a:r>
            <a:r>
              <a:rPr lang="zh-CN" altLang="zh-CN" sz="1600" dirty="0">
                <a:effectLst/>
                <a:ea typeface="Microsoft YaHei" panose="020B0503020204020204" pitchFamily="34" charset="-122"/>
                <a:cs typeface="Times New Roman" panose="02020603050405020304" pitchFamily="18" charset="0"/>
              </a:rPr>
              <a:t>类。</a:t>
            </a:r>
            <a:endParaRPr lang="en-US" altLang="zh-CN" sz="1600" b="1" dirty="0">
              <a:solidFill>
                <a:srgbClr val="1A3A6B"/>
              </a:solidFill>
              <a:ea typeface="Microsoft YaHei" panose="020B0503020204020204" pitchFamily="34" charset="-122"/>
            </a:endParaRPr>
          </a:p>
          <a:p>
            <a:r>
              <a:rPr lang="en-US" altLang="zh-CN" b="1" dirty="0">
                <a:solidFill>
                  <a:srgbClr val="1A3A6B"/>
                </a:solidFill>
              </a:rPr>
              <a:t> </a:t>
            </a:r>
          </a:p>
          <a:p>
            <a:r>
              <a:rPr lang="en-US" altLang="zh-CN" sz="1600" b="1" dirty="0">
                <a:solidFill>
                  <a:srgbClr val="1A3A6B"/>
                </a:solidFill>
              </a:rPr>
              <a:t>①</a:t>
            </a:r>
            <a:r>
              <a:rPr lang="en-US" sz="1600" b="1" dirty="0">
                <a:solidFill>
                  <a:srgbClr val="1A3A6B"/>
                </a:solidFill>
              </a:rPr>
              <a:t> 成对余弦相似度矩阵</a:t>
            </a:r>
            <a:endParaRPr lang="en-US" sz="1600" dirty="0"/>
          </a:p>
          <a:p>
            <a:pPr marL="285750" indent="-285750">
              <a:buFont typeface="Arial" panose="020B0604020202020204" pitchFamily="34" charset="0"/>
              <a:buChar char="•"/>
            </a:pPr>
            <a:r>
              <a:rPr lang="en-US" sz="1600" dirty="0">
                <a:solidFill>
                  <a:srgbClr val="0D1B2A"/>
                </a:solidFill>
              </a:rPr>
              <a:t>S ∈ R^{21×21}</a:t>
            </a:r>
          </a:p>
          <a:p>
            <a:pPr marL="285750" indent="-285750">
              <a:buFont typeface="Arial" panose="020B0604020202020204" pitchFamily="34" charset="0"/>
              <a:buChar char="•"/>
            </a:pPr>
            <a:r>
              <a:rPr lang="en-US" sz="1600" dirty="0" err="1">
                <a:solidFill>
                  <a:srgbClr val="0D1B2A"/>
                </a:solidFill>
              </a:rPr>
              <a:t>对角高亮块揭示同源聚合</a:t>
            </a:r>
            <a:r>
              <a:rPr lang="en-US" sz="1600" dirty="0">
                <a:solidFill>
                  <a:srgbClr val="0D1B2A"/>
                </a:solidFill>
              </a:rPr>
              <a:t>
MD5/SHA1/SHA2 </a:t>
            </a:r>
            <a:r>
              <a:rPr lang="en-US" sz="1600" dirty="0" err="1">
                <a:solidFill>
                  <a:srgbClr val="0D1B2A"/>
                </a:solidFill>
              </a:rPr>
              <a:t>极强内聚</a:t>
            </a:r>
            <a:endParaRPr lang="en-US" sz="1600" dirty="0">
              <a:solidFill>
                <a:srgbClr val="0D1B2A"/>
              </a:solidFill>
            </a:endParaRPr>
          </a:p>
          <a:p>
            <a:r>
              <a:rPr lang="en-US" sz="1600" dirty="0">
                <a:solidFill>
                  <a:srgbClr val="0D1B2A"/>
                </a:solidFill>
              </a:rPr>
              <a:t>
</a:t>
            </a:r>
            <a:r>
              <a:rPr lang="en-US" altLang="zh-CN" sz="1600" b="1" dirty="0">
                <a:solidFill>
                  <a:srgbClr val="1A3A6B"/>
                </a:solidFill>
              </a:rPr>
              <a:t> ②</a:t>
            </a:r>
            <a:r>
              <a:rPr lang="en-US" sz="1600" b="1" dirty="0">
                <a:solidFill>
                  <a:srgbClr val="1A3A6B"/>
                </a:solidFill>
              </a:rPr>
              <a:t> Ward 最小方差层次聚类</a:t>
            </a:r>
            <a:endParaRPr lang="en-US" sz="1600" dirty="0"/>
          </a:p>
          <a:p>
            <a:pPr marL="285750" indent="-285750">
              <a:buFont typeface="Arial" panose="020B0604020202020204" pitchFamily="34" charset="0"/>
              <a:buChar char="•"/>
            </a:pPr>
            <a:r>
              <a:rPr lang="en-US" sz="1600" dirty="0" err="1">
                <a:solidFill>
                  <a:srgbClr val="0D1B2A"/>
                </a:solidFill>
              </a:rPr>
              <a:t>基于相似度结构进行层次聚合</a:t>
            </a:r>
            <a:endParaRPr lang="en-US" sz="1600" dirty="0">
              <a:solidFill>
                <a:srgbClr val="0D1B2A"/>
              </a:solidFill>
            </a:endParaRPr>
          </a:p>
          <a:p>
            <a:pPr marL="285750" indent="-285750">
              <a:buFont typeface="Arial" panose="020B0604020202020204" pitchFamily="34" charset="0"/>
              <a:buChar char="•"/>
            </a:pPr>
            <a:r>
              <a:rPr lang="en-US" sz="1600" dirty="0" err="1">
                <a:solidFill>
                  <a:srgbClr val="0D1B2A"/>
                </a:solidFill>
              </a:rPr>
              <a:t>收敛为</a:t>
            </a:r>
            <a:r>
              <a:rPr lang="en-US" sz="1600" dirty="0">
                <a:solidFill>
                  <a:srgbClr val="0D1B2A"/>
                </a:solidFill>
              </a:rPr>
              <a:t> 7 个结构稳定簇分支</a:t>
            </a:r>
            <a:endParaRPr lang="en-US" sz="1600" dirty="0"/>
          </a:p>
        </p:txBody>
      </p:sp>
      <p:sp>
        <p:nvSpPr>
          <p:cNvPr id="9" name="Text 7"/>
          <p:cNvSpPr/>
          <p:nvPr/>
        </p:nvSpPr>
        <p:spPr>
          <a:xfrm>
            <a:off x="3959352" y="3200400"/>
            <a:ext cx="384048" cy="457200"/>
          </a:xfrm>
          <a:prstGeom prst="rect">
            <a:avLst/>
          </a:prstGeom>
          <a:noFill/>
          <a:ln/>
        </p:spPr>
        <p:txBody>
          <a:bodyPr wrap="square" rtlCol="0" anchor="ctr"/>
          <a:lstStyle/>
          <a:p>
            <a:pPr marL="0" indent="0" algn="ctr">
              <a:buNone/>
            </a:pPr>
            <a:r>
              <a:rPr lang="en-US" sz="2400" b="1" dirty="0">
                <a:solidFill>
                  <a:srgbClr val="00B4CC"/>
                </a:solidFill>
              </a:rPr>
              <a:t>→</a:t>
            </a:r>
            <a:endParaRPr lang="en-US" sz="2400" dirty="0"/>
          </a:p>
        </p:txBody>
      </p:sp>
      <p:sp>
        <p:nvSpPr>
          <p:cNvPr id="10" name="Shape 8"/>
          <p:cNvSpPr/>
          <p:nvPr/>
        </p:nvSpPr>
        <p:spPr>
          <a:xfrm>
            <a:off x="4370832" y="1005840"/>
            <a:ext cx="36576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1" name="Shape 9"/>
          <p:cNvSpPr/>
          <p:nvPr/>
        </p:nvSpPr>
        <p:spPr>
          <a:xfrm>
            <a:off x="4370832" y="1005840"/>
            <a:ext cx="3657600" cy="457200"/>
          </a:xfrm>
          <a:prstGeom prst="rect">
            <a:avLst/>
          </a:prstGeom>
          <a:solidFill>
            <a:srgbClr val="006579"/>
          </a:solidFill>
          <a:ln w="12700">
            <a:solidFill>
              <a:srgbClr val="006579"/>
            </a:solidFill>
            <a:prstDash val="solid"/>
          </a:ln>
        </p:spPr>
      </p:sp>
      <p:sp>
        <p:nvSpPr>
          <p:cNvPr id="12" name="Text 10"/>
          <p:cNvSpPr/>
          <p:nvPr/>
        </p:nvSpPr>
        <p:spPr>
          <a:xfrm>
            <a:off x="4370832" y="100584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2  LLM </a:t>
            </a:r>
            <a:r>
              <a:rPr lang="en-US" sz="1600" b="1" dirty="0" err="1">
                <a:solidFill>
                  <a:srgbClr val="FFFFFF"/>
                </a:solidFill>
              </a:rPr>
              <a:t>辅助语义对齐</a:t>
            </a:r>
            <a:endParaRPr lang="en-US" sz="1600" dirty="0"/>
          </a:p>
        </p:txBody>
      </p:sp>
      <p:sp>
        <p:nvSpPr>
          <p:cNvPr id="14" name="Text 12"/>
          <p:cNvSpPr/>
          <p:nvPr/>
        </p:nvSpPr>
        <p:spPr>
          <a:xfrm>
            <a:off x="8074152" y="3200400"/>
            <a:ext cx="384048" cy="457200"/>
          </a:xfrm>
          <a:prstGeom prst="rect">
            <a:avLst/>
          </a:prstGeom>
          <a:noFill/>
          <a:ln/>
        </p:spPr>
        <p:txBody>
          <a:bodyPr wrap="square" rtlCol="0" anchor="ctr"/>
          <a:lstStyle/>
          <a:p>
            <a:pPr marL="0" indent="0" algn="ctr">
              <a:buNone/>
            </a:pPr>
            <a:r>
              <a:rPr lang="en-US" sz="2400" b="1" dirty="0">
                <a:solidFill>
                  <a:srgbClr val="00B4CC"/>
                </a:solidFill>
              </a:rPr>
              <a:t>→</a:t>
            </a:r>
            <a:endParaRPr lang="en-US" sz="2400" dirty="0"/>
          </a:p>
        </p:txBody>
      </p:sp>
      <p:sp>
        <p:nvSpPr>
          <p:cNvPr id="15" name="Shape 13"/>
          <p:cNvSpPr/>
          <p:nvPr/>
        </p:nvSpPr>
        <p:spPr>
          <a:xfrm>
            <a:off x="8485632" y="1005840"/>
            <a:ext cx="34290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6" name="Shape 14"/>
          <p:cNvSpPr/>
          <p:nvPr/>
        </p:nvSpPr>
        <p:spPr>
          <a:xfrm>
            <a:off x="8485632" y="1005840"/>
            <a:ext cx="3429000" cy="457200"/>
          </a:xfrm>
          <a:prstGeom prst="rect">
            <a:avLst/>
          </a:prstGeom>
          <a:solidFill>
            <a:srgbClr val="1B5E20"/>
          </a:solidFill>
          <a:ln w="12700">
            <a:solidFill>
              <a:srgbClr val="1B5E20"/>
            </a:solidFill>
            <a:prstDash val="solid"/>
          </a:ln>
        </p:spPr>
      </p:sp>
      <p:sp>
        <p:nvSpPr>
          <p:cNvPr id="17" name="Text 15"/>
          <p:cNvSpPr/>
          <p:nvPr/>
        </p:nvSpPr>
        <p:spPr>
          <a:xfrm>
            <a:off x="8485632" y="1005840"/>
            <a:ext cx="34290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3  确定性规则注入</a:t>
            </a:r>
            <a:endParaRPr lang="en-US" sz="1600" dirty="0"/>
          </a:p>
        </p:txBody>
      </p:sp>
      <p:sp>
        <p:nvSpPr>
          <p:cNvPr id="18" name="Text 16"/>
          <p:cNvSpPr/>
          <p:nvPr/>
        </p:nvSpPr>
        <p:spPr>
          <a:xfrm>
            <a:off x="8622792" y="1536192"/>
            <a:ext cx="3154680" cy="4389120"/>
          </a:xfrm>
          <a:prstGeom prst="rect">
            <a:avLst/>
          </a:prstGeom>
          <a:noFill/>
          <a:ln/>
        </p:spPr>
        <p:txBody>
          <a:bodyPr wrap="square" rtlCol="0" anchor="t"/>
          <a:lstStyle/>
          <a:p>
            <a:pPr marL="0" indent="0">
              <a:buNone/>
            </a:pPr>
            <a:r>
              <a:rPr lang="en-US" sz="1600" b="1" dirty="0">
                <a:solidFill>
                  <a:srgbClr val="B71C1C"/>
                </a:solidFill>
              </a:rPr>
              <a:t>不使用 LLM 生成关系</a:t>
            </a:r>
            <a:endParaRPr lang="en-US" sz="1600" dirty="0"/>
          </a:p>
          <a:p>
            <a:pPr marL="0" indent="0">
              <a:buNone/>
            </a:pPr>
            <a:r>
              <a:rPr lang="en-US" sz="1600" dirty="0">
                <a:solidFill>
                  <a:srgbClr val="0D1B2A"/>
                </a:solidFill>
              </a:rPr>
              <a:t>仅用 LLM 做高层命名
</a:t>
            </a:r>
            <a:r>
              <a:rPr lang="en-US" sz="1600" b="1" dirty="0">
                <a:solidFill>
                  <a:srgbClr val="1B5E20"/>
                </a:solidFill>
              </a:rPr>
              <a:t>三条约束原则</a:t>
            </a:r>
            <a:endParaRPr lang="en-US" sz="1600" dirty="0"/>
          </a:p>
          <a:p>
            <a:pPr marL="0" indent="0">
              <a:buNone/>
            </a:pPr>
            <a:r>
              <a:rPr lang="en-US" sz="1600" dirty="0">
                <a:solidFill>
                  <a:srgbClr val="0D1B2A"/>
                </a:solidFill>
              </a:rPr>
              <a:t>① 闭集词表约束
② 单向映射（底层→高层）
③ 语义一致性（确定性字典）
</a:t>
            </a:r>
            <a:r>
              <a:rPr lang="en-US" sz="1600" b="1" dirty="0">
                <a:solidFill>
                  <a:srgbClr val="1B5E20"/>
                </a:solidFill>
              </a:rPr>
              <a:t>注入规模</a:t>
            </a:r>
            <a:endParaRPr lang="en-US" sz="1600" dirty="0"/>
          </a:p>
          <a:p>
            <a:pPr marL="0" indent="0">
              <a:buNone/>
            </a:pPr>
            <a:r>
              <a:rPr lang="en-US" sz="1600" dirty="0">
                <a:solidFill>
                  <a:srgbClr val="0D1B2A"/>
                </a:solidFill>
              </a:rPr>
              <a:t>1,253 条 subClassOf
三元组精准生成
代码级校验（零随机生成）
</a:t>
            </a:r>
            <a:r>
              <a:rPr lang="en-US" sz="1600" b="1" dirty="0">
                <a:solidFill>
                  <a:srgbClr val="1B5E20"/>
                </a:solidFill>
              </a:rPr>
              <a:t>风险规避</a:t>
            </a:r>
            <a:endParaRPr lang="en-US" sz="1600" dirty="0"/>
          </a:p>
          <a:p>
            <a:pPr marL="0" indent="0">
              <a:buNone/>
            </a:pPr>
            <a:r>
              <a:rPr lang="en-US" sz="1600" dirty="0">
                <a:solidFill>
                  <a:srgbClr val="0D1B2A"/>
                </a:solidFill>
              </a:rPr>
              <a:t>从源头切断事实幻觉</a:t>
            </a:r>
            <a:endParaRPr lang="en-US" sz="1600" dirty="0"/>
          </a:p>
          <a:p>
            <a:pPr marL="0" indent="0">
              <a:buNone/>
            </a:pPr>
            <a:r>
              <a:rPr lang="en-US" sz="1600" dirty="0">
                <a:solidFill>
                  <a:srgbClr val="0D1B2A"/>
                </a:solidFill>
              </a:rPr>
              <a:t>与语义漂移风险</a:t>
            </a:r>
            <a:endParaRPr lang="en-US" sz="1600" dirty="0"/>
          </a:p>
        </p:txBody>
      </p:sp>
      <p:sp>
        <p:nvSpPr>
          <p:cNvPr id="19" name="Text 17"/>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7/18</a:t>
            </a:r>
            <a:endParaRPr lang="en-US" sz="900" dirty="0"/>
          </a:p>
        </p:txBody>
      </p:sp>
      <p:sp>
        <p:nvSpPr>
          <p:cNvPr id="21" name="矩形 20">
            <a:extLst>
              <a:ext uri="{FF2B5EF4-FFF2-40B4-BE49-F238E27FC236}">
                <a16:creationId xmlns:a16="http://schemas.microsoft.com/office/drawing/2014/main" id="{E06CAFA9-F127-886A-9746-381739AB5426}"/>
              </a:ext>
            </a:extLst>
          </p:cNvPr>
          <p:cNvSpPr/>
          <p:nvPr/>
        </p:nvSpPr>
        <p:spPr>
          <a:xfrm>
            <a:off x="7712178" y="241530"/>
            <a:ext cx="1127232" cy="517422"/>
          </a:xfrm>
          <a:prstGeom prst="rect">
            <a:avLst/>
          </a:prstGeom>
          <a:solidFill>
            <a:srgbClr val="00647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AE055C2E-A247-7C73-2CA1-4A66ADB17081}"/>
              </a:ext>
            </a:extLst>
          </p:cNvPr>
          <p:cNvSpPr txBox="1"/>
          <p:nvPr/>
        </p:nvSpPr>
        <p:spPr>
          <a:xfrm>
            <a:off x="7712178" y="330938"/>
            <a:ext cx="1127232" cy="338554"/>
          </a:xfrm>
          <a:prstGeom prst="rect">
            <a:avLst/>
          </a:prstGeom>
          <a:solidFill>
            <a:srgbClr val="006479"/>
          </a:solidFill>
        </p:spPr>
        <p:txBody>
          <a:bodyPr wrap="none" rtlCol="0">
            <a:spAutoFit/>
          </a:bodyPr>
          <a:lstStyle/>
          <a:p>
            <a:r>
              <a:rPr kumimoji="1" lang="zh-CN" altLang="en-US" sz="1600" dirty="0">
                <a:solidFill>
                  <a:schemeClr val="bg1"/>
                </a:solidFill>
                <a:latin typeface="Microsoft YaHei" panose="020B0503020204020204" pitchFamily="34" charset="-122"/>
                <a:ea typeface="Microsoft YaHei" panose="020B0503020204020204" pitchFamily="34" charset="-122"/>
              </a:rPr>
              <a:t> 预研驱动 </a:t>
            </a:r>
          </a:p>
        </p:txBody>
      </p:sp>
      <p:sp>
        <p:nvSpPr>
          <p:cNvPr id="22" name="Text 11">
            <a:extLst>
              <a:ext uri="{FF2B5EF4-FFF2-40B4-BE49-F238E27FC236}">
                <a16:creationId xmlns:a16="http://schemas.microsoft.com/office/drawing/2014/main" id="{FBA1470B-03DD-6F4A-A487-F886E0EDAD73}"/>
              </a:ext>
            </a:extLst>
          </p:cNvPr>
          <p:cNvSpPr/>
          <p:nvPr/>
        </p:nvSpPr>
        <p:spPr>
          <a:xfrm>
            <a:off x="4507992" y="1536192"/>
            <a:ext cx="3383280" cy="4389120"/>
          </a:xfrm>
          <a:prstGeom prst="rect">
            <a:avLst/>
          </a:prstGeom>
          <a:noFill/>
          <a:ln/>
        </p:spPr>
        <p:txBody>
          <a:bodyPr wrap="square" rtlCol="0" anchor="t"/>
          <a:lstStyle/>
          <a:p>
            <a:pPr marL="0" indent="0">
              <a:buNone/>
            </a:pPr>
            <a:r>
              <a:rPr lang="en-US" sz="1600" b="1" dirty="0">
                <a:solidFill>
                  <a:srgbClr val="006579"/>
                </a:solidFill>
              </a:rPr>
              <a:t>GPT-4 命名（受控闭集）</a:t>
            </a:r>
            <a:endParaRPr lang="en-US" sz="1600" dirty="0"/>
          </a:p>
          <a:p>
            <a:pPr marL="0" indent="0">
              <a:buNone/>
            </a:pPr>
            <a:r>
              <a:rPr lang="en-US" sz="1400" dirty="0">
                <a:solidFill>
                  <a:srgbClr val="0D1B2A"/>
                </a:solidFill>
              </a:rPr>
              <a:t>输入各簇的细粒度标签列表
要求结合安全背景生成高层名称</a:t>
            </a:r>
            <a:r>
              <a:rPr lang="en-US" sz="1600" dirty="0">
                <a:solidFill>
                  <a:srgbClr val="0D1B2A"/>
                </a:solidFill>
              </a:rPr>
              <a:t>
</a:t>
            </a:r>
            <a:r>
              <a:rPr lang="en-US" sz="1600" b="1" dirty="0">
                <a:solidFill>
                  <a:srgbClr val="006579"/>
                </a:solidFill>
              </a:rPr>
              <a:t>7 个高层抽象节点 𝒞</a:t>
            </a:r>
            <a:endParaRPr lang="en-US" sz="1600" dirty="0"/>
          </a:p>
          <a:p>
            <a:pPr marL="0" indent="0">
              <a:buNone/>
            </a:pPr>
            <a:r>
              <a:rPr lang="en-US" sz="1600" dirty="0" err="1">
                <a:solidFill>
                  <a:srgbClr val="0D1B2A"/>
                </a:solidFill>
              </a:rPr>
              <a:t>Strategic_Core</a:t>
            </a:r>
            <a:r>
              <a:rPr lang="en-US" sz="1600" dirty="0">
                <a:solidFill>
                  <a:srgbClr val="0D1B2A"/>
                </a:solidFill>
              </a:rPr>
              <a:t>, Context,
</a:t>
            </a:r>
            <a:r>
              <a:rPr lang="en-US" sz="1600" dirty="0" err="1">
                <a:solidFill>
                  <a:srgbClr val="0D1B2A"/>
                </a:solidFill>
              </a:rPr>
              <a:t>Target_System</a:t>
            </a:r>
            <a:r>
              <a:rPr lang="en-US" sz="1600" dirty="0">
                <a:solidFill>
                  <a:srgbClr val="0D1B2A"/>
                </a:solidFill>
              </a:rPr>
              <a:t>, Methodology
</a:t>
            </a:r>
            <a:r>
              <a:rPr lang="en-US" sz="1600" dirty="0" err="1">
                <a:solidFill>
                  <a:srgbClr val="0D1B2A"/>
                </a:solidFill>
              </a:rPr>
              <a:t>Attack_Resource</a:t>
            </a:r>
            <a:r>
              <a:rPr lang="en-US" sz="1600" dirty="0">
                <a:solidFill>
                  <a:srgbClr val="0D1B2A"/>
                </a:solidFill>
              </a:rPr>
              <a:t>,
</a:t>
            </a:r>
            <a:r>
              <a:rPr lang="en-US" sz="1600" dirty="0" err="1">
                <a:solidFill>
                  <a:srgbClr val="0D1B2A"/>
                </a:solidFill>
              </a:rPr>
              <a:t>IOC_Network</a:t>
            </a:r>
            <a:r>
              <a:rPr lang="en-US" sz="1600" dirty="0">
                <a:solidFill>
                  <a:srgbClr val="0D1B2A"/>
                </a:solidFill>
              </a:rPr>
              <a:t>, </a:t>
            </a:r>
            <a:r>
              <a:rPr lang="en-US" sz="1600" dirty="0" err="1">
                <a:solidFill>
                  <a:srgbClr val="0D1B2A"/>
                </a:solidFill>
              </a:rPr>
              <a:t>IOC_Hash</a:t>
            </a:r>
            <a:r>
              <a:rPr lang="en-US" sz="1600" dirty="0">
                <a:solidFill>
                  <a:srgbClr val="0D1B2A"/>
                </a:solidFill>
              </a:rPr>
              <a:t>
</a:t>
            </a:r>
            <a:r>
              <a:rPr lang="en-US" sz="1600" b="1" dirty="0" err="1">
                <a:solidFill>
                  <a:srgbClr val="B71C1C"/>
                </a:solidFill>
              </a:rPr>
              <a:t>权威框架锚定</a:t>
            </a:r>
            <a:endParaRPr lang="en-US" sz="1600" dirty="0"/>
          </a:p>
          <a:p>
            <a:pPr marL="0" indent="0">
              <a:buNone/>
            </a:pPr>
            <a:r>
              <a:rPr lang="en-US" sz="1400" dirty="0">
                <a:solidFill>
                  <a:srgbClr val="0D1B2A"/>
                </a:solidFill>
              </a:rPr>
              <a:t>STIX 2.1 × MITRE ATT&amp;CK </a:t>
            </a:r>
            <a:r>
              <a:rPr lang="en-US" sz="1400" dirty="0" err="1">
                <a:solidFill>
                  <a:srgbClr val="0D1B2A"/>
                </a:solidFill>
              </a:rPr>
              <a:t>交叉验证</a:t>
            </a:r>
            <a:endParaRPr lang="en-US" sz="1400" dirty="0">
              <a:solidFill>
                <a:srgbClr val="0D1B2A"/>
              </a:solidFill>
            </a:endParaRPr>
          </a:p>
          <a:p>
            <a:pPr marL="0" indent="0">
              <a:buNone/>
            </a:pPr>
            <a:r>
              <a:rPr lang="zh-CN" altLang="zh-CN" sz="1400" dirty="0">
                <a:effectLst/>
                <a:ea typeface="Microsoft YaHei" panose="020B0503020204020204" pitchFamily="34" charset="-122"/>
                <a:cs typeface="宋体" panose="02010600030101010101" pitchFamily="2" charset="-122"/>
              </a:rPr>
              <a:t>确认这</a:t>
            </a:r>
            <a:r>
              <a:rPr lang="en-US" altLang="zh-CN" sz="1400" dirty="0">
                <a:effectLst/>
                <a:ea typeface="Microsoft YaHei" panose="020B0503020204020204" pitchFamily="34" charset="-122"/>
                <a:cs typeface="宋体" panose="02010600030101010101" pitchFamily="2" charset="-122"/>
              </a:rPr>
              <a:t> 7 </a:t>
            </a:r>
            <a:r>
              <a:rPr lang="zh-CN" altLang="zh-CN" sz="1400" dirty="0">
                <a:effectLst/>
                <a:ea typeface="Microsoft YaHei" panose="020B0503020204020204" pitchFamily="34" charset="-122"/>
                <a:cs typeface="宋体" panose="02010600030101010101" pitchFamily="2" charset="-122"/>
              </a:rPr>
              <a:t>个节点的命名在网安领域有可解释的标准对应</a:t>
            </a:r>
            <a:endParaRPr lang="en-US" altLang="zh-CN" sz="1400" dirty="0">
              <a:effectLst/>
              <a:ea typeface="Microsoft YaHei" panose="020B0503020204020204" pitchFamily="34" charset="-122"/>
              <a:cs typeface="宋体" panose="02010600030101010101" pitchFamily="2" charset="-122"/>
            </a:endParaRPr>
          </a:p>
          <a:p>
            <a:pPr marL="0" indent="0">
              <a:buNone/>
            </a:pPr>
            <a:endParaRPr lang="en-US" sz="1600" dirty="0">
              <a:solidFill>
                <a:srgbClr val="006479"/>
              </a:solidFill>
              <a:ea typeface="Microsoft YaHei" panose="020B0503020204020204" pitchFamily="34" charset="-122"/>
            </a:endParaRPr>
          </a:p>
          <a:p>
            <a:pPr marL="0" indent="0">
              <a:buNone/>
            </a:pPr>
            <a:r>
              <a:rPr lang="en" altLang="zh-CN" sz="1600" b="1" dirty="0">
                <a:solidFill>
                  <a:srgbClr val="006479"/>
                </a:solidFill>
                <a:latin typeface="Microsoft YaHei" panose="020B0503020204020204" pitchFamily="34" charset="-122"/>
                <a:ea typeface="Microsoft YaHei" panose="020B0503020204020204" pitchFamily="34" charset="-122"/>
              </a:rPr>
              <a:t>LLM </a:t>
            </a:r>
            <a:r>
              <a:rPr lang="zh-CN" altLang="en-US" sz="1600" b="1" dirty="0">
                <a:solidFill>
                  <a:srgbClr val="006479"/>
                </a:solidFill>
                <a:latin typeface="Microsoft YaHei" panose="020B0503020204020204" pitchFamily="34" charset="-122"/>
                <a:ea typeface="Microsoft YaHei" panose="020B0503020204020204" pitchFamily="34" charset="-122"/>
              </a:rPr>
              <a:t>能力的实证验证</a:t>
            </a:r>
            <a:endParaRPr lang="en-US" altLang="zh-CN" sz="1600" b="1" dirty="0">
              <a:solidFill>
                <a:srgbClr val="006479"/>
              </a:solidFill>
              <a:latin typeface="Microsoft YaHei" panose="020B0503020204020204" pitchFamily="34" charset="-122"/>
              <a:ea typeface="Microsoft YaHei" panose="020B0503020204020204" pitchFamily="34" charset="-122"/>
            </a:endParaRPr>
          </a:p>
          <a:p>
            <a:r>
              <a:rPr lang="zh-CN" altLang="en-US" sz="1400" dirty="0">
                <a:ea typeface="Microsoft YaHei" panose="020B0503020204020204" pitchFamily="34" charset="-122"/>
              </a:rPr>
              <a:t>只提供真实三元组语境</a:t>
            </a:r>
            <a:r>
              <a:rPr lang="en-US" altLang="zh-CN" sz="1400" dirty="0">
                <a:ea typeface="Microsoft YaHei" panose="020B0503020204020204" pitchFamily="34" charset="-122"/>
              </a:rPr>
              <a:t>,</a:t>
            </a:r>
            <a:r>
              <a:rPr lang="zh-CN" altLang="en-US" sz="1400" dirty="0">
                <a:ea typeface="Microsoft YaHei" panose="020B0503020204020204" pitchFamily="34" charset="-122"/>
              </a:rPr>
              <a:t>让 </a:t>
            </a:r>
            <a:r>
              <a:rPr lang="en" altLang="zh-CN" sz="1600" dirty="0">
                <a:ea typeface="Microsoft YaHei" panose="020B0503020204020204" pitchFamily="34" charset="-122"/>
              </a:rPr>
              <a:t>LLM</a:t>
            </a:r>
            <a:r>
              <a:rPr lang="en" altLang="zh-CN" sz="1400" dirty="0">
                <a:ea typeface="Microsoft YaHei" panose="020B0503020204020204" pitchFamily="34" charset="-122"/>
              </a:rPr>
              <a:t> </a:t>
            </a:r>
            <a:r>
              <a:rPr lang="zh-CN" altLang="en-US" sz="1400" dirty="0">
                <a:ea typeface="Microsoft YaHei" panose="020B0503020204020204" pitchFamily="34" charset="-122"/>
              </a:rPr>
              <a:t>在闭集约束下独立推断它们的语义角色</a:t>
            </a:r>
            <a:endParaRPr lang="en-US" altLang="zh-CN" sz="1400" dirty="0">
              <a:ea typeface="Microsoft YaHei" panose="020B0503020204020204" pitchFamily="34" charset="-122"/>
            </a:endParaRPr>
          </a:p>
          <a:p>
            <a:pPr marL="0" indent="0">
              <a:buNone/>
            </a:pPr>
            <a:r>
              <a:rPr lang="zh-CN" altLang="en-US" sz="1400" dirty="0">
                <a:latin typeface="Microsoft YaHei" panose="020B0503020204020204" pitchFamily="34" charset="-122"/>
                <a:ea typeface="Microsoft YaHei" panose="020B0503020204020204" pitchFamily="34" charset="-122"/>
              </a:rPr>
              <a:t>语境消歧准确率 </a:t>
            </a:r>
            <a:r>
              <a:rPr lang="en-US" altLang="zh-CN" sz="1400" dirty="0">
                <a:latin typeface="Microsoft YaHei" panose="020B0503020204020204" pitchFamily="34" charset="-122"/>
                <a:ea typeface="Microsoft YaHei" panose="020B0503020204020204" pitchFamily="34" charset="-122"/>
              </a:rPr>
              <a:t>81%</a:t>
            </a:r>
            <a:endParaRPr lang="en-US" sz="2000" dirty="0">
              <a:latin typeface="Microsoft YaHei" panose="020B0503020204020204" pitchFamily="34" charset="-122"/>
              <a:ea typeface="Microsoft YaHei"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06  APT-Hier 三步构建：语义归纳 + 规则注入</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1005840"/>
            <a:ext cx="36576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1005840"/>
            <a:ext cx="3657600" cy="457200"/>
          </a:xfrm>
          <a:prstGeom prst="rect">
            <a:avLst/>
          </a:prstGeom>
          <a:solidFill>
            <a:srgbClr val="1A3A6B"/>
          </a:solidFill>
          <a:ln w="12700">
            <a:solidFill>
              <a:srgbClr val="1A3A6B"/>
            </a:solidFill>
            <a:prstDash val="solid"/>
          </a:ln>
        </p:spPr>
      </p:sp>
      <p:sp>
        <p:nvSpPr>
          <p:cNvPr id="7" name="Text 5"/>
          <p:cNvSpPr/>
          <p:nvPr/>
        </p:nvSpPr>
        <p:spPr>
          <a:xfrm>
            <a:off x="274320" y="100584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1  语义特征与层次聚类</a:t>
            </a:r>
            <a:endParaRPr lang="en-US" sz="1600" dirty="0"/>
          </a:p>
        </p:txBody>
      </p:sp>
      <p:sp>
        <p:nvSpPr>
          <p:cNvPr id="19" name="Text 17"/>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7/18</a:t>
            </a:r>
            <a:endParaRPr lang="en-US" sz="900" dirty="0"/>
          </a:p>
        </p:txBody>
      </p:sp>
      <p:pic>
        <p:nvPicPr>
          <p:cNvPr id="20" name="图片 19">
            <a:extLst>
              <a:ext uri="{FF2B5EF4-FFF2-40B4-BE49-F238E27FC236}">
                <a16:creationId xmlns:a16="http://schemas.microsoft.com/office/drawing/2014/main" id="{06CC882B-5EE6-B29E-602B-9A95AD81DB74}"/>
              </a:ext>
            </a:extLst>
          </p:cNvPr>
          <p:cNvPicPr>
            <a:picLocks noChangeAspect="1"/>
          </p:cNvPicPr>
          <p:nvPr/>
        </p:nvPicPr>
        <p:blipFill>
          <a:blip r:embed="rId4"/>
          <a:stretch>
            <a:fillRect/>
          </a:stretch>
        </p:blipFill>
        <p:spPr>
          <a:xfrm>
            <a:off x="4114800" y="1195189"/>
            <a:ext cx="7772400" cy="4656971"/>
          </a:xfrm>
          <a:prstGeom prst="rect">
            <a:avLst/>
          </a:prstGeom>
        </p:spPr>
      </p:pic>
      <p:pic>
        <p:nvPicPr>
          <p:cNvPr id="21" name="图片 20">
            <a:extLst>
              <a:ext uri="{FF2B5EF4-FFF2-40B4-BE49-F238E27FC236}">
                <a16:creationId xmlns:a16="http://schemas.microsoft.com/office/drawing/2014/main" id="{834B7ADE-B02E-D9C6-94B7-9ADD84BA796E}"/>
              </a:ext>
            </a:extLst>
          </p:cNvPr>
          <p:cNvPicPr>
            <a:picLocks noChangeAspect="1"/>
          </p:cNvPicPr>
          <p:nvPr/>
        </p:nvPicPr>
        <p:blipFill>
          <a:blip r:embed="rId5"/>
          <a:stretch>
            <a:fillRect/>
          </a:stretch>
        </p:blipFill>
        <p:spPr>
          <a:xfrm>
            <a:off x="5841000" y="1398859"/>
            <a:ext cx="4320000" cy="4060281"/>
          </a:xfrm>
          <a:prstGeom prst="rect">
            <a:avLst/>
          </a:prstGeom>
        </p:spPr>
      </p:pic>
      <p:sp>
        <p:nvSpPr>
          <p:cNvPr id="8" name="Text 6">
            <a:extLst>
              <a:ext uri="{FF2B5EF4-FFF2-40B4-BE49-F238E27FC236}">
                <a16:creationId xmlns:a16="http://schemas.microsoft.com/office/drawing/2014/main" id="{35095CC1-18F8-FD82-D98A-8CFC29722DEA}"/>
              </a:ext>
            </a:extLst>
          </p:cNvPr>
          <p:cNvSpPr/>
          <p:nvPr/>
        </p:nvSpPr>
        <p:spPr>
          <a:xfrm>
            <a:off x="411480" y="1536192"/>
            <a:ext cx="3383280" cy="4389120"/>
          </a:xfrm>
          <a:prstGeom prst="rect">
            <a:avLst/>
          </a:prstGeom>
          <a:noFill/>
          <a:ln/>
        </p:spPr>
        <p:txBody>
          <a:bodyPr wrap="square" rtlCol="0" anchor="t"/>
          <a:lstStyle/>
          <a:p>
            <a:endParaRPr lang="en-US" sz="1600" b="1" dirty="0">
              <a:solidFill>
                <a:srgbClr val="1A3A6B"/>
              </a:solidFill>
            </a:endParaRPr>
          </a:p>
          <a:p>
            <a:r>
              <a:rPr lang="en-US" altLang="zh-CN" sz="1600" b="1" dirty="0">
                <a:solidFill>
                  <a:srgbClr val="1A3A6B"/>
                </a:solidFill>
              </a:rPr>
              <a:t> ①</a:t>
            </a:r>
            <a:r>
              <a:rPr lang="en-US" sz="1600" b="1" dirty="0">
                <a:solidFill>
                  <a:srgbClr val="1A3A6B"/>
                </a:solidFill>
              </a:rPr>
              <a:t> 成对余弦相似度矩阵</a:t>
            </a:r>
            <a:endParaRPr lang="en-US" sz="1600" dirty="0"/>
          </a:p>
          <a:p>
            <a:pPr marL="285750" indent="-285750">
              <a:buFont typeface="Arial" panose="020B0604020202020204" pitchFamily="34" charset="0"/>
              <a:buChar char="•"/>
            </a:pPr>
            <a:r>
              <a:rPr lang="zh-CN" altLang="zh-CN" sz="1600" dirty="0">
                <a:effectLst/>
                <a:ea typeface="Microsoft YaHei" panose="020B0503020204020204" pitchFamily="34" charset="-122"/>
                <a:cs typeface="宋体" panose="02010600030101010101" pitchFamily="2" charset="-122"/>
              </a:rPr>
              <a:t>输入语义描述到</a:t>
            </a:r>
            <a:r>
              <a:rPr lang="en-US" altLang="zh-CN" sz="1600" dirty="0">
                <a:effectLst/>
                <a:ea typeface="Microsoft YaHei" panose="020B0503020204020204" pitchFamily="34" charset="-122"/>
                <a:cs typeface="宋体" panose="02010600030101010101" pitchFamily="2" charset="-122"/>
              </a:rPr>
              <a:t> </a:t>
            </a:r>
            <a:r>
              <a:rPr lang="en-US" altLang="zh-CN" sz="1600" dirty="0" err="1">
                <a:effectLst/>
                <a:ea typeface="Microsoft YaHei" panose="020B0503020204020204" pitchFamily="34" charset="-122"/>
                <a:cs typeface="宋体" panose="02010600030101010101" pitchFamily="2" charset="-122"/>
              </a:rPr>
              <a:t>CyBERT</a:t>
            </a:r>
            <a:r>
              <a:rPr lang="en-US" altLang="zh-CN" sz="1600" dirty="0">
                <a:effectLst/>
                <a:ea typeface="Microsoft YaHei" panose="020B0503020204020204" pitchFamily="34" charset="-122"/>
                <a:cs typeface="宋体" panose="02010600030101010101" pitchFamily="2" charset="-122"/>
              </a:rPr>
              <a:t> </a:t>
            </a:r>
            <a:r>
              <a:rPr lang="zh-CN" altLang="zh-CN" sz="1600" dirty="0">
                <a:effectLst/>
                <a:ea typeface="Microsoft YaHei" panose="020B0503020204020204" pitchFamily="34" charset="-122"/>
                <a:cs typeface="宋体" panose="02010600030101010101" pitchFamily="2" charset="-122"/>
              </a:rPr>
              <a:t>网安领域预训练模型</a:t>
            </a:r>
            <a:r>
              <a:rPr lang="zh-CN" altLang="en-US" sz="1600" dirty="0">
                <a:effectLst/>
                <a:ea typeface="Microsoft YaHei" panose="020B0503020204020204" pitchFamily="34" charset="-122"/>
                <a:cs typeface="宋体" panose="02010600030101010101" pitchFamily="2" charset="-122"/>
              </a:rPr>
              <a:t>，提取向量</a:t>
            </a:r>
            <a:endParaRPr lang="en-US" sz="1600" dirty="0">
              <a:solidFill>
                <a:srgbClr val="0D1B2A"/>
              </a:solidFill>
              <a:ea typeface="Microsoft YaHei" panose="020B0503020204020204" pitchFamily="34" charset="-122"/>
            </a:endParaRPr>
          </a:p>
          <a:p>
            <a:pPr marL="285750" indent="-285750">
              <a:buFont typeface="Arial" panose="020B0604020202020204" pitchFamily="34" charset="0"/>
              <a:buChar char="•"/>
            </a:pPr>
            <a:r>
              <a:rPr lang="en-US" sz="1600" dirty="0" err="1">
                <a:solidFill>
                  <a:srgbClr val="0D1B2A"/>
                </a:solidFill>
                <a:latin typeface="Microsoft YaHei" panose="020B0503020204020204" pitchFamily="34" charset="-122"/>
                <a:ea typeface="Microsoft YaHei" panose="020B0503020204020204" pitchFamily="34" charset="-122"/>
              </a:rPr>
              <a:t>相似度矩阵</a:t>
            </a:r>
            <a:r>
              <a:rPr lang="zh-CN" altLang="en-US" sz="1600" dirty="0">
                <a:solidFill>
                  <a:srgbClr val="0D1B2A"/>
                </a:solidFill>
                <a:latin typeface="Microsoft YaHei" panose="020B0503020204020204" pitchFamily="34" charset="-122"/>
                <a:ea typeface="Microsoft YaHei" panose="020B0503020204020204" pitchFamily="34" charset="-122"/>
              </a:rPr>
              <a:t>：</a:t>
            </a:r>
            <a:r>
              <a:rPr lang="en-US" sz="1600" dirty="0">
                <a:solidFill>
                  <a:srgbClr val="0D1B2A"/>
                </a:solidFill>
              </a:rPr>
              <a:t>S ∈ R^{21×21}</a:t>
            </a:r>
          </a:p>
          <a:p>
            <a:pPr marL="285750" indent="-285750">
              <a:buFont typeface="Arial" panose="020B0604020202020204" pitchFamily="34" charset="0"/>
              <a:buChar char="•"/>
            </a:pPr>
            <a:r>
              <a:rPr lang="zh-CN" altLang="zh-CN" sz="1600" dirty="0">
                <a:effectLst/>
                <a:latin typeface="Microsoft YaHei" panose="020B0503020204020204" pitchFamily="34" charset="-122"/>
                <a:ea typeface="Microsoft YaHei" panose="020B0503020204020204" pitchFamily="34" charset="-122"/>
                <a:cs typeface="宋体" panose="02010600030101010101" pitchFamily="2" charset="-122"/>
              </a:rPr>
              <a:t>语义相近的实体类型呈现出较强的内聚性</a:t>
            </a:r>
            <a:r>
              <a:rPr lang="en-US" sz="1600" dirty="0">
                <a:solidFill>
                  <a:srgbClr val="0D1B2A"/>
                </a:solidFill>
              </a:rPr>
              <a:t>
MD5/SHA1/SHA2 </a:t>
            </a:r>
            <a:r>
              <a:rPr lang="en-US" sz="1600" dirty="0" err="1">
                <a:solidFill>
                  <a:srgbClr val="0D1B2A"/>
                </a:solidFill>
              </a:rPr>
              <a:t>极强同源聚合</a:t>
            </a:r>
            <a:endParaRPr lang="en-US" sz="1600" dirty="0">
              <a:solidFill>
                <a:srgbClr val="0D1B2A"/>
              </a:solidFill>
            </a:endParaRPr>
          </a:p>
          <a:p>
            <a:r>
              <a:rPr lang="en-US" sz="1600" dirty="0">
                <a:solidFill>
                  <a:srgbClr val="0D1B2A"/>
                </a:solidFill>
              </a:rPr>
              <a:t>
</a:t>
            </a:r>
            <a:r>
              <a:rPr lang="en-US" altLang="zh-CN" sz="1600" b="1" dirty="0">
                <a:solidFill>
                  <a:srgbClr val="1A3A6B"/>
                </a:solidFill>
              </a:rPr>
              <a:t> ②</a:t>
            </a:r>
            <a:r>
              <a:rPr lang="en-US" sz="1600" b="1" dirty="0">
                <a:solidFill>
                  <a:srgbClr val="1A3A6B"/>
                </a:solidFill>
              </a:rPr>
              <a:t> Ward 最小方差层次聚类</a:t>
            </a:r>
            <a:endParaRPr lang="en-US" sz="1600" dirty="0"/>
          </a:p>
          <a:p>
            <a:pPr marL="285750" indent="-285750">
              <a:buFont typeface="Arial" panose="020B0604020202020204" pitchFamily="34" charset="0"/>
              <a:buChar char="•"/>
            </a:pPr>
            <a:r>
              <a:rPr lang="en-US" sz="1600" dirty="0" err="1">
                <a:solidFill>
                  <a:srgbClr val="0D1B2A"/>
                </a:solidFill>
              </a:rPr>
              <a:t>基于相似度结构进行层次聚合</a:t>
            </a:r>
            <a:endParaRPr lang="en-US" sz="1600" dirty="0">
              <a:solidFill>
                <a:srgbClr val="0D1B2A"/>
              </a:solidFill>
            </a:endParaRPr>
          </a:p>
          <a:p>
            <a:pPr marL="285750" indent="-285750">
              <a:buFont typeface="Arial" panose="020B0604020202020204" pitchFamily="34" charset="0"/>
              <a:buChar char="•"/>
            </a:pPr>
            <a:r>
              <a:rPr lang="en-US" sz="1600" dirty="0" err="1">
                <a:solidFill>
                  <a:srgbClr val="0D1B2A"/>
                </a:solidFill>
              </a:rPr>
              <a:t>收敛为</a:t>
            </a:r>
            <a:r>
              <a:rPr lang="en-US" sz="1600" dirty="0">
                <a:solidFill>
                  <a:srgbClr val="0D1B2A"/>
                </a:solidFill>
              </a:rPr>
              <a:t> 7 </a:t>
            </a:r>
            <a:r>
              <a:rPr lang="en-US" sz="1600" dirty="0" err="1">
                <a:solidFill>
                  <a:srgbClr val="0D1B2A"/>
                </a:solidFill>
              </a:rPr>
              <a:t>个结构稳定簇分支</a:t>
            </a:r>
            <a:endParaRPr lang="en-US" sz="1600" dirty="0">
              <a:solidFill>
                <a:srgbClr val="0D1B2A"/>
              </a:solidFill>
            </a:endParaRPr>
          </a:p>
          <a:p>
            <a:pPr marL="285750" indent="-285750">
              <a:buFont typeface="Arial" panose="020B0604020202020204" pitchFamily="34" charset="0"/>
              <a:buChar char="•"/>
            </a:pPr>
            <a:endParaRPr lang="en-US" sz="1600" dirty="0">
              <a:solidFill>
                <a:srgbClr val="0D1B2A"/>
              </a:solidFill>
            </a:endParaRPr>
          </a:p>
          <a:p>
            <a:pPr marL="285750" indent="-285750">
              <a:buFont typeface="Arial" panose="020B0604020202020204" pitchFamily="34" charset="0"/>
              <a:buChar char="•"/>
            </a:pPr>
            <a:r>
              <a:rPr lang="zh-CN" altLang="zh-CN" sz="1600" b="1" dirty="0">
                <a:solidFill>
                  <a:srgbClr val="1A396B"/>
                </a:solidFill>
                <a:effectLst/>
                <a:latin typeface="Microsoft YaHei" panose="020B0503020204020204" pitchFamily="34" charset="-122"/>
                <a:ea typeface="Microsoft YaHei" panose="020B0503020204020204" pitchFamily="34" charset="-122"/>
                <a:cs typeface="Times New Roman" panose="02020603050405020304" pitchFamily="18" charset="0"/>
              </a:rPr>
              <a:t>数据驱动的统计方法</a:t>
            </a:r>
            <a:r>
              <a:rPr lang="en-US" altLang="zh-CN" sz="1600" b="1" dirty="0">
                <a:solidFill>
                  <a:srgbClr val="1A396B"/>
                </a:solidFill>
                <a:effectLst/>
                <a:latin typeface="Microsoft YaHei" panose="020B0503020204020204" pitchFamily="34" charset="-122"/>
                <a:ea typeface="Microsoft YaHei" panose="020B0503020204020204" pitchFamily="34" charset="-122"/>
                <a:cs typeface="Times New Roman" panose="02020603050405020304" pitchFamily="18" charset="0"/>
              </a:rPr>
              <a:t>,</a:t>
            </a:r>
            <a:r>
              <a:rPr lang="zh-CN" altLang="zh-CN" sz="1600" b="1" dirty="0">
                <a:solidFill>
                  <a:srgbClr val="1A396B"/>
                </a:solidFill>
                <a:effectLst/>
                <a:latin typeface="Microsoft YaHei" panose="020B0503020204020204" pitchFamily="34" charset="-122"/>
                <a:ea typeface="Microsoft YaHei" panose="020B0503020204020204" pitchFamily="34" charset="-122"/>
                <a:cs typeface="Times New Roman" panose="02020603050405020304" pitchFamily="18" charset="0"/>
              </a:rPr>
              <a:t>为后续</a:t>
            </a:r>
            <a:r>
              <a:rPr lang="en-US" altLang="zh-CN" sz="1600" b="1" dirty="0">
                <a:solidFill>
                  <a:srgbClr val="1A396B"/>
                </a:solidFill>
                <a:effectLst/>
                <a:latin typeface="Microsoft YaHei" panose="020B0503020204020204" pitchFamily="34" charset="-122"/>
                <a:ea typeface="Microsoft YaHei" panose="020B0503020204020204" pitchFamily="34" charset="-122"/>
                <a:cs typeface="Times New Roman" panose="02020603050405020304" pitchFamily="18" charset="0"/>
              </a:rPr>
              <a:t> LLM </a:t>
            </a:r>
            <a:r>
              <a:rPr lang="zh-CN" altLang="zh-CN" sz="1600" b="1" dirty="0">
                <a:solidFill>
                  <a:srgbClr val="1A396B"/>
                </a:solidFill>
                <a:effectLst/>
                <a:latin typeface="Microsoft YaHei" panose="020B0503020204020204" pitchFamily="34" charset="-122"/>
                <a:ea typeface="Microsoft YaHei" panose="020B0503020204020204" pitchFamily="34" charset="-122"/>
                <a:cs typeface="Times New Roman" panose="02020603050405020304" pitchFamily="18" charset="0"/>
              </a:rPr>
              <a:t>命名提供了客观的聚类边界</a:t>
            </a:r>
            <a:r>
              <a:rPr lang="zh-CN" altLang="zh-CN" sz="1600" dirty="0">
                <a:solidFill>
                  <a:srgbClr val="1A396B"/>
                </a:solidFill>
                <a:effectLst/>
                <a:latin typeface="Microsoft YaHei" panose="020B0503020204020204" pitchFamily="34" charset="-122"/>
                <a:ea typeface="Microsoft YaHei" panose="020B0503020204020204" pitchFamily="34" charset="-122"/>
                <a:cs typeface="Times New Roman" panose="02020603050405020304" pitchFamily="18" charset="0"/>
              </a:rPr>
              <a:t>。</a:t>
            </a:r>
            <a:endParaRPr lang="en-US" sz="1600" dirty="0">
              <a:solidFill>
                <a:srgbClr val="1A396B"/>
              </a:solidFill>
              <a:latin typeface="Microsoft YaHei" panose="020B0503020204020204" pitchFamily="34" charset="-122"/>
              <a:ea typeface="Microsoft YaHei" panose="020B0503020204020204" pitchFamily="34" charset="-122"/>
            </a:endParaRPr>
          </a:p>
        </p:txBody>
      </p:sp>
    </p:spTree>
    <p:custDataLst>
      <p:tags r:id="rId1"/>
    </p:custDataLst>
    <p:extLst>
      <p:ext uri="{BB962C8B-B14F-4D97-AF65-F5344CB8AC3E}">
        <p14:creationId xmlns:p14="http://schemas.microsoft.com/office/powerpoint/2010/main" val="1129268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21"/>
                                        </p:tgtEl>
                                      </p:cBhvr>
                                    </p:animEffect>
                                    <p:set>
                                      <p:cBhvr>
                                        <p:cTn id="12" dur="1" fill="hold">
                                          <p:stCondLst>
                                            <p:cond delay="499"/>
                                          </p:stCondLst>
                                        </p:cTn>
                                        <p:tgtEl>
                                          <p:spTgt spid="21"/>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06  APT-Hier 三步构建：语义归纳 + 规则注入</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1005840"/>
            <a:ext cx="36576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1005840"/>
            <a:ext cx="3657600" cy="457200"/>
          </a:xfrm>
          <a:prstGeom prst="rect">
            <a:avLst/>
          </a:prstGeom>
          <a:solidFill>
            <a:srgbClr val="1A3A6B"/>
          </a:solidFill>
          <a:ln w="12700">
            <a:solidFill>
              <a:srgbClr val="1A3A6B"/>
            </a:solidFill>
            <a:prstDash val="solid"/>
          </a:ln>
        </p:spPr>
      </p:sp>
      <p:sp>
        <p:nvSpPr>
          <p:cNvPr id="7" name="Text 5"/>
          <p:cNvSpPr/>
          <p:nvPr/>
        </p:nvSpPr>
        <p:spPr>
          <a:xfrm>
            <a:off x="274320" y="100584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1  语义特征与层次聚类</a:t>
            </a:r>
            <a:endParaRPr lang="en-US" sz="1600" dirty="0"/>
          </a:p>
        </p:txBody>
      </p:sp>
      <p:sp>
        <p:nvSpPr>
          <p:cNvPr id="8" name="Text 6"/>
          <p:cNvSpPr/>
          <p:nvPr/>
        </p:nvSpPr>
        <p:spPr>
          <a:xfrm>
            <a:off x="411480" y="1536192"/>
            <a:ext cx="3383280" cy="4389120"/>
          </a:xfrm>
          <a:prstGeom prst="rect">
            <a:avLst/>
          </a:prstGeom>
          <a:noFill/>
          <a:ln/>
        </p:spPr>
        <p:txBody>
          <a:bodyPr wrap="square" rtlCol="0" anchor="t"/>
          <a:lstStyle/>
          <a:p>
            <a:pPr marL="0" indent="0">
              <a:buNone/>
            </a:pPr>
            <a:r>
              <a:rPr lang="en-US" sz="1600" b="1" dirty="0">
                <a:solidFill>
                  <a:srgbClr val="1A3A6B"/>
                </a:solidFill>
              </a:rPr>
              <a:t>① CyBERT 特征提取</a:t>
            </a:r>
            <a:endParaRPr lang="en-US" sz="1600" dirty="0"/>
          </a:p>
          <a:p>
            <a:pPr marL="0" indent="0">
              <a:buNone/>
            </a:pPr>
            <a:r>
              <a:rPr lang="en-US" sz="1600" dirty="0">
                <a:solidFill>
                  <a:srgbClr val="0D1B2A"/>
                </a:solidFill>
              </a:rPr>
              <a:t>• 21 类实体类型各取 APTnotes 上下文描述
• 提取 [CLS] 向量 → 实体语义嵌入
</a:t>
            </a:r>
            <a:r>
              <a:rPr lang="en-US" sz="1600" b="1" dirty="0">
                <a:solidFill>
                  <a:srgbClr val="1A3A6B"/>
                </a:solidFill>
              </a:rPr>
              <a:t>② 成对余弦相似度矩阵</a:t>
            </a:r>
            <a:endParaRPr lang="en-US" sz="1600" dirty="0"/>
          </a:p>
          <a:p>
            <a:pPr marL="0" indent="0">
              <a:buNone/>
            </a:pPr>
            <a:r>
              <a:rPr lang="en-US" sz="1600" dirty="0">
                <a:solidFill>
                  <a:srgbClr val="0D1B2A"/>
                </a:solidFill>
              </a:rPr>
              <a:t>S ∈ R^{21×21}，对角高亮块揭示同源聚合
（MD5/SHA1/SHA2 极强内聚）
</a:t>
            </a:r>
            <a:r>
              <a:rPr lang="en-US" sz="1600" b="1" dirty="0">
                <a:solidFill>
                  <a:srgbClr val="1A3A6B"/>
                </a:solidFill>
              </a:rPr>
              <a:t>③ Ward 最小方差层次聚类</a:t>
            </a:r>
            <a:endParaRPr lang="en-US" sz="1600" dirty="0"/>
          </a:p>
          <a:p>
            <a:pPr marL="0" indent="0">
              <a:buNone/>
            </a:pPr>
            <a:r>
              <a:rPr lang="en-US" sz="1600" dirty="0">
                <a:solidFill>
                  <a:srgbClr val="0D1B2A"/>
                </a:solidFill>
              </a:rPr>
              <a:t>自适应截断（最大化轮廓系数）</a:t>
            </a:r>
            <a:endParaRPr lang="en-US" sz="1600" dirty="0"/>
          </a:p>
          <a:p>
            <a:pPr marL="0" indent="0">
              <a:buNone/>
            </a:pPr>
            <a:r>
              <a:rPr lang="en-US" sz="1600" dirty="0">
                <a:solidFill>
                  <a:srgbClr val="0D1B2A"/>
                </a:solidFill>
              </a:rPr>
              <a:t>收敛为 7 个结构稳定簇分支</a:t>
            </a:r>
            <a:endParaRPr lang="en-US" sz="1600" dirty="0"/>
          </a:p>
        </p:txBody>
      </p:sp>
      <p:sp>
        <p:nvSpPr>
          <p:cNvPr id="10" name="Shape 8"/>
          <p:cNvSpPr/>
          <p:nvPr/>
        </p:nvSpPr>
        <p:spPr>
          <a:xfrm>
            <a:off x="271354" y="1005840"/>
            <a:ext cx="36576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1" name="Shape 9"/>
          <p:cNvSpPr/>
          <p:nvPr/>
        </p:nvSpPr>
        <p:spPr>
          <a:xfrm>
            <a:off x="286429" y="1005840"/>
            <a:ext cx="3657600" cy="457200"/>
          </a:xfrm>
          <a:prstGeom prst="rect">
            <a:avLst/>
          </a:prstGeom>
          <a:solidFill>
            <a:srgbClr val="006579"/>
          </a:solidFill>
          <a:ln w="12700">
            <a:solidFill>
              <a:srgbClr val="006579"/>
            </a:solidFill>
            <a:prstDash val="solid"/>
          </a:ln>
        </p:spPr>
      </p:sp>
      <p:sp>
        <p:nvSpPr>
          <p:cNvPr id="12" name="Text 10"/>
          <p:cNvSpPr/>
          <p:nvPr/>
        </p:nvSpPr>
        <p:spPr>
          <a:xfrm>
            <a:off x="271354" y="100584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2  LLM </a:t>
            </a:r>
            <a:r>
              <a:rPr lang="en-US" sz="1600" b="1" dirty="0" err="1">
                <a:solidFill>
                  <a:srgbClr val="FFFFFF"/>
                </a:solidFill>
              </a:rPr>
              <a:t>辅助语义对齐</a:t>
            </a:r>
            <a:endParaRPr lang="en-US" sz="1600" dirty="0"/>
          </a:p>
        </p:txBody>
      </p:sp>
      <p:sp>
        <p:nvSpPr>
          <p:cNvPr id="13" name="Text 11"/>
          <p:cNvSpPr/>
          <p:nvPr/>
        </p:nvSpPr>
        <p:spPr>
          <a:xfrm>
            <a:off x="408514" y="1536192"/>
            <a:ext cx="3383280" cy="4389120"/>
          </a:xfrm>
          <a:prstGeom prst="rect">
            <a:avLst/>
          </a:prstGeom>
          <a:noFill/>
          <a:ln/>
        </p:spPr>
        <p:txBody>
          <a:bodyPr wrap="square" rtlCol="0" anchor="t"/>
          <a:lstStyle/>
          <a:p>
            <a:pPr marL="0" indent="0">
              <a:buNone/>
            </a:pPr>
            <a:r>
              <a:rPr lang="en-US" sz="1600" b="1" dirty="0">
                <a:solidFill>
                  <a:srgbClr val="006579"/>
                </a:solidFill>
              </a:rPr>
              <a:t>GPT-4 命名（受控闭集）</a:t>
            </a:r>
            <a:endParaRPr lang="en-US" sz="1600" dirty="0"/>
          </a:p>
          <a:p>
            <a:pPr marL="0" indent="0">
              <a:buNone/>
            </a:pPr>
            <a:r>
              <a:rPr lang="en-US" sz="1400" dirty="0">
                <a:solidFill>
                  <a:srgbClr val="0D1B2A"/>
                </a:solidFill>
              </a:rPr>
              <a:t>输入各簇的细粒度标签列表
要求结合安全背景生成高层名称</a:t>
            </a:r>
            <a:r>
              <a:rPr lang="en-US" sz="1600" dirty="0">
                <a:solidFill>
                  <a:srgbClr val="0D1B2A"/>
                </a:solidFill>
              </a:rPr>
              <a:t>
</a:t>
            </a:r>
            <a:r>
              <a:rPr lang="en-US" sz="1600" b="1" dirty="0">
                <a:solidFill>
                  <a:srgbClr val="006579"/>
                </a:solidFill>
              </a:rPr>
              <a:t>7 个高层抽象节点 𝒞</a:t>
            </a:r>
            <a:endParaRPr lang="en-US" sz="1600" dirty="0"/>
          </a:p>
          <a:p>
            <a:pPr marL="0" indent="0">
              <a:buNone/>
            </a:pPr>
            <a:r>
              <a:rPr lang="en-US" sz="1600" dirty="0" err="1">
                <a:solidFill>
                  <a:srgbClr val="0D1B2A"/>
                </a:solidFill>
              </a:rPr>
              <a:t>Strategic_Core</a:t>
            </a:r>
            <a:r>
              <a:rPr lang="en-US" sz="1600" dirty="0">
                <a:solidFill>
                  <a:srgbClr val="0D1B2A"/>
                </a:solidFill>
              </a:rPr>
              <a:t>, Context,
</a:t>
            </a:r>
            <a:r>
              <a:rPr lang="en-US" sz="1600" dirty="0" err="1">
                <a:solidFill>
                  <a:srgbClr val="0D1B2A"/>
                </a:solidFill>
              </a:rPr>
              <a:t>Target_System</a:t>
            </a:r>
            <a:r>
              <a:rPr lang="en-US" sz="1600" dirty="0">
                <a:solidFill>
                  <a:srgbClr val="0D1B2A"/>
                </a:solidFill>
              </a:rPr>
              <a:t>, Methodology
</a:t>
            </a:r>
            <a:r>
              <a:rPr lang="en-US" sz="1600" dirty="0" err="1">
                <a:solidFill>
                  <a:srgbClr val="0D1B2A"/>
                </a:solidFill>
              </a:rPr>
              <a:t>Attack_Resource</a:t>
            </a:r>
            <a:r>
              <a:rPr lang="en-US" sz="1600" dirty="0">
                <a:solidFill>
                  <a:srgbClr val="0D1B2A"/>
                </a:solidFill>
              </a:rPr>
              <a:t>,
</a:t>
            </a:r>
            <a:r>
              <a:rPr lang="en-US" sz="1600" dirty="0" err="1">
                <a:solidFill>
                  <a:srgbClr val="0D1B2A"/>
                </a:solidFill>
              </a:rPr>
              <a:t>IOC_Network</a:t>
            </a:r>
            <a:r>
              <a:rPr lang="en-US" sz="1600" dirty="0">
                <a:solidFill>
                  <a:srgbClr val="0D1B2A"/>
                </a:solidFill>
              </a:rPr>
              <a:t>, </a:t>
            </a:r>
            <a:r>
              <a:rPr lang="en-US" sz="1600" dirty="0" err="1">
                <a:solidFill>
                  <a:srgbClr val="0D1B2A"/>
                </a:solidFill>
              </a:rPr>
              <a:t>IOC_Hash</a:t>
            </a:r>
            <a:r>
              <a:rPr lang="en-US" sz="1600" dirty="0">
                <a:solidFill>
                  <a:srgbClr val="0D1B2A"/>
                </a:solidFill>
              </a:rPr>
              <a:t>
</a:t>
            </a:r>
            <a:r>
              <a:rPr lang="en-US" sz="1600" b="1" dirty="0" err="1">
                <a:solidFill>
                  <a:srgbClr val="B71C1C"/>
                </a:solidFill>
              </a:rPr>
              <a:t>权威框架锚定</a:t>
            </a:r>
            <a:endParaRPr lang="en-US" sz="1600" dirty="0"/>
          </a:p>
          <a:p>
            <a:pPr marL="0" indent="0">
              <a:buNone/>
            </a:pPr>
            <a:r>
              <a:rPr lang="en-US" sz="1400" dirty="0">
                <a:solidFill>
                  <a:srgbClr val="0D1B2A"/>
                </a:solidFill>
              </a:rPr>
              <a:t>STIX 2.1 × MITRE ATT&amp;CK </a:t>
            </a:r>
            <a:r>
              <a:rPr lang="en-US" sz="1400" dirty="0" err="1">
                <a:solidFill>
                  <a:srgbClr val="0D1B2A"/>
                </a:solidFill>
              </a:rPr>
              <a:t>交叉验证</a:t>
            </a:r>
            <a:endParaRPr lang="en-US" sz="1400" dirty="0">
              <a:solidFill>
                <a:srgbClr val="0D1B2A"/>
              </a:solidFill>
            </a:endParaRPr>
          </a:p>
          <a:p>
            <a:pPr marL="0" indent="0">
              <a:buNone/>
            </a:pPr>
            <a:r>
              <a:rPr lang="zh-CN" altLang="zh-CN" sz="1400" dirty="0">
                <a:effectLst/>
                <a:ea typeface="Microsoft YaHei" panose="020B0503020204020204" pitchFamily="34" charset="-122"/>
                <a:cs typeface="宋体" panose="02010600030101010101" pitchFamily="2" charset="-122"/>
              </a:rPr>
              <a:t>确认这</a:t>
            </a:r>
            <a:r>
              <a:rPr lang="en-US" altLang="zh-CN" sz="1400" dirty="0">
                <a:effectLst/>
                <a:ea typeface="Microsoft YaHei" panose="020B0503020204020204" pitchFamily="34" charset="-122"/>
                <a:cs typeface="宋体" panose="02010600030101010101" pitchFamily="2" charset="-122"/>
              </a:rPr>
              <a:t> 7 </a:t>
            </a:r>
            <a:r>
              <a:rPr lang="zh-CN" altLang="zh-CN" sz="1400" dirty="0">
                <a:effectLst/>
                <a:ea typeface="Microsoft YaHei" panose="020B0503020204020204" pitchFamily="34" charset="-122"/>
                <a:cs typeface="宋体" panose="02010600030101010101" pitchFamily="2" charset="-122"/>
              </a:rPr>
              <a:t>个节点的命名在网安领域有可解释的标准对应</a:t>
            </a:r>
            <a:endParaRPr lang="en-US" altLang="zh-CN" sz="1400" dirty="0">
              <a:effectLst/>
              <a:ea typeface="Microsoft YaHei" panose="020B0503020204020204" pitchFamily="34" charset="-122"/>
              <a:cs typeface="宋体" panose="02010600030101010101" pitchFamily="2" charset="-122"/>
            </a:endParaRPr>
          </a:p>
          <a:p>
            <a:pPr marL="0" indent="0">
              <a:buNone/>
            </a:pPr>
            <a:endParaRPr lang="en-US" sz="1600" dirty="0">
              <a:solidFill>
                <a:srgbClr val="006479"/>
              </a:solidFill>
              <a:ea typeface="Microsoft YaHei" panose="020B0503020204020204" pitchFamily="34" charset="-122"/>
            </a:endParaRPr>
          </a:p>
          <a:p>
            <a:pPr marL="0" indent="0">
              <a:buNone/>
            </a:pPr>
            <a:r>
              <a:rPr lang="en" altLang="zh-CN" sz="1600" b="1" dirty="0">
                <a:solidFill>
                  <a:srgbClr val="006479"/>
                </a:solidFill>
                <a:latin typeface="Microsoft YaHei" panose="020B0503020204020204" pitchFamily="34" charset="-122"/>
                <a:ea typeface="Microsoft YaHei" panose="020B0503020204020204" pitchFamily="34" charset="-122"/>
              </a:rPr>
              <a:t>LLM </a:t>
            </a:r>
            <a:r>
              <a:rPr lang="zh-CN" altLang="en-US" sz="1600" b="1" dirty="0">
                <a:solidFill>
                  <a:srgbClr val="006479"/>
                </a:solidFill>
                <a:latin typeface="Microsoft YaHei" panose="020B0503020204020204" pitchFamily="34" charset="-122"/>
                <a:ea typeface="Microsoft YaHei" panose="020B0503020204020204" pitchFamily="34" charset="-122"/>
              </a:rPr>
              <a:t>能力的实证验证</a:t>
            </a:r>
            <a:endParaRPr lang="en-US" altLang="zh-CN" sz="1600" b="1" dirty="0">
              <a:solidFill>
                <a:srgbClr val="006479"/>
              </a:solidFill>
              <a:latin typeface="Microsoft YaHei" panose="020B0503020204020204" pitchFamily="34" charset="-122"/>
              <a:ea typeface="Microsoft YaHei" panose="020B0503020204020204" pitchFamily="34" charset="-122"/>
            </a:endParaRPr>
          </a:p>
          <a:p>
            <a:r>
              <a:rPr lang="zh-CN" altLang="en-US" sz="1400" dirty="0">
                <a:ea typeface="Microsoft YaHei" panose="020B0503020204020204" pitchFamily="34" charset="-122"/>
              </a:rPr>
              <a:t>只提供真实三元组语境</a:t>
            </a:r>
            <a:r>
              <a:rPr lang="en-US" altLang="zh-CN" sz="1400" dirty="0">
                <a:ea typeface="Microsoft YaHei" panose="020B0503020204020204" pitchFamily="34" charset="-122"/>
              </a:rPr>
              <a:t>,</a:t>
            </a:r>
            <a:r>
              <a:rPr lang="zh-CN" altLang="en-US" sz="1400" dirty="0">
                <a:ea typeface="Microsoft YaHei" panose="020B0503020204020204" pitchFamily="34" charset="-122"/>
              </a:rPr>
              <a:t>让 </a:t>
            </a:r>
            <a:r>
              <a:rPr lang="en" altLang="zh-CN" sz="1600" dirty="0">
                <a:ea typeface="Microsoft YaHei" panose="020B0503020204020204" pitchFamily="34" charset="-122"/>
              </a:rPr>
              <a:t>LLM</a:t>
            </a:r>
            <a:r>
              <a:rPr lang="en" altLang="zh-CN" sz="1400" dirty="0">
                <a:ea typeface="Microsoft YaHei" panose="020B0503020204020204" pitchFamily="34" charset="-122"/>
              </a:rPr>
              <a:t> </a:t>
            </a:r>
            <a:r>
              <a:rPr lang="zh-CN" altLang="en-US" sz="1400" dirty="0">
                <a:ea typeface="Microsoft YaHei" panose="020B0503020204020204" pitchFamily="34" charset="-122"/>
              </a:rPr>
              <a:t>在闭集约束下独立推断它们的语义角色</a:t>
            </a:r>
            <a:endParaRPr lang="en-US" altLang="zh-CN" sz="1400" dirty="0">
              <a:ea typeface="Microsoft YaHei" panose="020B0503020204020204" pitchFamily="34" charset="-122"/>
            </a:endParaRPr>
          </a:p>
          <a:p>
            <a:pPr marL="0" indent="0">
              <a:buNone/>
            </a:pPr>
            <a:r>
              <a:rPr lang="zh-CN" altLang="en-US" sz="1400" dirty="0">
                <a:latin typeface="Microsoft YaHei" panose="020B0503020204020204" pitchFamily="34" charset="-122"/>
                <a:ea typeface="Microsoft YaHei" panose="020B0503020204020204" pitchFamily="34" charset="-122"/>
              </a:rPr>
              <a:t>语境消歧准确率 </a:t>
            </a:r>
            <a:r>
              <a:rPr lang="en-US" altLang="zh-CN" sz="1400" dirty="0">
                <a:latin typeface="Microsoft YaHei" panose="020B0503020204020204" pitchFamily="34" charset="-122"/>
                <a:ea typeface="Microsoft YaHei" panose="020B0503020204020204" pitchFamily="34" charset="-122"/>
              </a:rPr>
              <a:t>81%</a:t>
            </a:r>
            <a:endParaRPr lang="en-US" sz="2000" dirty="0">
              <a:latin typeface="Microsoft YaHei" panose="020B0503020204020204" pitchFamily="34" charset="-122"/>
              <a:ea typeface="Microsoft YaHei" panose="020B0503020204020204" pitchFamily="34" charset="-122"/>
            </a:endParaRPr>
          </a:p>
        </p:txBody>
      </p:sp>
      <p:sp>
        <p:nvSpPr>
          <p:cNvPr id="19" name="Text 17"/>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7/18</a:t>
            </a:r>
            <a:endParaRPr lang="en-US" sz="900" dirty="0"/>
          </a:p>
        </p:txBody>
      </p:sp>
      <p:pic>
        <p:nvPicPr>
          <p:cNvPr id="21" name="图片 20">
            <a:extLst>
              <a:ext uri="{FF2B5EF4-FFF2-40B4-BE49-F238E27FC236}">
                <a16:creationId xmlns:a16="http://schemas.microsoft.com/office/drawing/2014/main" id="{0E10B912-26B2-470D-94E3-B69D167D5A31}"/>
              </a:ext>
            </a:extLst>
          </p:cNvPr>
          <p:cNvPicPr>
            <a:picLocks noChangeAspect="1"/>
          </p:cNvPicPr>
          <p:nvPr/>
        </p:nvPicPr>
        <p:blipFill>
          <a:blip r:embed="rId4"/>
          <a:stretch>
            <a:fillRect/>
          </a:stretch>
        </p:blipFill>
        <p:spPr>
          <a:xfrm>
            <a:off x="4063148" y="1119711"/>
            <a:ext cx="7772400" cy="5222081"/>
          </a:xfrm>
          <a:prstGeom prst="rect">
            <a:avLst/>
          </a:prstGeom>
        </p:spPr>
      </p:pic>
      <p:pic>
        <p:nvPicPr>
          <p:cNvPr id="9" name="图片 8">
            <a:extLst>
              <a:ext uri="{FF2B5EF4-FFF2-40B4-BE49-F238E27FC236}">
                <a16:creationId xmlns:a16="http://schemas.microsoft.com/office/drawing/2014/main" id="{FC731C89-0B95-1C52-A0D1-09BEE69A64E2}"/>
              </a:ext>
            </a:extLst>
          </p:cNvPr>
          <p:cNvPicPr>
            <a:picLocks noChangeAspect="1"/>
          </p:cNvPicPr>
          <p:nvPr/>
        </p:nvPicPr>
        <p:blipFill>
          <a:blip r:embed="rId5"/>
          <a:stretch>
            <a:fillRect/>
          </a:stretch>
        </p:blipFill>
        <p:spPr>
          <a:xfrm>
            <a:off x="5646420" y="2740751"/>
            <a:ext cx="4991060" cy="1980000"/>
          </a:xfrm>
          <a:prstGeom prst="rect">
            <a:avLst/>
          </a:prstGeom>
        </p:spPr>
      </p:pic>
      <p:pic>
        <p:nvPicPr>
          <p:cNvPr id="14" name="图片 13">
            <a:extLst>
              <a:ext uri="{FF2B5EF4-FFF2-40B4-BE49-F238E27FC236}">
                <a16:creationId xmlns:a16="http://schemas.microsoft.com/office/drawing/2014/main" id="{9DE58B47-7056-A4CC-01C5-5C9A6EA1ACE5}"/>
              </a:ext>
            </a:extLst>
          </p:cNvPr>
          <p:cNvPicPr>
            <a:picLocks noChangeAspect="1"/>
          </p:cNvPicPr>
          <p:nvPr/>
        </p:nvPicPr>
        <p:blipFill>
          <a:blip r:embed="rId6"/>
          <a:stretch>
            <a:fillRect/>
          </a:stretch>
        </p:blipFill>
        <p:spPr>
          <a:xfrm>
            <a:off x="4709348" y="915809"/>
            <a:ext cx="6480000" cy="5346422"/>
          </a:xfrm>
          <a:prstGeom prst="rect">
            <a:avLst/>
          </a:prstGeom>
        </p:spPr>
      </p:pic>
    </p:spTree>
    <p:custDataLst>
      <p:tags r:id="rId1"/>
    </p:custDataLst>
    <p:extLst>
      <p:ext uri="{BB962C8B-B14F-4D97-AF65-F5344CB8AC3E}">
        <p14:creationId xmlns:p14="http://schemas.microsoft.com/office/powerpoint/2010/main" val="210851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21"/>
                                        </p:tgtEl>
                                      </p:cBhvr>
                                    </p:animEffect>
                                    <p:set>
                                      <p:cBhvr>
                                        <p:cTn id="7" dur="1" fill="hold">
                                          <p:stCondLst>
                                            <p:cond delay="499"/>
                                          </p:stCondLst>
                                        </p:cTn>
                                        <p:tgtEl>
                                          <p:spTgt spid="21"/>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9"/>
                                        </p:tgtEl>
                                      </p:cBhvr>
                                    </p:animEffect>
                                    <p:set>
                                      <p:cBhvr>
                                        <p:cTn id="15" dur="1" fill="hold">
                                          <p:stCondLst>
                                            <p:cond delay="499"/>
                                          </p:stCondLst>
                                        </p:cTn>
                                        <p:tgtEl>
                                          <p:spTgt spid="9"/>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06  APT-Hier 三步构建：语义归纳 + 规则注入</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1005840"/>
            <a:ext cx="36576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1005840"/>
            <a:ext cx="3657600" cy="457200"/>
          </a:xfrm>
          <a:prstGeom prst="rect">
            <a:avLst/>
          </a:prstGeom>
          <a:solidFill>
            <a:srgbClr val="1A3A6B"/>
          </a:solidFill>
          <a:ln w="12700">
            <a:solidFill>
              <a:srgbClr val="1A3A6B"/>
            </a:solidFill>
            <a:prstDash val="solid"/>
          </a:ln>
        </p:spPr>
      </p:sp>
      <p:sp>
        <p:nvSpPr>
          <p:cNvPr id="7" name="Text 5"/>
          <p:cNvSpPr/>
          <p:nvPr/>
        </p:nvSpPr>
        <p:spPr>
          <a:xfrm>
            <a:off x="274320" y="100584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1  语义特征与层次聚类</a:t>
            </a:r>
            <a:endParaRPr lang="en-US" sz="1600" dirty="0"/>
          </a:p>
        </p:txBody>
      </p:sp>
      <p:sp>
        <p:nvSpPr>
          <p:cNvPr id="9" name="Text 7"/>
          <p:cNvSpPr/>
          <p:nvPr/>
        </p:nvSpPr>
        <p:spPr>
          <a:xfrm>
            <a:off x="3959352" y="3200400"/>
            <a:ext cx="384048" cy="457200"/>
          </a:xfrm>
          <a:prstGeom prst="rect">
            <a:avLst/>
          </a:prstGeom>
          <a:noFill/>
          <a:ln/>
        </p:spPr>
        <p:txBody>
          <a:bodyPr wrap="square" rtlCol="0" anchor="ctr"/>
          <a:lstStyle/>
          <a:p>
            <a:pPr marL="0" indent="0" algn="ctr">
              <a:buNone/>
            </a:pPr>
            <a:r>
              <a:rPr lang="en-US" sz="2400" b="1" dirty="0">
                <a:solidFill>
                  <a:srgbClr val="00B4CC"/>
                </a:solidFill>
              </a:rPr>
              <a:t>→</a:t>
            </a:r>
            <a:endParaRPr lang="en-US" sz="2400" dirty="0"/>
          </a:p>
        </p:txBody>
      </p:sp>
      <p:sp>
        <p:nvSpPr>
          <p:cNvPr id="10" name="Shape 8"/>
          <p:cNvSpPr/>
          <p:nvPr/>
        </p:nvSpPr>
        <p:spPr>
          <a:xfrm>
            <a:off x="4370832" y="1005840"/>
            <a:ext cx="36576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1" name="Shape 9"/>
          <p:cNvSpPr/>
          <p:nvPr/>
        </p:nvSpPr>
        <p:spPr>
          <a:xfrm>
            <a:off x="4370832" y="1005840"/>
            <a:ext cx="3657600" cy="457200"/>
          </a:xfrm>
          <a:prstGeom prst="rect">
            <a:avLst/>
          </a:prstGeom>
          <a:solidFill>
            <a:srgbClr val="006579"/>
          </a:solidFill>
          <a:ln w="12700">
            <a:solidFill>
              <a:srgbClr val="006579"/>
            </a:solidFill>
            <a:prstDash val="solid"/>
          </a:ln>
        </p:spPr>
      </p:sp>
      <p:sp>
        <p:nvSpPr>
          <p:cNvPr id="12" name="Text 10"/>
          <p:cNvSpPr/>
          <p:nvPr/>
        </p:nvSpPr>
        <p:spPr>
          <a:xfrm>
            <a:off x="4370832" y="1005840"/>
            <a:ext cx="36576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2  LLM </a:t>
            </a:r>
            <a:r>
              <a:rPr lang="en-US" sz="1600" b="1" dirty="0" err="1">
                <a:solidFill>
                  <a:srgbClr val="FFFFFF"/>
                </a:solidFill>
              </a:rPr>
              <a:t>辅助语义对齐</a:t>
            </a:r>
            <a:endParaRPr lang="en-US" sz="1600" dirty="0"/>
          </a:p>
        </p:txBody>
      </p:sp>
      <p:sp>
        <p:nvSpPr>
          <p:cNvPr id="14" name="Text 12"/>
          <p:cNvSpPr/>
          <p:nvPr/>
        </p:nvSpPr>
        <p:spPr>
          <a:xfrm>
            <a:off x="8074152" y="3200400"/>
            <a:ext cx="384048" cy="457200"/>
          </a:xfrm>
          <a:prstGeom prst="rect">
            <a:avLst/>
          </a:prstGeom>
          <a:noFill/>
          <a:ln/>
        </p:spPr>
        <p:txBody>
          <a:bodyPr wrap="square" rtlCol="0" anchor="ctr"/>
          <a:lstStyle/>
          <a:p>
            <a:pPr marL="0" indent="0" algn="ctr">
              <a:buNone/>
            </a:pPr>
            <a:r>
              <a:rPr lang="en-US" sz="2400" b="1" dirty="0">
                <a:solidFill>
                  <a:srgbClr val="00B4CC"/>
                </a:solidFill>
              </a:rPr>
              <a:t>→</a:t>
            </a:r>
            <a:endParaRPr lang="en-US" sz="2400" dirty="0"/>
          </a:p>
        </p:txBody>
      </p:sp>
      <p:sp>
        <p:nvSpPr>
          <p:cNvPr id="15" name="Shape 13"/>
          <p:cNvSpPr/>
          <p:nvPr/>
        </p:nvSpPr>
        <p:spPr>
          <a:xfrm>
            <a:off x="8485632" y="1005840"/>
            <a:ext cx="3429000" cy="51663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6" name="Shape 14"/>
          <p:cNvSpPr/>
          <p:nvPr/>
        </p:nvSpPr>
        <p:spPr>
          <a:xfrm>
            <a:off x="8485632" y="1005840"/>
            <a:ext cx="3429000" cy="457200"/>
          </a:xfrm>
          <a:prstGeom prst="rect">
            <a:avLst/>
          </a:prstGeom>
          <a:solidFill>
            <a:srgbClr val="1B5E20"/>
          </a:solidFill>
          <a:ln w="12700">
            <a:solidFill>
              <a:srgbClr val="1B5E20"/>
            </a:solidFill>
            <a:prstDash val="solid"/>
          </a:ln>
        </p:spPr>
      </p:sp>
      <p:sp>
        <p:nvSpPr>
          <p:cNvPr id="17" name="Text 15"/>
          <p:cNvSpPr/>
          <p:nvPr/>
        </p:nvSpPr>
        <p:spPr>
          <a:xfrm>
            <a:off x="8485632" y="1005840"/>
            <a:ext cx="3429000" cy="457200"/>
          </a:xfrm>
          <a:prstGeom prst="rect">
            <a:avLst/>
          </a:prstGeom>
          <a:noFill/>
          <a:ln/>
        </p:spPr>
        <p:txBody>
          <a:bodyPr wrap="square" lIns="0" tIns="0" rIns="0" bIns="0" rtlCol="0" anchor="ctr"/>
          <a:lstStyle/>
          <a:p>
            <a:pPr marL="0" indent="0" algn="ctr">
              <a:buNone/>
            </a:pPr>
            <a:r>
              <a:rPr lang="en-US" sz="1600" b="1" dirty="0">
                <a:solidFill>
                  <a:srgbClr val="FFFFFF"/>
                </a:solidFill>
              </a:rPr>
              <a:t>Step 3  确定性规则注入</a:t>
            </a:r>
            <a:endParaRPr lang="en-US" sz="1600" dirty="0"/>
          </a:p>
        </p:txBody>
      </p:sp>
      <p:sp>
        <p:nvSpPr>
          <p:cNvPr id="18" name="Text 16"/>
          <p:cNvSpPr/>
          <p:nvPr/>
        </p:nvSpPr>
        <p:spPr>
          <a:xfrm>
            <a:off x="8622792" y="1536192"/>
            <a:ext cx="3154680" cy="4389120"/>
          </a:xfrm>
          <a:prstGeom prst="rect">
            <a:avLst/>
          </a:prstGeom>
          <a:noFill/>
          <a:ln/>
        </p:spPr>
        <p:txBody>
          <a:bodyPr wrap="square" rtlCol="0" anchor="t"/>
          <a:lstStyle/>
          <a:p>
            <a:r>
              <a:rPr lang="en-US" sz="1600" b="1" dirty="0">
                <a:solidFill>
                  <a:srgbClr val="B71C1C"/>
                </a:solidFill>
              </a:rPr>
              <a:t>不使用 LLM </a:t>
            </a:r>
            <a:r>
              <a:rPr lang="en-US" sz="1600" b="1" dirty="0" err="1">
                <a:solidFill>
                  <a:srgbClr val="B71C1C"/>
                </a:solidFill>
              </a:rPr>
              <a:t>生成关系</a:t>
            </a:r>
            <a:r>
              <a:rPr lang="zh-CN" altLang="en-US" sz="1600" b="1" dirty="0">
                <a:solidFill>
                  <a:srgbClr val="B71C1C"/>
                </a:solidFill>
              </a:rPr>
              <a:t> </a:t>
            </a:r>
            <a:r>
              <a:rPr lang="en-US" altLang="zh-CN" sz="1600" b="1" dirty="0">
                <a:solidFill>
                  <a:srgbClr val="B71C1B"/>
                </a:solidFill>
              </a:rPr>
              <a:t>→</a:t>
            </a:r>
            <a:r>
              <a:rPr lang="zh-CN" altLang="en-US" sz="1600" b="1" dirty="0">
                <a:solidFill>
                  <a:srgbClr val="B71C1B"/>
                </a:solidFill>
              </a:rPr>
              <a:t> </a:t>
            </a:r>
            <a:r>
              <a:rPr lang="zh-CN" altLang="en-US" sz="1600" b="1" dirty="0">
                <a:solidFill>
                  <a:srgbClr val="B71C1B"/>
                </a:solidFill>
                <a:latin typeface="Microsoft YaHei" panose="020B0503020204020204" pitchFamily="34" charset="-122"/>
                <a:ea typeface="Microsoft YaHei" panose="020B0503020204020204" pitchFamily="34" charset="-122"/>
              </a:rPr>
              <a:t>幻觉</a:t>
            </a:r>
            <a:endParaRPr lang="en-US" sz="1600" dirty="0">
              <a:solidFill>
                <a:srgbClr val="B71C1B"/>
              </a:solidFill>
              <a:latin typeface="Microsoft YaHei" panose="020B0503020204020204" pitchFamily="34" charset="-122"/>
              <a:ea typeface="Microsoft YaHei" panose="020B0503020204020204" pitchFamily="34" charset="-122"/>
            </a:endParaRPr>
          </a:p>
          <a:p>
            <a:pPr marL="0" indent="0">
              <a:buNone/>
            </a:pPr>
            <a:r>
              <a:rPr lang="en-US" sz="1600" dirty="0">
                <a:solidFill>
                  <a:srgbClr val="0D1B2A"/>
                </a:solidFill>
              </a:rPr>
              <a:t>仅用 LLM 做高层命名
</a:t>
            </a:r>
            <a:r>
              <a:rPr lang="en-US" sz="1600" b="1" dirty="0">
                <a:solidFill>
                  <a:srgbClr val="1B5E20"/>
                </a:solidFill>
              </a:rPr>
              <a:t>三条约束原则</a:t>
            </a:r>
            <a:endParaRPr lang="en-US" sz="1600" dirty="0"/>
          </a:p>
          <a:p>
            <a:pPr marL="0" indent="0">
              <a:buNone/>
            </a:pPr>
            <a:r>
              <a:rPr lang="en-US" sz="1600" dirty="0">
                <a:solidFill>
                  <a:srgbClr val="0D1B2A"/>
                </a:solidFill>
              </a:rPr>
              <a:t>① 闭集词表约束
② 单向映射（底层→高层）
③ 语义一致性（确定性字典）
</a:t>
            </a:r>
            <a:r>
              <a:rPr lang="en-US" sz="1600" b="1" dirty="0">
                <a:solidFill>
                  <a:srgbClr val="1B5E20"/>
                </a:solidFill>
              </a:rPr>
              <a:t>注入规模</a:t>
            </a:r>
            <a:endParaRPr lang="en-US" sz="1600" dirty="0"/>
          </a:p>
          <a:p>
            <a:pPr marL="0" indent="0">
              <a:buNone/>
            </a:pPr>
            <a:r>
              <a:rPr lang="en-US" sz="1600" dirty="0">
                <a:solidFill>
                  <a:srgbClr val="0D1B2A"/>
                </a:solidFill>
              </a:rPr>
              <a:t>1,253 条 subClassOf
三元组精准生成
代码级校验（零随机生成）
</a:t>
            </a:r>
            <a:r>
              <a:rPr lang="en-US" sz="1600" b="1" dirty="0">
                <a:solidFill>
                  <a:srgbClr val="1B5E20"/>
                </a:solidFill>
              </a:rPr>
              <a:t>风险规避</a:t>
            </a:r>
            <a:endParaRPr lang="en-US" sz="1600" dirty="0"/>
          </a:p>
          <a:p>
            <a:pPr marL="0" indent="0">
              <a:buNone/>
            </a:pPr>
            <a:r>
              <a:rPr lang="en-US" sz="1600" dirty="0">
                <a:solidFill>
                  <a:srgbClr val="0D1B2A"/>
                </a:solidFill>
              </a:rPr>
              <a:t>从源头切断事实幻觉</a:t>
            </a:r>
            <a:endParaRPr lang="en-US" sz="1600" dirty="0"/>
          </a:p>
          <a:p>
            <a:pPr marL="0" indent="0">
              <a:buNone/>
            </a:pPr>
            <a:r>
              <a:rPr lang="en-US" sz="1600" dirty="0">
                <a:solidFill>
                  <a:srgbClr val="0D1B2A"/>
                </a:solidFill>
              </a:rPr>
              <a:t>与语义漂移风险</a:t>
            </a:r>
            <a:endParaRPr lang="en-US" sz="1600" dirty="0"/>
          </a:p>
        </p:txBody>
      </p:sp>
      <p:sp>
        <p:nvSpPr>
          <p:cNvPr id="19" name="Text 17"/>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7/18</a:t>
            </a:r>
            <a:endParaRPr lang="en-US" sz="900" dirty="0"/>
          </a:p>
        </p:txBody>
      </p:sp>
      <p:sp>
        <p:nvSpPr>
          <p:cNvPr id="21" name="Text 6">
            <a:extLst>
              <a:ext uri="{FF2B5EF4-FFF2-40B4-BE49-F238E27FC236}">
                <a16:creationId xmlns:a16="http://schemas.microsoft.com/office/drawing/2014/main" id="{702FF080-6A01-79A4-910A-2274BFA76542}"/>
              </a:ext>
            </a:extLst>
          </p:cNvPr>
          <p:cNvSpPr/>
          <p:nvPr/>
        </p:nvSpPr>
        <p:spPr>
          <a:xfrm>
            <a:off x="411480" y="1536192"/>
            <a:ext cx="3383280" cy="4389120"/>
          </a:xfrm>
          <a:prstGeom prst="rect">
            <a:avLst/>
          </a:prstGeom>
          <a:noFill/>
          <a:ln/>
        </p:spPr>
        <p:txBody>
          <a:bodyPr wrap="square" rtlCol="0" anchor="t"/>
          <a:lstStyle/>
          <a:p>
            <a:r>
              <a:rPr lang="zh-CN" altLang="en-US" sz="1600" b="1" dirty="0">
                <a:solidFill>
                  <a:srgbClr val="1A3A6B"/>
                </a:solidFill>
                <a:latin typeface="Microsoft YaHei" panose="020B0503020204020204" pitchFamily="34" charset="-122"/>
                <a:ea typeface="Microsoft YaHei" panose="020B0503020204020204" pitchFamily="34" charset="-122"/>
              </a:rPr>
              <a:t>原始</a:t>
            </a:r>
            <a:r>
              <a:rPr lang="en-US" altLang="zh-CN" sz="1600" b="1" dirty="0">
                <a:solidFill>
                  <a:srgbClr val="1A3A6B"/>
                </a:solidFill>
                <a:latin typeface="Microsoft YaHei" panose="020B0503020204020204" pitchFamily="34" charset="-122"/>
                <a:ea typeface="Microsoft YaHei" panose="020B0503020204020204" pitchFamily="34" charset="-122"/>
              </a:rPr>
              <a:t> </a:t>
            </a:r>
            <a:r>
              <a:rPr lang="en-US" altLang="zh-CN" b="1" dirty="0">
                <a:solidFill>
                  <a:srgbClr val="1A3A6B"/>
                </a:solidFill>
                <a:ea typeface="Microsoft YaHei" panose="020B0503020204020204" pitchFamily="34" charset="-122"/>
              </a:rPr>
              <a:t>APT-Flat</a:t>
            </a:r>
            <a:endParaRPr lang="en-US" altLang="zh-CN" sz="1600" b="1" dirty="0">
              <a:solidFill>
                <a:srgbClr val="1A3A6B"/>
              </a:solidFill>
              <a:ea typeface="Microsoft YaHei" panose="020B0503020204020204" pitchFamily="34" charset="-122"/>
            </a:endParaRPr>
          </a:p>
          <a:p>
            <a:r>
              <a:rPr lang="zh-CN" altLang="zh-CN" sz="1600" dirty="0">
                <a:effectLst/>
                <a:ea typeface="Microsoft YaHei" panose="020B0503020204020204" pitchFamily="34" charset="-122"/>
                <a:cs typeface="Times New Roman" panose="02020603050405020304" pitchFamily="18" charset="0"/>
              </a:rPr>
              <a:t>包括</a:t>
            </a:r>
            <a:r>
              <a:rPr lang="en-US" altLang="zh-CN" sz="1600" dirty="0">
                <a:effectLst/>
                <a:ea typeface="Microsoft YaHei" panose="020B0503020204020204" pitchFamily="34" charset="-122"/>
              </a:rPr>
              <a:t> APT</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CAMPAIGN</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OS</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URL</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IP</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FILE</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MD5</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SHA1</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SHA2</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VULNAME</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VULID</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ACT</a:t>
            </a:r>
            <a:r>
              <a:rPr lang="zh-CN" altLang="zh-CN" sz="1600" dirty="0">
                <a:effectLst/>
                <a:ea typeface="Microsoft YaHei" panose="020B0503020204020204" pitchFamily="34" charset="-122"/>
                <a:cs typeface="Times New Roman" panose="02020603050405020304" pitchFamily="18" charset="0"/>
              </a:rPr>
              <a:t>、</a:t>
            </a:r>
            <a:r>
              <a:rPr lang="en-US" altLang="zh-CN" sz="1600" dirty="0">
                <a:effectLst/>
                <a:ea typeface="Microsoft YaHei" panose="020B0503020204020204" pitchFamily="34" charset="-122"/>
              </a:rPr>
              <a:t>MAL </a:t>
            </a:r>
            <a:r>
              <a:rPr lang="zh-CN" altLang="zh-CN" sz="1600" dirty="0">
                <a:effectLst/>
                <a:ea typeface="Microsoft YaHei" panose="020B0503020204020204" pitchFamily="34" charset="-122"/>
                <a:cs typeface="Times New Roman" panose="02020603050405020304" pitchFamily="18" charset="0"/>
              </a:rPr>
              <a:t>等</a:t>
            </a:r>
            <a:r>
              <a:rPr lang="en-US" altLang="zh-CN" sz="1600" dirty="0">
                <a:effectLst/>
                <a:ea typeface="Microsoft YaHei" panose="020B0503020204020204" pitchFamily="34" charset="-122"/>
              </a:rPr>
              <a:t> 21 </a:t>
            </a:r>
            <a:r>
              <a:rPr lang="zh-CN" altLang="zh-CN" sz="1600" dirty="0">
                <a:effectLst/>
                <a:ea typeface="Microsoft YaHei" panose="020B0503020204020204" pitchFamily="34" charset="-122"/>
                <a:cs typeface="Times New Roman" panose="02020603050405020304" pitchFamily="18" charset="0"/>
              </a:rPr>
              <a:t>类。</a:t>
            </a:r>
            <a:endParaRPr lang="en-US" altLang="zh-CN" sz="1600" b="1" dirty="0">
              <a:solidFill>
                <a:srgbClr val="1A3A6B"/>
              </a:solidFill>
              <a:ea typeface="Microsoft YaHei" panose="020B0503020204020204" pitchFamily="34" charset="-122"/>
            </a:endParaRPr>
          </a:p>
          <a:p>
            <a:r>
              <a:rPr lang="en-US" altLang="zh-CN" b="1" dirty="0">
                <a:solidFill>
                  <a:srgbClr val="1A3A6B"/>
                </a:solidFill>
              </a:rPr>
              <a:t> </a:t>
            </a:r>
          </a:p>
          <a:p>
            <a:r>
              <a:rPr lang="en-US" altLang="zh-CN" sz="1600" b="1" dirty="0">
                <a:solidFill>
                  <a:srgbClr val="1A3A6B"/>
                </a:solidFill>
              </a:rPr>
              <a:t>①</a:t>
            </a:r>
            <a:r>
              <a:rPr lang="en-US" sz="1600" b="1" dirty="0">
                <a:solidFill>
                  <a:srgbClr val="1A3A6B"/>
                </a:solidFill>
              </a:rPr>
              <a:t> 成对余弦相似度矩阵</a:t>
            </a:r>
            <a:endParaRPr lang="en-US" sz="1600" dirty="0"/>
          </a:p>
          <a:p>
            <a:pPr marL="285750" indent="-285750">
              <a:buFont typeface="Arial" panose="020B0604020202020204" pitchFamily="34" charset="0"/>
              <a:buChar char="•"/>
            </a:pPr>
            <a:r>
              <a:rPr lang="en-US" sz="1600" dirty="0">
                <a:solidFill>
                  <a:srgbClr val="0D1B2A"/>
                </a:solidFill>
              </a:rPr>
              <a:t>S ∈ R^{21×21}</a:t>
            </a:r>
          </a:p>
          <a:p>
            <a:pPr marL="285750" indent="-285750">
              <a:buFont typeface="Arial" panose="020B0604020202020204" pitchFamily="34" charset="0"/>
              <a:buChar char="•"/>
            </a:pPr>
            <a:r>
              <a:rPr lang="en-US" sz="1600" dirty="0" err="1">
                <a:solidFill>
                  <a:srgbClr val="0D1B2A"/>
                </a:solidFill>
              </a:rPr>
              <a:t>对角高亮块揭示同源聚合</a:t>
            </a:r>
            <a:r>
              <a:rPr lang="en-US" sz="1600" dirty="0">
                <a:solidFill>
                  <a:srgbClr val="0D1B2A"/>
                </a:solidFill>
              </a:rPr>
              <a:t>
MD5/SHA1/SHA2 </a:t>
            </a:r>
            <a:r>
              <a:rPr lang="en-US" sz="1600" dirty="0" err="1">
                <a:solidFill>
                  <a:srgbClr val="0D1B2A"/>
                </a:solidFill>
              </a:rPr>
              <a:t>极强内聚</a:t>
            </a:r>
            <a:endParaRPr lang="en-US" sz="1600" dirty="0">
              <a:solidFill>
                <a:srgbClr val="0D1B2A"/>
              </a:solidFill>
            </a:endParaRPr>
          </a:p>
          <a:p>
            <a:r>
              <a:rPr lang="en-US" sz="1600" dirty="0">
                <a:solidFill>
                  <a:srgbClr val="0D1B2A"/>
                </a:solidFill>
              </a:rPr>
              <a:t>
</a:t>
            </a:r>
            <a:r>
              <a:rPr lang="en-US" altLang="zh-CN" sz="1600" b="1" dirty="0">
                <a:solidFill>
                  <a:srgbClr val="1A3A6B"/>
                </a:solidFill>
              </a:rPr>
              <a:t> ②</a:t>
            </a:r>
            <a:r>
              <a:rPr lang="en-US" sz="1600" b="1" dirty="0">
                <a:solidFill>
                  <a:srgbClr val="1A3A6B"/>
                </a:solidFill>
              </a:rPr>
              <a:t> Ward 最小方差层次聚类</a:t>
            </a:r>
            <a:endParaRPr lang="en-US" sz="1600" dirty="0"/>
          </a:p>
          <a:p>
            <a:pPr marL="285750" indent="-285750">
              <a:buFont typeface="Arial" panose="020B0604020202020204" pitchFamily="34" charset="0"/>
              <a:buChar char="•"/>
            </a:pPr>
            <a:r>
              <a:rPr lang="en-US" sz="1600" dirty="0" err="1">
                <a:solidFill>
                  <a:srgbClr val="0D1B2A"/>
                </a:solidFill>
              </a:rPr>
              <a:t>基于相似度结构进行层次聚合</a:t>
            </a:r>
            <a:endParaRPr lang="en-US" sz="1600" dirty="0">
              <a:solidFill>
                <a:srgbClr val="0D1B2A"/>
              </a:solidFill>
            </a:endParaRPr>
          </a:p>
          <a:p>
            <a:pPr marL="285750" indent="-285750">
              <a:buFont typeface="Arial" panose="020B0604020202020204" pitchFamily="34" charset="0"/>
              <a:buChar char="•"/>
            </a:pPr>
            <a:r>
              <a:rPr lang="en-US" sz="1600" dirty="0" err="1">
                <a:solidFill>
                  <a:srgbClr val="0D1B2A"/>
                </a:solidFill>
              </a:rPr>
              <a:t>收敛为</a:t>
            </a:r>
            <a:r>
              <a:rPr lang="en-US" sz="1600" dirty="0">
                <a:solidFill>
                  <a:srgbClr val="0D1B2A"/>
                </a:solidFill>
              </a:rPr>
              <a:t> 7 个结构稳定簇分支</a:t>
            </a:r>
            <a:endParaRPr lang="en-US" sz="1600" dirty="0"/>
          </a:p>
        </p:txBody>
      </p:sp>
      <p:sp>
        <p:nvSpPr>
          <p:cNvPr id="23" name="Text 11">
            <a:extLst>
              <a:ext uri="{FF2B5EF4-FFF2-40B4-BE49-F238E27FC236}">
                <a16:creationId xmlns:a16="http://schemas.microsoft.com/office/drawing/2014/main" id="{191CDD15-8D1C-93E4-C6D0-F3B4A8B0ADC0}"/>
              </a:ext>
            </a:extLst>
          </p:cNvPr>
          <p:cNvSpPr/>
          <p:nvPr/>
        </p:nvSpPr>
        <p:spPr>
          <a:xfrm>
            <a:off x="4507992" y="1536192"/>
            <a:ext cx="3383280" cy="4389120"/>
          </a:xfrm>
          <a:prstGeom prst="rect">
            <a:avLst/>
          </a:prstGeom>
          <a:noFill/>
          <a:ln/>
        </p:spPr>
        <p:txBody>
          <a:bodyPr wrap="square" rtlCol="0" anchor="t"/>
          <a:lstStyle/>
          <a:p>
            <a:pPr marL="0" indent="0">
              <a:buNone/>
            </a:pPr>
            <a:r>
              <a:rPr lang="en-US" sz="1600" b="1" dirty="0">
                <a:solidFill>
                  <a:srgbClr val="006579"/>
                </a:solidFill>
              </a:rPr>
              <a:t>GPT-4 命名（受控闭集）</a:t>
            </a:r>
            <a:endParaRPr lang="en-US" sz="1600" dirty="0"/>
          </a:p>
          <a:p>
            <a:pPr marL="0" indent="0">
              <a:buNone/>
            </a:pPr>
            <a:r>
              <a:rPr lang="en-US" sz="1400" dirty="0">
                <a:solidFill>
                  <a:srgbClr val="0D1B2A"/>
                </a:solidFill>
              </a:rPr>
              <a:t>输入各簇的细粒度标签列表
要求结合安全背景生成高层名称</a:t>
            </a:r>
            <a:r>
              <a:rPr lang="en-US" sz="1600" dirty="0">
                <a:solidFill>
                  <a:srgbClr val="0D1B2A"/>
                </a:solidFill>
              </a:rPr>
              <a:t>
</a:t>
            </a:r>
            <a:r>
              <a:rPr lang="en-US" sz="1600" b="1" dirty="0">
                <a:solidFill>
                  <a:srgbClr val="006579"/>
                </a:solidFill>
              </a:rPr>
              <a:t>7 个高层抽象节点 𝒞</a:t>
            </a:r>
            <a:endParaRPr lang="en-US" sz="1600" dirty="0"/>
          </a:p>
          <a:p>
            <a:pPr marL="0" indent="0">
              <a:buNone/>
            </a:pPr>
            <a:r>
              <a:rPr lang="en-US" sz="1600" dirty="0" err="1">
                <a:solidFill>
                  <a:srgbClr val="0D1B2A"/>
                </a:solidFill>
              </a:rPr>
              <a:t>Strategic_Core</a:t>
            </a:r>
            <a:r>
              <a:rPr lang="en-US" sz="1600" dirty="0">
                <a:solidFill>
                  <a:srgbClr val="0D1B2A"/>
                </a:solidFill>
              </a:rPr>
              <a:t>, Context,
</a:t>
            </a:r>
            <a:r>
              <a:rPr lang="en-US" sz="1600" dirty="0" err="1">
                <a:solidFill>
                  <a:srgbClr val="0D1B2A"/>
                </a:solidFill>
              </a:rPr>
              <a:t>Target_System</a:t>
            </a:r>
            <a:r>
              <a:rPr lang="en-US" sz="1600" dirty="0">
                <a:solidFill>
                  <a:srgbClr val="0D1B2A"/>
                </a:solidFill>
              </a:rPr>
              <a:t>, Methodology
</a:t>
            </a:r>
            <a:r>
              <a:rPr lang="en-US" sz="1600" dirty="0" err="1">
                <a:solidFill>
                  <a:srgbClr val="0D1B2A"/>
                </a:solidFill>
              </a:rPr>
              <a:t>Attack_Resource</a:t>
            </a:r>
            <a:r>
              <a:rPr lang="en-US" sz="1600" dirty="0">
                <a:solidFill>
                  <a:srgbClr val="0D1B2A"/>
                </a:solidFill>
              </a:rPr>
              <a:t>,
</a:t>
            </a:r>
            <a:r>
              <a:rPr lang="en-US" sz="1600" dirty="0" err="1">
                <a:solidFill>
                  <a:srgbClr val="0D1B2A"/>
                </a:solidFill>
              </a:rPr>
              <a:t>IOC_Network</a:t>
            </a:r>
            <a:r>
              <a:rPr lang="en-US" sz="1600" dirty="0">
                <a:solidFill>
                  <a:srgbClr val="0D1B2A"/>
                </a:solidFill>
              </a:rPr>
              <a:t>, </a:t>
            </a:r>
            <a:r>
              <a:rPr lang="en-US" sz="1600" dirty="0" err="1">
                <a:solidFill>
                  <a:srgbClr val="0D1B2A"/>
                </a:solidFill>
              </a:rPr>
              <a:t>IOC_Hash</a:t>
            </a:r>
            <a:r>
              <a:rPr lang="en-US" sz="1600" dirty="0">
                <a:solidFill>
                  <a:srgbClr val="0D1B2A"/>
                </a:solidFill>
              </a:rPr>
              <a:t>
</a:t>
            </a:r>
            <a:r>
              <a:rPr lang="en-US" sz="1600" b="1" dirty="0" err="1">
                <a:solidFill>
                  <a:srgbClr val="B71C1C"/>
                </a:solidFill>
              </a:rPr>
              <a:t>权威框架锚定</a:t>
            </a:r>
            <a:endParaRPr lang="en-US" sz="1600" dirty="0"/>
          </a:p>
          <a:p>
            <a:pPr marL="0" indent="0">
              <a:buNone/>
            </a:pPr>
            <a:r>
              <a:rPr lang="en-US" sz="1400" dirty="0">
                <a:solidFill>
                  <a:srgbClr val="0D1B2A"/>
                </a:solidFill>
              </a:rPr>
              <a:t>STIX 2.1 × MITRE ATT&amp;CK </a:t>
            </a:r>
            <a:r>
              <a:rPr lang="en-US" sz="1400" dirty="0" err="1">
                <a:solidFill>
                  <a:srgbClr val="0D1B2A"/>
                </a:solidFill>
              </a:rPr>
              <a:t>交叉验证</a:t>
            </a:r>
            <a:endParaRPr lang="en-US" sz="1400" dirty="0">
              <a:solidFill>
                <a:srgbClr val="0D1B2A"/>
              </a:solidFill>
            </a:endParaRPr>
          </a:p>
          <a:p>
            <a:pPr marL="0" indent="0">
              <a:buNone/>
            </a:pPr>
            <a:r>
              <a:rPr lang="zh-CN" altLang="zh-CN" sz="1400" dirty="0">
                <a:effectLst/>
                <a:ea typeface="Microsoft YaHei" panose="020B0503020204020204" pitchFamily="34" charset="-122"/>
                <a:cs typeface="宋体" panose="02010600030101010101" pitchFamily="2" charset="-122"/>
              </a:rPr>
              <a:t>确认这</a:t>
            </a:r>
            <a:r>
              <a:rPr lang="en-US" altLang="zh-CN" sz="1400" dirty="0">
                <a:effectLst/>
                <a:ea typeface="Microsoft YaHei" panose="020B0503020204020204" pitchFamily="34" charset="-122"/>
                <a:cs typeface="宋体" panose="02010600030101010101" pitchFamily="2" charset="-122"/>
              </a:rPr>
              <a:t> 7 </a:t>
            </a:r>
            <a:r>
              <a:rPr lang="zh-CN" altLang="zh-CN" sz="1400" dirty="0">
                <a:effectLst/>
                <a:ea typeface="Microsoft YaHei" panose="020B0503020204020204" pitchFamily="34" charset="-122"/>
                <a:cs typeface="宋体" panose="02010600030101010101" pitchFamily="2" charset="-122"/>
              </a:rPr>
              <a:t>个节点的命名在网安领域有可解释的标准对应</a:t>
            </a:r>
            <a:endParaRPr lang="en-US" altLang="zh-CN" sz="1400" dirty="0">
              <a:effectLst/>
              <a:ea typeface="Microsoft YaHei" panose="020B0503020204020204" pitchFamily="34" charset="-122"/>
              <a:cs typeface="宋体" panose="02010600030101010101" pitchFamily="2" charset="-122"/>
            </a:endParaRPr>
          </a:p>
          <a:p>
            <a:pPr marL="0" indent="0">
              <a:buNone/>
            </a:pPr>
            <a:endParaRPr lang="en-US" sz="1600" dirty="0">
              <a:solidFill>
                <a:srgbClr val="006479"/>
              </a:solidFill>
              <a:ea typeface="Microsoft YaHei" panose="020B0503020204020204" pitchFamily="34" charset="-122"/>
            </a:endParaRPr>
          </a:p>
          <a:p>
            <a:pPr marL="0" indent="0">
              <a:buNone/>
            </a:pPr>
            <a:r>
              <a:rPr lang="en" altLang="zh-CN" sz="1600" b="1" dirty="0">
                <a:solidFill>
                  <a:srgbClr val="006479"/>
                </a:solidFill>
                <a:latin typeface="Microsoft YaHei" panose="020B0503020204020204" pitchFamily="34" charset="-122"/>
                <a:ea typeface="Microsoft YaHei" panose="020B0503020204020204" pitchFamily="34" charset="-122"/>
              </a:rPr>
              <a:t>LLM </a:t>
            </a:r>
            <a:r>
              <a:rPr lang="zh-CN" altLang="en-US" sz="1600" b="1" dirty="0">
                <a:solidFill>
                  <a:srgbClr val="006479"/>
                </a:solidFill>
                <a:latin typeface="Microsoft YaHei" panose="020B0503020204020204" pitchFamily="34" charset="-122"/>
                <a:ea typeface="Microsoft YaHei" panose="020B0503020204020204" pitchFamily="34" charset="-122"/>
              </a:rPr>
              <a:t>能力的实证验证</a:t>
            </a:r>
            <a:endParaRPr lang="en-US" altLang="zh-CN" sz="1600" b="1" dirty="0">
              <a:solidFill>
                <a:srgbClr val="006479"/>
              </a:solidFill>
              <a:latin typeface="Microsoft YaHei" panose="020B0503020204020204" pitchFamily="34" charset="-122"/>
              <a:ea typeface="Microsoft YaHei" panose="020B0503020204020204" pitchFamily="34" charset="-122"/>
            </a:endParaRPr>
          </a:p>
          <a:p>
            <a:r>
              <a:rPr lang="zh-CN" altLang="en-US" sz="1400" dirty="0">
                <a:ea typeface="Microsoft YaHei" panose="020B0503020204020204" pitchFamily="34" charset="-122"/>
              </a:rPr>
              <a:t>只提供真实三元组语境</a:t>
            </a:r>
            <a:r>
              <a:rPr lang="en-US" altLang="zh-CN" sz="1400" dirty="0">
                <a:ea typeface="Microsoft YaHei" panose="020B0503020204020204" pitchFamily="34" charset="-122"/>
              </a:rPr>
              <a:t>,</a:t>
            </a:r>
            <a:r>
              <a:rPr lang="zh-CN" altLang="en-US" sz="1400" dirty="0">
                <a:ea typeface="Microsoft YaHei" panose="020B0503020204020204" pitchFamily="34" charset="-122"/>
              </a:rPr>
              <a:t>让 </a:t>
            </a:r>
            <a:r>
              <a:rPr lang="en" altLang="zh-CN" sz="1600" dirty="0">
                <a:ea typeface="Microsoft YaHei" panose="020B0503020204020204" pitchFamily="34" charset="-122"/>
              </a:rPr>
              <a:t>LLM</a:t>
            </a:r>
            <a:r>
              <a:rPr lang="en" altLang="zh-CN" sz="1400" dirty="0">
                <a:ea typeface="Microsoft YaHei" panose="020B0503020204020204" pitchFamily="34" charset="-122"/>
              </a:rPr>
              <a:t> </a:t>
            </a:r>
            <a:r>
              <a:rPr lang="zh-CN" altLang="en-US" sz="1400" dirty="0">
                <a:ea typeface="Microsoft YaHei" panose="020B0503020204020204" pitchFamily="34" charset="-122"/>
              </a:rPr>
              <a:t>在闭集约束下独立推断它们的语义角色</a:t>
            </a:r>
            <a:endParaRPr lang="en-US" altLang="zh-CN" sz="1400" dirty="0">
              <a:ea typeface="Microsoft YaHei" panose="020B0503020204020204" pitchFamily="34" charset="-122"/>
            </a:endParaRPr>
          </a:p>
          <a:p>
            <a:pPr marL="0" indent="0">
              <a:buNone/>
            </a:pPr>
            <a:r>
              <a:rPr lang="zh-CN" altLang="en-US" sz="1400" dirty="0">
                <a:latin typeface="Microsoft YaHei" panose="020B0503020204020204" pitchFamily="34" charset="-122"/>
                <a:ea typeface="Microsoft YaHei" panose="020B0503020204020204" pitchFamily="34" charset="-122"/>
              </a:rPr>
              <a:t>语境消歧准确率 </a:t>
            </a:r>
            <a:r>
              <a:rPr lang="en-US" altLang="zh-CN" sz="1400" dirty="0">
                <a:latin typeface="Microsoft YaHei" panose="020B0503020204020204" pitchFamily="34" charset="-122"/>
                <a:ea typeface="Microsoft YaHei" panose="020B0503020204020204" pitchFamily="34" charset="-122"/>
              </a:rPr>
              <a:t>81%</a:t>
            </a:r>
            <a:endParaRPr lang="en-US"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54431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07  APT-Hier 规模统计与拓扑度量</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Text 3"/>
          <p:cNvSpPr/>
          <p:nvPr/>
        </p:nvSpPr>
        <p:spPr>
          <a:xfrm>
            <a:off x="274320" y="1024128"/>
            <a:ext cx="5669280" cy="347472"/>
          </a:xfrm>
          <a:prstGeom prst="rect">
            <a:avLst/>
          </a:prstGeom>
          <a:noFill/>
          <a:ln/>
        </p:spPr>
        <p:txBody>
          <a:bodyPr wrap="square" rtlCol="0" anchor="ctr"/>
          <a:lstStyle/>
          <a:p>
            <a:pPr marL="0" indent="0">
              <a:buNone/>
            </a:pPr>
            <a:r>
              <a:rPr lang="en-US" sz="1600" b="1" dirty="0">
                <a:solidFill>
                  <a:srgbClr val="1A3A6B"/>
                </a:solidFill>
              </a:rPr>
              <a:t>数据集规模对比</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3383417178"/>
              </p:ext>
            </p:extLst>
          </p:nvPr>
        </p:nvGraphicFramePr>
        <p:xfrm>
          <a:off x="274320" y="1417320"/>
          <a:ext cx="11612880" cy="1234440"/>
        </p:xfrm>
        <a:graphic>
          <a:graphicData uri="http://schemas.openxmlformats.org/drawingml/2006/table">
            <a:tbl>
              <a:tblPr/>
              <a:tblGrid>
                <a:gridCol w="2560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4389120">
                  <a:extLst>
                    <a:ext uri="{9D8B030D-6E8A-4147-A177-3AD203B41FA5}">
                      <a16:colId xmlns:a16="http://schemas.microsoft.com/office/drawing/2014/main" val="20004"/>
                    </a:ext>
                  </a:extLst>
                </a:gridCol>
              </a:tblGrid>
              <a:tr h="411480">
                <a:tc>
                  <a:txBody>
                    <a:bodyPr/>
                    <a:lstStyle/>
                    <a:p>
                      <a:pPr marL="0" indent="0" algn="ctr">
                        <a:buNone/>
                      </a:pPr>
                      <a:r>
                        <a:rPr lang="en-US" sz="1400" b="1" dirty="0">
                          <a:solidFill>
                            <a:srgbClr val="FFFFFF"/>
                          </a:solidFill>
                        </a:rPr>
                        <a:t>数据集</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实体数</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关系数</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三元组</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说明</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411480">
                <a:tc>
                  <a:txBody>
                    <a:bodyPr/>
                    <a:lstStyle/>
                    <a:p>
                      <a:pPr marL="0" indent="0" algn="ctr">
                        <a:buNone/>
                      </a:pPr>
                      <a:r>
                        <a:rPr lang="en-US" sz="1600" dirty="0">
                          <a:solidFill>
                            <a:srgbClr val="000000"/>
                          </a:solidFill>
                        </a:rPr>
                        <a:t>APT-Flat</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1,476</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11</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4,746</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基础事实图谱（前期工作）</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ctr">
                        <a:buNone/>
                      </a:pPr>
                      <a:r>
                        <a:rPr lang="en-US" sz="1600" b="1" dirty="0">
                          <a:solidFill>
                            <a:srgbClr val="000000"/>
                          </a:solidFill>
                        </a:rPr>
                        <a:t>APT-Hier（本文）</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b="1" dirty="0">
                          <a:solidFill>
                            <a:srgbClr val="B71C1C"/>
                          </a:solidFill>
                        </a:rPr>
                        <a:t>1,483</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b="1" dirty="0">
                          <a:solidFill>
                            <a:srgbClr val="B71C1C"/>
                          </a:solidFill>
                        </a:rPr>
                        <a:t>12</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b="1" dirty="0">
                          <a:solidFill>
                            <a:srgbClr val="B71C1C"/>
                          </a:solidFill>
                        </a:rPr>
                        <a:t>5,999</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000000"/>
                          </a:solidFill>
                        </a:rPr>
                        <a:t>新增</a:t>
                      </a:r>
                      <a:r>
                        <a:rPr lang="en-US" sz="1600" b="1" dirty="0">
                          <a:solidFill>
                            <a:srgbClr val="000000"/>
                          </a:solidFill>
                        </a:rPr>
                        <a:t>7</a:t>
                      </a:r>
                      <a:r>
                        <a:rPr lang="en-US" sz="1400" b="1" dirty="0">
                          <a:solidFill>
                            <a:srgbClr val="000000"/>
                          </a:solidFill>
                        </a:rPr>
                        <a:t>节点</a:t>
                      </a:r>
                      <a:r>
                        <a:rPr lang="en-US" sz="1600" b="1" dirty="0">
                          <a:solidFill>
                            <a:srgbClr val="000000"/>
                          </a:solidFill>
                        </a:rPr>
                        <a:t>+1,253</a:t>
                      </a:r>
                      <a:r>
                        <a:rPr lang="en-US" sz="1400" b="1" dirty="0">
                          <a:solidFill>
                            <a:srgbClr val="000000"/>
                          </a:solidFill>
                        </a:rPr>
                        <a:t>条</a:t>
                      </a:r>
                      <a:r>
                        <a:rPr lang="en-US" sz="1600" b="1" dirty="0">
                          <a:solidFill>
                            <a:srgbClr val="000000"/>
                          </a:solidFill>
                        </a:rPr>
                        <a:t>subClassOf</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 4"/>
          <p:cNvSpPr/>
          <p:nvPr/>
        </p:nvSpPr>
        <p:spPr>
          <a:xfrm>
            <a:off x="274320" y="2905317"/>
            <a:ext cx="6400800" cy="347472"/>
          </a:xfrm>
          <a:prstGeom prst="rect">
            <a:avLst/>
          </a:prstGeom>
          <a:noFill/>
          <a:ln/>
        </p:spPr>
        <p:txBody>
          <a:bodyPr wrap="square" rtlCol="0" anchor="ctr"/>
          <a:lstStyle/>
          <a:p>
            <a:pPr marL="0" indent="0">
              <a:buNone/>
            </a:pPr>
            <a:r>
              <a:rPr lang="en-US" sz="1600" b="1" dirty="0">
                <a:solidFill>
                  <a:srgbClr val="1A3A6B"/>
                </a:solidFill>
              </a:rPr>
              <a:t>Gromov δ-双曲性：层级拓扑量化指标</a:t>
            </a:r>
            <a:endParaRPr lang="en-US" sz="1600" dirty="0"/>
          </a:p>
        </p:txBody>
      </p:sp>
      <p:sp>
        <p:nvSpPr>
          <p:cNvPr id="8" name="Text 5"/>
          <p:cNvSpPr/>
          <p:nvPr/>
        </p:nvSpPr>
        <p:spPr>
          <a:xfrm>
            <a:off x="274320" y="3243645"/>
            <a:ext cx="11612880" cy="347472"/>
          </a:xfrm>
          <a:prstGeom prst="rect">
            <a:avLst/>
          </a:prstGeom>
          <a:noFill/>
          <a:ln/>
        </p:spPr>
        <p:txBody>
          <a:bodyPr wrap="square" rtlCol="0" anchor="ctr"/>
          <a:lstStyle/>
          <a:p>
            <a:pPr marL="0" indent="0">
              <a:buNone/>
            </a:pPr>
            <a:r>
              <a:rPr lang="en-US" sz="1400" i="1" dirty="0">
                <a:solidFill>
                  <a:srgbClr val="455A64"/>
                </a:solidFill>
              </a:rPr>
              <a:t>δ 越小 → 图谱越接近纯树结构 → 越适合双曲嵌入　　　δ = 0 表示纯树</a:t>
            </a:r>
            <a:endParaRPr lang="en-US" sz="1400" dirty="0"/>
          </a:p>
        </p:txBody>
      </p:sp>
      <p:graphicFrame>
        <p:nvGraphicFramePr>
          <p:cNvPr id="17" name="Table 1"/>
          <p:cNvGraphicFramePr>
            <a:graphicFrameLocks noGrp="1"/>
          </p:cNvGraphicFramePr>
          <p:nvPr>
            <p:extLst>
              <p:ext uri="{D42A27DB-BD31-4B8C-83A1-F6EECF244321}">
                <p14:modId xmlns:p14="http://schemas.microsoft.com/office/powerpoint/2010/main" val="788985986"/>
              </p:ext>
            </p:extLst>
          </p:nvPr>
        </p:nvGraphicFramePr>
        <p:xfrm>
          <a:off x="274320" y="3636837"/>
          <a:ext cx="11612880" cy="1920240"/>
        </p:xfrm>
        <a:graphic>
          <a:graphicData uri="http://schemas.openxmlformats.org/drawingml/2006/table">
            <a:tbl>
              <a:tblPr/>
              <a:tblGrid>
                <a:gridCol w="22860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384048">
                <a:tc>
                  <a:txBody>
                    <a:bodyPr/>
                    <a:lstStyle/>
                    <a:p>
                      <a:pPr marL="0" indent="0" algn="ctr">
                        <a:buNone/>
                      </a:pPr>
                      <a:r>
                        <a:rPr lang="en-US" sz="1400" b="1" dirty="0">
                          <a:solidFill>
                            <a:srgbClr val="FFFFFF"/>
                          </a:solidFill>
                        </a:rPr>
                        <a:t>数据集</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类型</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均值 </a:t>
                      </a:r>
                      <a:r>
                        <a:rPr lang="en-US" sz="1600" b="1" dirty="0">
                          <a:solidFill>
                            <a:srgbClr val="FFFFFF"/>
                          </a:solidFill>
                        </a:rPr>
                        <a:t>Gromov δ</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最大 </a:t>
                      </a:r>
                      <a:r>
                        <a:rPr lang="en-US" sz="1600" b="1" dirty="0">
                          <a:solidFill>
                            <a:srgbClr val="FFFFFF"/>
                          </a:solidFill>
                        </a:rPr>
                        <a:t>Gromov δ</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400" b="1" dirty="0">
                          <a:solidFill>
                            <a:srgbClr val="FFFFFF"/>
                          </a:solidFill>
                        </a:rPr>
                        <a:t>说明</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84048">
                <a:tc>
                  <a:txBody>
                    <a:bodyPr/>
                    <a:lstStyle/>
                    <a:p>
                      <a:pPr marL="0" indent="0" algn="ctr">
                        <a:buNone/>
                      </a:pPr>
                      <a:r>
                        <a:rPr lang="en-US" sz="1600" dirty="0">
                          <a:solidFill>
                            <a:srgbClr val="000000"/>
                          </a:solidFill>
                        </a:rPr>
                        <a:t>FB15k-237</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通用复杂网状（弱层级参考）</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1.34</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3.5</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地理/事实关系图谱</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600" dirty="0">
                          <a:solidFill>
                            <a:srgbClr val="000000"/>
                          </a:solidFill>
                        </a:rPr>
                        <a:t>APT-Flat</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网络安全事实图谱</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0.2566</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2.0</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重构前基线</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ctr">
                        <a:buNone/>
                      </a:pPr>
                      <a:r>
                        <a:rPr lang="en-US" sz="1600" b="1" dirty="0">
                          <a:solidFill>
                            <a:srgbClr val="000000"/>
                          </a:solidFill>
                        </a:rPr>
                        <a:t>APT-Hier</a:t>
                      </a:r>
                      <a:r>
                        <a:rPr lang="en-US" sz="1400" b="1" dirty="0">
                          <a:solidFill>
                            <a:srgbClr val="000000"/>
                          </a:solidFill>
                        </a:rPr>
                        <a:t>（本文）</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网络安全层级图谱</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b="1" dirty="0">
                          <a:solidFill>
                            <a:srgbClr val="B71C1C"/>
                          </a:solidFill>
                        </a:rPr>
                        <a:t>0.1957 ↓</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2.0</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000000"/>
                          </a:solidFill>
                        </a:rPr>
                        <a:t>与 </a:t>
                      </a:r>
                      <a:r>
                        <a:rPr lang="en-US" sz="1600" b="1" dirty="0">
                          <a:solidFill>
                            <a:srgbClr val="000000"/>
                          </a:solidFill>
                        </a:rPr>
                        <a:t>WN18RR（0.24）</a:t>
                      </a:r>
                      <a:r>
                        <a:rPr lang="en-US" sz="1400" b="1" dirty="0">
                          <a:solidFill>
                            <a:srgbClr val="000000"/>
                          </a:solidFill>
                        </a:rPr>
                        <a:t>同量级</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ctr">
                        <a:buNone/>
                      </a:pPr>
                      <a:r>
                        <a:rPr lang="en-US" sz="1600" dirty="0">
                          <a:solidFill>
                            <a:srgbClr val="000000"/>
                          </a:solidFill>
                        </a:rPr>
                        <a:t>WN18RR</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通用极强层级（强层级参考）</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b="1" dirty="0">
                          <a:solidFill>
                            <a:srgbClr val="1B5E20"/>
                          </a:solidFill>
                        </a:rPr>
                        <a:t>0.24</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600" dirty="0">
                          <a:solidFill>
                            <a:srgbClr val="000000"/>
                          </a:solidFill>
                        </a:rPr>
                        <a:t>2.0</a:t>
                      </a:r>
                      <a:endParaRPr lang="en-US" sz="16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词网上下位体系</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hape 6"/>
          <p:cNvSpPr/>
          <p:nvPr/>
        </p:nvSpPr>
        <p:spPr>
          <a:xfrm>
            <a:off x="274320" y="5742432"/>
            <a:ext cx="11612880" cy="548640"/>
          </a:xfrm>
          <a:prstGeom prst="rect">
            <a:avLst/>
          </a:prstGeom>
          <a:solidFill>
            <a:srgbClr val="E8F5E9"/>
          </a:solidFill>
          <a:ln w="12700">
            <a:solidFill>
              <a:srgbClr val="1B5E20"/>
            </a:solidFill>
            <a:prstDash val="solid"/>
          </a:ln>
        </p:spPr>
      </p:sp>
      <p:sp>
        <p:nvSpPr>
          <p:cNvPr id="11" name="Text 7"/>
          <p:cNvSpPr/>
          <p:nvPr/>
        </p:nvSpPr>
        <p:spPr>
          <a:xfrm>
            <a:off x="411480" y="5742432"/>
            <a:ext cx="11338560" cy="548640"/>
          </a:xfrm>
          <a:prstGeom prst="rect">
            <a:avLst/>
          </a:prstGeom>
          <a:noFill/>
          <a:ln/>
        </p:spPr>
        <p:txBody>
          <a:bodyPr wrap="square" rtlCol="0" anchor="ctr"/>
          <a:lstStyle/>
          <a:p>
            <a:pPr marL="0" indent="0">
              <a:buNone/>
            </a:pPr>
            <a:r>
              <a:rPr lang="en-US" sz="1400" b="1" dirty="0">
                <a:solidFill>
                  <a:srgbClr val="1B5E20"/>
                </a:solidFill>
              </a:rPr>
              <a:t>▶ 层级关系注入后 δ: 0.2566 → 0.1957，树状拓扑特征增强，为双曲空间建模提供结构基础（抽样 N=5000 四元节点组）</a:t>
            </a:r>
            <a:endParaRPr lang="en-US" sz="1400" dirty="0"/>
          </a:p>
        </p:txBody>
      </p:sp>
      <p:sp>
        <p:nvSpPr>
          <p:cNvPr id="12" name="Text 8"/>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8/18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08  阶段一：欧式空间语义编码（CyBERT + DualQGNN）</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1024128"/>
            <a:ext cx="5394960" cy="242316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1024128"/>
            <a:ext cx="5394960" cy="411480"/>
          </a:xfrm>
          <a:prstGeom prst="rect">
            <a:avLst/>
          </a:prstGeom>
          <a:solidFill>
            <a:srgbClr val="1A3A6B"/>
          </a:solidFill>
          <a:ln w="12700">
            <a:solidFill>
              <a:srgbClr val="1A3A6B"/>
            </a:solidFill>
            <a:prstDash val="solid"/>
          </a:ln>
        </p:spPr>
      </p:sp>
      <p:sp>
        <p:nvSpPr>
          <p:cNvPr id="7" name="Text 5"/>
          <p:cNvSpPr/>
          <p:nvPr/>
        </p:nvSpPr>
        <p:spPr>
          <a:xfrm>
            <a:off x="274320" y="1024128"/>
            <a:ext cx="5394960" cy="411480"/>
          </a:xfrm>
          <a:prstGeom prst="rect">
            <a:avLst/>
          </a:prstGeom>
          <a:noFill/>
          <a:ln/>
        </p:spPr>
        <p:txBody>
          <a:bodyPr wrap="square" lIns="0" tIns="0" rIns="0" bIns="0" rtlCol="0" anchor="ctr"/>
          <a:lstStyle/>
          <a:p>
            <a:pPr marL="0" indent="0" algn="ctr">
              <a:buNone/>
            </a:pPr>
            <a:r>
              <a:rPr lang="en-US" sz="1400" b="1" dirty="0">
                <a:solidFill>
                  <a:srgbClr val="FFFFFF"/>
                </a:solidFill>
              </a:rPr>
              <a:t>① 语义初始化：CyBERT 领域先验</a:t>
            </a:r>
            <a:endParaRPr lang="en-US" sz="1400" dirty="0"/>
          </a:p>
        </p:txBody>
      </p:sp>
      <p:sp>
        <p:nvSpPr>
          <p:cNvPr id="8" name="Text 6"/>
          <p:cNvSpPr/>
          <p:nvPr/>
        </p:nvSpPr>
        <p:spPr>
          <a:xfrm>
            <a:off x="411480" y="1481328"/>
            <a:ext cx="5120640" cy="1828800"/>
          </a:xfrm>
          <a:prstGeom prst="rect">
            <a:avLst/>
          </a:prstGeom>
          <a:noFill/>
          <a:ln/>
        </p:spPr>
        <p:txBody>
          <a:bodyPr wrap="square" rtlCol="0" anchor="t"/>
          <a:lstStyle/>
          <a:p>
            <a:r>
              <a:rPr lang="zh-CN" altLang="zh-CN" sz="1400" dirty="0">
                <a:effectLst/>
                <a:ea typeface="Microsoft YaHei" panose="020B0503020204020204" pitchFamily="34" charset="-122"/>
                <a:cs typeface="Times New Roman" panose="02020603050405020304" pitchFamily="18" charset="0"/>
              </a:rPr>
              <a:t>用</a:t>
            </a:r>
            <a:r>
              <a:rPr lang="en-US" altLang="zh-CN" sz="1400" dirty="0">
                <a:effectLst/>
                <a:ea typeface="Microsoft YaHei" panose="020B0503020204020204" pitchFamily="34" charset="-122"/>
                <a:cs typeface="Times New Roman" panose="02020603050405020304" pitchFamily="18" charset="0"/>
              </a:rPr>
              <a:t> </a:t>
            </a:r>
            <a:r>
              <a:rPr lang="en-US" altLang="zh-CN" sz="1600" dirty="0" err="1">
                <a:effectLst/>
                <a:ea typeface="Microsoft YaHei" panose="020B0503020204020204" pitchFamily="34" charset="-122"/>
                <a:cs typeface="Times New Roman" panose="02020603050405020304" pitchFamily="18" charset="0"/>
              </a:rPr>
              <a:t>CyBERT</a:t>
            </a:r>
            <a:r>
              <a:rPr lang="en-US" altLang="zh-CN" sz="1400" dirty="0">
                <a:effectLst/>
                <a:ea typeface="Microsoft YaHei" panose="020B0503020204020204" pitchFamily="34" charset="-122"/>
                <a:cs typeface="Times New Roman" panose="02020603050405020304" pitchFamily="18" charset="0"/>
              </a:rPr>
              <a:t> </a:t>
            </a:r>
            <a:r>
              <a:rPr lang="zh-CN" altLang="zh-CN" sz="1400" dirty="0">
                <a:effectLst/>
                <a:ea typeface="Microsoft YaHei" panose="020B0503020204020204" pitchFamily="34" charset="-122"/>
                <a:cs typeface="Times New Roman" panose="02020603050405020304" pitchFamily="18" charset="0"/>
              </a:rPr>
              <a:t>对每个实体做领域语义初始化</a:t>
            </a:r>
            <a:endParaRPr lang="en-US" sz="1400" dirty="0">
              <a:solidFill>
                <a:srgbClr val="0D1B2A"/>
              </a:solidFill>
              <a:ea typeface="Microsoft YaHei" panose="020B0503020204020204" pitchFamily="34" charset="-122"/>
            </a:endParaRPr>
          </a:p>
          <a:p>
            <a:pPr marL="285750" indent="-285750">
              <a:buFont typeface="Arial" panose="020B0604020202020204" pitchFamily="34" charset="0"/>
              <a:buChar char="•"/>
            </a:pPr>
            <a:r>
              <a:rPr lang="en-US" sz="1400" dirty="0" err="1">
                <a:solidFill>
                  <a:srgbClr val="0D1B2A"/>
                </a:solidFill>
              </a:rPr>
              <a:t>来源：</a:t>
            </a:r>
            <a:r>
              <a:rPr lang="en-US" sz="1600" dirty="0" err="1">
                <a:solidFill>
                  <a:srgbClr val="0D1B2A"/>
                </a:solidFill>
              </a:rPr>
              <a:t>APTnotes</a:t>
            </a:r>
            <a:r>
              <a:rPr lang="en-US" sz="1400" dirty="0">
                <a:solidFill>
                  <a:srgbClr val="0D1B2A"/>
                </a:solidFill>
              </a:rPr>
              <a:t> </a:t>
            </a:r>
            <a:r>
              <a:rPr lang="en-US" sz="1400" dirty="0" err="1">
                <a:solidFill>
                  <a:srgbClr val="0D1B2A"/>
                </a:solidFill>
              </a:rPr>
              <a:t>威胁情报语料，网络安全领域特征预训练提取</a:t>
            </a:r>
            <a:r>
              <a:rPr lang="en-US" sz="1400" dirty="0">
                <a:solidFill>
                  <a:srgbClr val="0D1B2A"/>
                </a:solidFill>
              </a:rPr>
              <a:t>
</a:t>
            </a:r>
            <a:r>
              <a:rPr lang="en-US" sz="1400" dirty="0" err="1">
                <a:solidFill>
                  <a:srgbClr val="0D1B2A"/>
                </a:solidFill>
              </a:rPr>
              <a:t>做法：检索实体上下文</a:t>
            </a:r>
            <a:r>
              <a:rPr lang="en-US" sz="1400" dirty="0">
                <a:solidFill>
                  <a:srgbClr val="0D1B2A"/>
                </a:solidFill>
              </a:rPr>
              <a:t> → 输入 </a:t>
            </a:r>
            <a:r>
              <a:rPr lang="en-US" sz="1600" dirty="0">
                <a:solidFill>
                  <a:srgbClr val="0D1B2A"/>
                </a:solidFill>
              </a:rPr>
              <a:t>CyBERT</a:t>
            </a:r>
            <a:r>
              <a:rPr lang="en-US" sz="1400" dirty="0">
                <a:solidFill>
                  <a:srgbClr val="0D1B2A"/>
                </a:solidFill>
              </a:rPr>
              <a:t> → 提取 </a:t>
            </a:r>
            <a:r>
              <a:rPr lang="en-US" sz="1600" dirty="0">
                <a:solidFill>
                  <a:srgbClr val="0D1B2A"/>
                </a:solidFill>
              </a:rPr>
              <a:t>[CLS]</a:t>
            </a:r>
            <a:r>
              <a:rPr lang="en-US" sz="1400" dirty="0">
                <a:solidFill>
                  <a:srgbClr val="0D1B2A"/>
                </a:solidFill>
              </a:rPr>
              <a:t> 向量
</a:t>
            </a:r>
            <a:r>
              <a:rPr lang="en-US" sz="1400" dirty="0" err="1">
                <a:solidFill>
                  <a:srgbClr val="0D1B2A"/>
                </a:solidFill>
              </a:rPr>
              <a:t>效果：相比随机初始化，提供丰富领域语义先验</a:t>
            </a:r>
            <a:r>
              <a:rPr lang="en-US" sz="1400" dirty="0">
                <a:solidFill>
                  <a:srgbClr val="0D1B2A"/>
                </a:solidFill>
              </a:rPr>
              <a:t>
</a:t>
            </a:r>
            <a:r>
              <a:rPr lang="en-US" sz="1400" dirty="0" err="1">
                <a:solidFill>
                  <a:srgbClr val="0D1B2A"/>
                </a:solidFill>
              </a:rPr>
              <a:t>继承自</a:t>
            </a:r>
            <a:r>
              <a:rPr lang="en-US" sz="1400" dirty="0">
                <a:solidFill>
                  <a:srgbClr val="0D1B2A"/>
                </a:solidFill>
              </a:rPr>
              <a:t> </a:t>
            </a:r>
            <a:r>
              <a:rPr lang="en-US" sz="1600" dirty="0">
                <a:solidFill>
                  <a:srgbClr val="0D1B2A"/>
                </a:solidFill>
              </a:rPr>
              <a:t>KLEC</a:t>
            </a:r>
            <a:r>
              <a:rPr lang="en-US" sz="1400" dirty="0">
                <a:solidFill>
                  <a:srgbClr val="0D1B2A"/>
                </a:solidFill>
              </a:rPr>
              <a:t> [44]</a:t>
            </a:r>
            <a:endParaRPr lang="en-US" sz="1400" dirty="0">
              <a:latin typeface="Microsoft YaHei" panose="020B0503020204020204" pitchFamily="34" charset="-122"/>
              <a:ea typeface="Microsoft YaHei" panose="020B0503020204020204" pitchFamily="34" charset="-122"/>
            </a:endParaRPr>
          </a:p>
        </p:txBody>
      </p:sp>
      <p:sp>
        <p:nvSpPr>
          <p:cNvPr id="9" name="Text 7"/>
          <p:cNvSpPr/>
          <p:nvPr/>
        </p:nvSpPr>
        <p:spPr>
          <a:xfrm>
            <a:off x="457200" y="3520440"/>
            <a:ext cx="5212080" cy="320040"/>
          </a:xfrm>
          <a:prstGeom prst="rect">
            <a:avLst/>
          </a:prstGeom>
          <a:noFill/>
          <a:ln/>
        </p:spPr>
        <p:txBody>
          <a:bodyPr wrap="square" rtlCol="0" anchor="ctr"/>
          <a:lstStyle/>
          <a:p>
            <a:pPr marL="0" indent="0" algn="ctr">
              <a:buNone/>
            </a:pPr>
            <a:r>
              <a:rPr lang="en-US" dirty="0">
                <a:solidFill>
                  <a:srgbClr val="00B4CC"/>
                </a:solidFill>
              </a:rPr>
              <a:t>▼</a:t>
            </a:r>
            <a:endParaRPr lang="en-US" dirty="0"/>
          </a:p>
        </p:txBody>
      </p:sp>
      <p:sp>
        <p:nvSpPr>
          <p:cNvPr id="10" name="Shape 8"/>
          <p:cNvSpPr/>
          <p:nvPr/>
        </p:nvSpPr>
        <p:spPr>
          <a:xfrm>
            <a:off x="274320" y="3840480"/>
            <a:ext cx="5394960" cy="2395728"/>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1" name="Shape 9"/>
          <p:cNvSpPr/>
          <p:nvPr/>
        </p:nvSpPr>
        <p:spPr>
          <a:xfrm>
            <a:off x="274320" y="3840480"/>
            <a:ext cx="5394960" cy="411480"/>
          </a:xfrm>
          <a:prstGeom prst="rect">
            <a:avLst/>
          </a:prstGeom>
          <a:solidFill>
            <a:srgbClr val="006579"/>
          </a:solidFill>
          <a:ln w="12700">
            <a:solidFill>
              <a:srgbClr val="006579"/>
            </a:solidFill>
            <a:prstDash val="solid"/>
          </a:ln>
        </p:spPr>
      </p:sp>
      <p:sp>
        <p:nvSpPr>
          <p:cNvPr id="12" name="Text 10"/>
          <p:cNvSpPr/>
          <p:nvPr/>
        </p:nvSpPr>
        <p:spPr>
          <a:xfrm>
            <a:off x="274320" y="3840480"/>
            <a:ext cx="5394960" cy="411480"/>
          </a:xfrm>
          <a:prstGeom prst="rect">
            <a:avLst/>
          </a:prstGeom>
          <a:noFill/>
          <a:ln/>
        </p:spPr>
        <p:txBody>
          <a:bodyPr wrap="square" lIns="0" tIns="0" rIns="0" bIns="0" rtlCol="0" anchor="ctr"/>
          <a:lstStyle/>
          <a:p>
            <a:pPr marL="0" indent="0" algn="ctr">
              <a:buNone/>
            </a:pPr>
            <a:r>
              <a:rPr lang="en-US" sz="1400" b="1" dirty="0">
                <a:solidFill>
                  <a:srgbClr val="FFFFFF"/>
                </a:solidFill>
              </a:rPr>
              <a:t>② 结构编码：DualQGNN（NoGE 架构）</a:t>
            </a:r>
            <a:endParaRPr lang="en-US" sz="1400" dirty="0"/>
          </a:p>
        </p:txBody>
      </p:sp>
      <mc:AlternateContent xmlns:mc="http://schemas.openxmlformats.org/markup-compatibility/2006">
        <mc:Choice xmlns:a14="http://schemas.microsoft.com/office/drawing/2010/main" Requires="a14">
          <p:sp>
            <p:nvSpPr>
              <p:cNvPr id="13" name="Text 11"/>
              <p:cNvSpPr/>
              <p:nvPr/>
            </p:nvSpPr>
            <p:spPr>
              <a:xfrm>
                <a:off x="411480" y="4297680"/>
                <a:ext cx="5120640" cy="1828800"/>
              </a:xfrm>
              <a:prstGeom prst="rect">
                <a:avLst/>
              </a:prstGeom>
              <a:noFill/>
              <a:ln/>
            </p:spPr>
            <p:txBody>
              <a:bodyPr wrap="square" rtlCol="0" anchor="t"/>
              <a:lstStyle/>
              <a:p>
                <a:r>
                  <a:rPr lang="zh-CN" altLang="zh-CN" sz="1400" dirty="0">
                    <a:effectLst/>
                    <a:latin typeface="Microsoft YaHei" panose="020B0503020204020204" pitchFamily="34" charset="-122"/>
                    <a:ea typeface="Microsoft YaHei" panose="020B0503020204020204" pitchFamily="34" charset="-122"/>
                    <a:cs typeface="Times New Roman" panose="02020603050405020304" pitchFamily="18" charset="0"/>
                  </a:rPr>
                  <a:t>四元数图神经网络捕获邻域结构</a:t>
                </a:r>
                <a:endParaRPr lang="en-US" altLang="zh-CN" sz="1400" dirty="0">
                  <a:solidFill>
                    <a:srgbClr val="0D1B2A"/>
                  </a:solidFill>
                  <a:latin typeface="Microsoft YaHei" panose="020B0503020204020204" pitchFamily="34" charset="-122"/>
                  <a:ea typeface="Microsoft YaHei" panose="020B0503020204020204" pitchFamily="34" charset="-122"/>
                </a:endParaRPr>
              </a:p>
              <a:p>
                <a:r>
                  <a:rPr lang="en-US" altLang="zh-CN" sz="1400" dirty="0">
                    <a:solidFill>
                      <a:srgbClr val="0D1B2A"/>
                    </a:solidFill>
                  </a:rPr>
                  <a:t>• </a:t>
                </a:r>
                <a:r>
                  <a:rPr lang="en-US" sz="1600" dirty="0">
                    <a:solidFill>
                      <a:srgbClr val="0D1B2A"/>
                    </a:solidFill>
                  </a:rPr>
                  <a:t>Levi</a:t>
                </a:r>
                <a:r>
                  <a:rPr lang="en-US" sz="1400" dirty="0">
                    <a:solidFill>
                      <a:srgbClr val="0D1B2A"/>
                    </a:solidFill>
                  </a:rPr>
                  <a:t> 图变换：关系节点与实体节点同等参与消息传递
</a:t>
                </a:r>
                <a:r>
                  <a:rPr lang="en-US" altLang="zh-CN" sz="1400" dirty="0">
                    <a:solidFill>
                      <a:srgbClr val="0D1B2A"/>
                    </a:solidFill>
                  </a:rPr>
                  <a:t>• </a:t>
                </a:r>
                <a:r>
                  <a:rPr lang="en-US" sz="1400" dirty="0" err="1">
                    <a:solidFill>
                      <a:srgbClr val="0D1B2A"/>
                    </a:solidFill>
                  </a:rPr>
                  <a:t>共现加权邻接</a:t>
                </a:r>
                <a:r>
                  <a:rPr lang="en-US" sz="1400" dirty="0">
                    <a:solidFill>
                      <a:srgbClr val="0D1B2A"/>
                    </a:solidFill>
                  </a:rPr>
                  <a:t>：</a:t>
                </a:r>
                <a14:m>
                  <m:oMath xmlns:m="http://schemas.openxmlformats.org/officeDocument/2006/math">
                    <m:sSub>
                      <m:sSubPr>
                        <m:ctrlPr>
                          <a:rPr lang="en-US" altLang="zh-CN" sz="1600" i="1" dirty="0">
                            <a:solidFill>
                              <a:srgbClr val="0D1B2A"/>
                            </a:solidFill>
                            <a:latin typeface="Cambria Math" panose="02040503050406030204" pitchFamily="18" charset="0"/>
                          </a:rPr>
                        </m:ctrlPr>
                      </m:sSubPr>
                      <m:e>
                        <m:r>
                          <a:rPr lang="en-US" altLang="zh-CN" sz="1600" i="1" dirty="0">
                            <a:solidFill>
                              <a:srgbClr val="0D1B2A"/>
                            </a:solidFill>
                            <a:latin typeface="Cambria Math" panose="02040503050406030204" pitchFamily="18" charset="0"/>
                          </a:rPr>
                          <m:t>𝑎</m:t>
                        </m:r>
                      </m:e>
                      <m:sub>
                        <m:r>
                          <a:rPr lang="en-US" altLang="zh-CN" sz="1600" i="1" dirty="0">
                            <a:solidFill>
                              <a:srgbClr val="0D1B2A"/>
                            </a:solidFill>
                            <a:latin typeface="Cambria Math" panose="02040503050406030204" pitchFamily="18" charset="0"/>
                          </a:rPr>
                          <m:t>𝑣</m:t>
                        </m:r>
                        <m:r>
                          <a:rPr lang="en-US" altLang="zh-CN" sz="1600" i="1" dirty="0">
                            <a:solidFill>
                              <a:srgbClr val="0D1B2A"/>
                            </a:solidFill>
                            <a:latin typeface="Cambria Math" panose="02040503050406030204" pitchFamily="18" charset="0"/>
                          </a:rPr>
                          <m:t>,</m:t>
                        </m:r>
                        <m:r>
                          <a:rPr lang="en-US" altLang="zh-CN" sz="1600" i="1" dirty="0">
                            <a:solidFill>
                              <a:srgbClr val="0D1B2A"/>
                            </a:solidFill>
                            <a:latin typeface="Cambria Math" panose="02040503050406030204" pitchFamily="18" charset="0"/>
                          </a:rPr>
                          <m:t>𝑢</m:t>
                        </m:r>
                      </m:sub>
                    </m:sSub>
                    <m:r>
                      <a:rPr lang="en-US" sz="1600" i="1" dirty="0">
                        <a:solidFill>
                          <a:srgbClr val="0D1B2A"/>
                        </a:solidFill>
                        <a:latin typeface="Cambria Math" panose="02040503050406030204" pitchFamily="18" charset="0"/>
                      </a:rPr>
                      <m:t>= </m:t>
                    </m:r>
                    <m:r>
                      <a:rPr lang="en-US" sz="1600" i="1" dirty="0">
                        <a:solidFill>
                          <a:srgbClr val="0D1B2A"/>
                        </a:solidFill>
                        <a:latin typeface="Cambria Math" panose="02040503050406030204" pitchFamily="18" charset="0"/>
                      </a:rPr>
                      <m:t>𝜆</m:t>
                    </m:r>
                    <m:r>
                      <a:rPr lang="en-US" sz="1600" i="1" dirty="0">
                        <a:solidFill>
                          <a:srgbClr val="0D1B2A"/>
                        </a:solidFill>
                        <a:latin typeface="Cambria Math" panose="02040503050406030204" pitchFamily="18" charset="0"/>
                      </a:rPr>
                      <m:t>·</m:t>
                    </m:r>
                    <m:f>
                      <m:fPr>
                        <m:ctrlPr>
                          <a:rPr lang="en-US" altLang="zh-CN" sz="1600" i="1" dirty="0" smtClean="0">
                            <a:solidFill>
                              <a:srgbClr val="0D1B2A"/>
                            </a:solidFill>
                            <a:latin typeface="Cambria Math" panose="02040503050406030204" pitchFamily="18" charset="0"/>
                          </a:rPr>
                        </m:ctrlPr>
                      </m:fPr>
                      <m:num>
                        <m:r>
                          <a:rPr lang="en-US" altLang="zh-CN" sz="1600" i="1" dirty="0">
                            <a:solidFill>
                              <a:srgbClr val="0D1B2A"/>
                            </a:solidFill>
                            <a:latin typeface="Cambria Math" panose="02040503050406030204" pitchFamily="18" charset="0"/>
                          </a:rPr>
                          <m:t>#</m:t>
                        </m:r>
                        <m:r>
                          <a:rPr lang="en-US" altLang="zh-CN" sz="1600" i="1" dirty="0">
                            <a:solidFill>
                              <a:srgbClr val="0D1B2A"/>
                            </a:solidFill>
                            <a:latin typeface="Cambria Math" panose="02040503050406030204" pitchFamily="18" charset="0"/>
                          </a:rPr>
                          <m:t>𝐶</m:t>
                        </m:r>
                        <m:r>
                          <a:rPr lang="en-US" altLang="zh-CN" sz="1600" i="1" dirty="0">
                            <a:solidFill>
                              <a:srgbClr val="0D1B2A"/>
                            </a:solidFill>
                            <a:latin typeface="Cambria Math" panose="02040503050406030204" pitchFamily="18" charset="0"/>
                          </a:rPr>
                          <m:t>(</m:t>
                        </m:r>
                        <m:r>
                          <a:rPr lang="en-US" altLang="zh-CN" sz="1600" i="1" dirty="0">
                            <a:solidFill>
                              <a:srgbClr val="0D1B2A"/>
                            </a:solidFill>
                            <a:latin typeface="Cambria Math" panose="02040503050406030204" pitchFamily="18" charset="0"/>
                          </a:rPr>
                          <m:t>𝑣</m:t>
                        </m:r>
                        <m:r>
                          <a:rPr lang="en-US" altLang="zh-CN" sz="1600" i="1" dirty="0">
                            <a:solidFill>
                              <a:srgbClr val="0D1B2A"/>
                            </a:solidFill>
                            <a:latin typeface="Cambria Math" panose="02040503050406030204" pitchFamily="18" charset="0"/>
                          </a:rPr>
                          <m:t>,</m:t>
                        </m:r>
                        <m:r>
                          <a:rPr lang="en-US" altLang="zh-CN" sz="1600" i="1" dirty="0">
                            <a:solidFill>
                              <a:srgbClr val="0D1B2A"/>
                            </a:solidFill>
                            <a:latin typeface="Cambria Math" panose="02040503050406030204" pitchFamily="18" charset="0"/>
                          </a:rPr>
                          <m:t>𝑢</m:t>
                        </m:r>
                        <m:r>
                          <a:rPr lang="en-US" altLang="zh-CN" sz="1600" i="1" dirty="0">
                            <a:solidFill>
                              <a:srgbClr val="0D1B2A"/>
                            </a:solidFill>
                            <a:latin typeface="Cambria Math" panose="02040503050406030204" pitchFamily="18" charset="0"/>
                          </a:rPr>
                          <m:t>)</m:t>
                        </m:r>
                      </m:num>
                      <m:den>
                        <m:r>
                          <a:rPr lang="en-US" altLang="zh-CN" sz="1600" i="1" dirty="0">
                            <a:solidFill>
                              <a:srgbClr val="0D1B2A"/>
                            </a:solidFill>
                            <a:latin typeface="Cambria Math" panose="02040503050406030204" pitchFamily="18" charset="0"/>
                          </a:rPr>
                          <m:t>#</m:t>
                        </m:r>
                        <m:r>
                          <a:rPr lang="en-US" altLang="zh-CN" sz="1600" i="1" dirty="0">
                            <a:solidFill>
                              <a:srgbClr val="0D1B2A"/>
                            </a:solidFill>
                            <a:latin typeface="Cambria Math" panose="02040503050406030204" pitchFamily="18" charset="0"/>
                          </a:rPr>
                          <m:t>𝐶</m:t>
                        </m:r>
                        <m:r>
                          <a:rPr lang="en-US" altLang="zh-CN" sz="1600" i="1" dirty="0">
                            <a:solidFill>
                              <a:srgbClr val="0D1B2A"/>
                            </a:solidFill>
                            <a:latin typeface="Cambria Math" panose="02040503050406030204" pitchFamily="18" charset="0"/>
                          </a:rPr>
                          <m:t>(</m:t>
                        </m:r>
                        <m:r>
                          <a:rPr lang="en-US" altLang="zh-CN" sz="1600" i="1" dirty="0">
                            <a:solidFill>
                              <a:srgbClr val="0D1B2A"/>
                            </a:solidFill>
                            <a:latin typeface="Cambria Math" panose="02040503050406030204" pitchFamily="18" charset="0"/>
                          </a:rPr>
                          <m:t>𝑣</m:t>
                        </m:r>
                        <m:r>
                          <a:rPr lang="en-US" altLang="zh-CN" sz="1600" i="1" dirty="0">
                            <a:solidFill>
                              <a:srgbClr val="0D1B2A"/>
                            </a:solidFill>
                            <a:latin typeface="Cambria Math" panose="02040503050406030204" pitchFamily="18" charset="0"/>
                          </a:rPr>
                          <m:t>)</m:t>
                        </m:r>
                      </m:den>
                    </m:f>
                  </m:oMath>
                </a14:m>
                <a:r>
                  <a:rPr lang="en-US" sz="1400" dirty="0">
                    <a:solidFill>
                      <a:srgbClr val="0D1B2A"/>
                    </a:solidFill>
                  </a:rPr>
                  <a:t>（与第2.2.2节一致）
</a:t>
                </a:r>
                <a:r>
                  <a:rPr lang="en-US" altLang="zh-CN" sz="1400" dirty="0">
                    <a:solidFill>
                      <a:srgbClr val="0D1B2A"/>
                    </a:solidFill>
                  </a:rPr>
                  <a:t>• </a:t>
                </a:r>
                <a:r>
                  <a:rPr lang="en-US" sz="1400" dirty="0" err="1">
                    <a:solidFill>
                      <a:srgbClr val="0D1B2A"/>
                    </a:solidFill>
                  </a:rPr>
                  <a:t>四元数空间</a:t>
                </a:r>
                <a:r>
                  <a:rPr lang="zh-CN" altLang="en-US" sz="1400" dirty="0">
                    <a:solidFill>
                      <a:srgbClr val="0D1B2A"/>
                    </a:solidFill>
                  </a:rPr>
                  <a:t>：</a:t>
                </a:r>
                <a:endParaRPr lang="en-US" altLang="zh-CN" sz="1400" dirty="0">
                  <a:solidFill>
                    <a:srgbClr val="0D1B2A"/>
                  </a:solidFill>
                </a:endParaRPr>
              </a:p>
              <a:p>
                <a:r>
                  <a:rPr lang="zh-CN" altLang="en-US" sz="1400" dirty="0">
                    <a:solidFill>
                      <a:srgbClr val="0D1B2A"/>
                    </a:solidFill>
                  </a:rPr>
                  <a:t>   </a:t>
                </a:r>
                <a:r>
                  <a:rPr lang="zh-CN" altLang="en-US" sz="1400" dirty="0">
                    <a:latin typeface="Microsoft YaHei" panose="020B0503020204020204" pitchFamily="34" charset="-122"/>
                    <a:ea typeface="Microsoft YaHei" panose="020B0503020204020204" pitchFamily="34" charset="-122"/>
                  </a:rPr>
                  <a:t>基于非交换特性刻画有向偏好（包含旋转与平移） </a:t>
                </a:r>
                <a:r>
                  <a:rPr lang="en-US" sz="1400" dirty="0">
                    <a:solidFill>
                      <a:srgbClr val="0D1B2A"/>
                    </a:solidFill>
                  </a:rPr>
                  <a:t>
</a:t>
                </a:r>
                <a:r>
                  <a:rPr lang="en-US" altLang="zh-CN" sz="1400" dirty="0">
                    <a:solidFill>
                      <a:srgbClr val="0D1B2A"/>
                    </a:solidFill>
                  </a:rPr>
                  <a:t>• </a:t>
                </a:r>
                <a:r>
                  <a:rPr lang="en-US" sz="1600" dirty="0">
                    <a:solidFill>
                      <a:srgbClr val="0D1B2A"/>
                    </a:solidFill>
                  </a:rPr>
                  <a:t>L=1</a:t>
                </a:r>
                <a:r>
                  <a:rPr lang="en-US" sz="1400" dirty="0">
                    <a:solidFill>
                      <a:srgbClr val="0D1B2A"/>
                    </a:solidFill>
                  </a:rPr>
                  <a:t> </a:t>
                </a:r>
                <a:r>
                  <a:rPr lang="en-US" sz="1400" dirty="0" err="1">
                    <a:solidFill>
                      <a:srgbClr val="0D1B2A"/>
                    </a:solidFill>
                  </a:rPr>
                  <a:t>层聚合（控制稀疏图谱的过平滑风险</a:t>
                </a:r>
                <a:r>
                  <a:rPr lang="en-US" sz="1400" dirty="0">
                    <a:solidFill>
                      <a:srgbClr val="0D1B2A"/>
                    </a:solidFill>
                  </a:rPr>
                  <a:t>）</a:t>
                </a:r>
              </a:p>
            </p:txBody>
          </p:sp>
        </mc:Choice>
        <mc:Fallback>
          <p:sp>
            <p:nvSpPr>
              <p:cNvPr id="13" name="Text 11"/>
              <p:cNvSpPr>
                <a:spLocks noRot="1" noChangeAspect="1" noMove="1" noResize="1" noEditPoints="1" noAdjustHandles="1" noChangeArrowheads="1" noChangeShapeType="1" noTextEdit="1"/>
              </p:cNvSpPr>
              <p:nvPr/>
            </p:nvSpPr>
            <p:spPr>
              <a:xfrm>
                <a:off x="411480" y="4297680"/>
                <a:ext cx="5120640" cy="1828800"/>
              </a:xfrm>
              <a:prstGeom prst="rect">
                <a:avLst/>
              </a:prstGeom>
              <a:blipFill>
                <a:blip r:embed="rId3"/>
                <a:stretch>
                  <a:fillRect l="-495" t="-690"/>
                </a:stretch>
              </a:blipFill>
              <a:ln/>
            </p:spPr>
            <p:txBody>
              <a:bodyPr/>
              <a:lstStyle/>
              <a:p>
                <a:r>
                  <a:rPr lang="zh-CN" altLang="en-US">
                    <a:noFill/>
                  </a:rPr>
                  <a:t> </a:t>
                </a:r>
              </a:p>
            </p:txBody>
          </p:sp>
        </mc:Fallback>
      </mc:AlternateContent>
      <p:sp>
        <p:nvSpPr>
          <p:cNvPr id="14" name="Text 12"/>
          <p:cNvSpPr/>
          <p:nvPr/>
        </p:nvSpPr>
        <p:spPr>
          <a:xfrm>
            <a:off x="5943600" y="1024128"/>
            <a:ext cx="5943600" cy="347472"/>
          </a:xfrm>
          <a:prstGeom prst="rect">
            <a:avLst/>
          </a:prstGeom>
          <a:noFill/>
          <a:ln/>
        </p:spPr>
        <p:txBody>
          <a:bodyPr wrap="square" rtlCol="0" anchor="ctr"/>
          <a:lstStyle/>
          <a:p>
            <a:pPr marL="0" indent="0">
              <a:buNone/>
            </a:pPr>
            <a:r>
              <a:rPr lang="en-US" sz="1400" b="1" dirty="0">
                <a:solidFill>
                  <a:srgbClr val="1A3A6B"/>
                </a:solidFill>
              </a:rPr>
              <a:t>核心公式</a:t>
            </a:r>
            <a:endParaRPr lang="en-US" sz="1400" dirty="0"/>
          </a:p>
        </p:txBody>
      </p:sp>
      <p:sp>
        <p:nvSpPr>
          <p:cNvPr id="15" name="Shape 13"/>
          <p:cNvSpPr/>
          <p:nvPr/>
        </p:nvSpPr>
        <p:spPr>
          <a:xfrm>
            <a:off x="5943600" y="1417320"/>
            <a:ext cx="5943600" cy="749808"/>
          </a:xfrm>
          <a:prstGeom prst="rect">
            <a:avLst/>
          </a:prstGeom>
          <a:solidFill>
            <a:srgbClr val="E1F5FE"/>
          </a:solidFill>
          <a:ln w="19050">
            <a:solidFill>
              <a:srgbClr val="00B4CC"/>
            </a:solidFill>
            <a:prstDash val="solid"/>
          </a:ln>
        </p:spPr>
      </p:sp>
      <mc:AlternateContent xmlns:mc="http://schemas.openxmlformats.org/markup-compatibility/2006" xmlns:a14="http://schemas.microsoft.com/office/drawing/2010/main">
        <mc:Choice Requires="a14">
          <p:sp>
            <p:nvSpPr>
              <p:cNvPr id="16" name="Text 14"/>
              <p:cNvSpPr/>
              <p:nvPr/>
            </p:nvSpPr>
            <p:spPr>
              <a:xfrm>
                <a:off x="6053328" y="1472184"/>
                <a:ext cx="5724144" cy="64008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n-US" altLang="zh-CN" i="1" dirty="0" smtClean="0">
                              <a:solidFill>
                                <a:srgbClr val="0D1B2A"/>
                              </a:solidFill>
                              <a:latin typeface="Cambria Math" panose="02040503050406030204" pitchFamily="18" charset="0"/>
                            </a:rPr>
                          </m:ctrlPr>
                        </m:sSubSupPr>
                        <m:e>
                          <m:r>
                            <a:rPr lang="en-US" altLang="zh-CN" i="1" dirty="0">
                              <a:solidFill>
                                <a:srgbClr val="0D1B2A"/>
                              </a:solidFill>
                              <a:latin typeface="Cambria Math" panose="02040503050406030204" pitchFamily="18" charset="0"/>
                            </a:rPr>
                            <m:t>h</m:t>
                          </m:r>
                        </m:e>
                        <m:sub>
                          <m:r>
                            <a:rPr lang="en-US" altLang="zh-CN" i="1" dirty="0">
                              <a:solidFill>
                                <a:srgbClr val="0D1B2A"/>
                              </a:solidFill>
                              <a:latin typeface="Cambria Math" panose="02040503050406030204" pitchFamily="18" charset="0"/>
                            </a:rPr>
                            <m:t>𝑣</m:t>
                          </m:r>
                        </m:sub>
                        <m:sup>
                          <m:r>
                            <a:rPr lang="en-US" altLang="zh-CN" i="1" dirty="0">
                              <a:solidFill>
                                <a:srgbClr val="0D1B2A"/>
                              </a:solidFill>
                              <a:latin typeface="Cambria Math" panose="02040503050406030204" pitchFamily="18" charset="0"/>
                            </a:rPr>
                            <m:t>(</m:t>
                          </m:r>
                          <m:r>
                            <a:rPr lang="en-US" altLang="zh-CN" i="1" dirty="0">
                              <a:solidFill>
                                <a:srgbClr val="0D1B2A"/>
                              </a:solidFill>
                              <a:latin typeface="Cambria Math" panose="02040503050406030204" pitchFamily="18" charset="0"/>
                            </a:rPr>
                            <m:t>𝑙</m:t>
                          </m:r>
                          <m:r>
                            <a:rPr lang="en-US" altLang="zh-CN" i="1" dirty="0">
                              <a:solidFill>
                                <a:srgbClr val="0D1B2A"/>
                              </a:solidFill>
                              <a:latin typeface="Cambria Math" panose="02040503050406030204" pitchFamily="18" charset="0"/>
                            </a:rPr>
                            <m:t>)</m:t>
                          </m:r>
                        </m:sup>
                      </m:sSubSup>
                      <m:r>
                        <a:rPr lang="en-US" i="1" dirty="0">
                          <a:solidFill>
                            <a:srgbClr val="0D1B2A"/>
                          </a:solidFill>
                          <a:latin typeface="Cambria Math" panose="02040503050406030204" pitchFamily="18" charset="0"/>
                        </a:rPr>
                        <m:t>= </m:t>
                      </m:r>
                      <m:r>
                        <m:rPr>
                          <m:sty m:val="p"/>
                        </m:rPr>
                        <a:rPr lang="en-US" i="1" dirty="0">
                          <a:solidFill>
                            <a:srgbClr val="0D1B2A"/>
                          </a:solidFill>
                          <a:latin typeface="Cambria Math" panose="02040503050406030204" pitchFamily="18" charset="0"/>
                        </a:rPr>
                        <m:t>tanh</m:t>
                      </m:r>
                      <m:r>
                        <a:rPr lang="en-US" i="1" dirty="0">
                          <a:solidFill>
                            <a:srgbClr val="0D1B2A"/>
                          </a:solidFill>
                          <a:latin typeface="Cambria Math" panose="02040503050406030204" pitchFamily="18" charset="0"/>
                        </a:rPr>
                        <m:t>⁡</m:t>
                      </m:r>
                      <m:d>
                        <m:dPr>
                          <m:ctrlPr>
                            <a:rPr lang="en-US" altLang="zh-CN" i="1" dirty="0" smtClean="0">
                              <a:solidFill>
                                <a:srgbClr val="0D1B2A"/>
                              </a:solidFill>
                              <a:latin typeface="Cambria Math" panose="02040503050406030204" pitchFamily="18" charset="0"/>
                            </a:rPr>
                          </m:ctrlPr>
                        </m:dPr>
                        <m:e>
                          <m:nary>
                            <m:naryPr>
                              <m:chr m:val="∑"/>
                              <m:supHide m:val="on"/>
                              <m:ctrlPr>
                                <a:rPr lang="en-US" altLang="zh-CN" i="1" dirty="0">
                                  <a:solidFill>
                                    <a:srgbClr val="0D1B2A"/>
                                  </a:solidFill>
                                  <a:latin typeface="Cambria Math" panose="02040503050406030204" pitchFamily="18" charset="0"/>
                                </a:rPr>
                              </m:ctrlPr>
                            </m:naryPr>
                            <m:sub>
                              <m:r>
                                <m:rPr>
                                  <m:brk m:alnAt="7"/>
                                </m:rPr>
                                <a:rPr lang="en-US" altLang="zh-CN" i="1" dirty="0">
                                  <a:solidFill>
                                    <a:srgbClr val="0D1B2A"/>
                                  </a:solidFill>
                                  <a:latin typeface="Cambria Math" panose="02040503050406030204" pitchFamily="18" charset="0"/>
                                </a:rPr>
                                <m:t>𝑢</m:t>
                              </m:r>
                              <m:r>
                                <a:rPr lang="en-US" altLang="zh-CN" i="1" dirty="0">
                                  <a:solidFill>
                                    <a:srgbClr val="0D1B2A"/>
                                  </a:solidFill>
                                  <a:latin typeface="Cambria Math" panose="02040503050406030204" pitchFamily="18" charset="0"/>
                                  <a:ea typeface="Cambria Math" panose="02040503050406030204" pitchFamily="18" charset="0"/>
                                </a:rPr>
                                <m:t>∈</m:t>
                              </m:r>
                              <m:sSub>
                                <m:sSubPr>
                                  <m:ctrlPr>
                                    <a:rPr lang="en-US" altLang="zh-CN" i="1" dirty="0">
                                      <a:solidFill>
                                        <a:srgbClr val="0D1B2A"/>
                                      </a:solidFill>
                                      <a:latin typeface="Cambria Math" panose="02040503050406030204" pitchFamily="18" charset="0"/>
                                      <a:ea typeface="Cambria Math" panose="02040503050406030204" pitchFamily="18" charset="0"/>
                                    </a:rPr>
                                  </m:ctrlPr>
                                </m:sSubPr>
                                <m:e>
                                  <m:r>
                                    <a:rPr lang="en-US" altLang="zh-CN" i="1" dirty="0">
                                      <a:solidFill>
                                        <a:srgbClr val="0D1B2A"/>
                                      </a:solidFill>
                                      <a:latin typeface="Cambria Math" panose="02040503050406030204" pitchFamily="18" charset="0"/>
                                      <a:ea typeface="Cambria Math" panose="02040503050406030204" pitchFamily="18" charset="0"/>
                                    </a:rPr>
                                    <m:t>𝒩</m:t>
                                  </m:r>
                                </m:e>
                                <m:sub>
                                  <m:r>
                                    <a:rPr lang="en-US" altLang="zh-CN" i="1" dirty="0">
                                      <a:solidFill>
                                        <a:srgbClr val="0D1B2A"/>
                                      </a:solidFill>
                                      <a:latin typeface="Cambria Math" panose="02040503050406030204" pitchFamily="18" charset="0"/>
                                      <a:ea typeface="Cambria Math" panose="02040503050406030204" pitchFamily="18" charset="0"/>
                                    </a:rPr>
                                    <m:t>𝑣</m:t>
                                  </m:r>
                                </m:sub>
                              </m:sSub>
                              <m:r>
                                <m:rPr>
                                  <m:brk m:alnAt="7"/>
                                </m:rPr>
                                <a:rPr lang="en-US" altLang="zh-CN" i="1" dirty="0">
                                  <a:solidFill>
                                    <a:srgbClr val="0D1B2A"/>
                                  </a:solidFill>
                                  <a:latin typeface="Cambria Math" panose="02040503050406030204" pitchFamily="18" charset="0"/>
                                  <a:ea typeface="Cambria Math" panose="02040503050406030204" pitchFamily="18" charset="0"/>
                                </a:rPr>
                                <m:t>∪</m:t>
                              </m:r>
                              <m:r>
                                <a:rPr lang="en-US" altLang="zh-CN" i="1" dirty="0">
                                  <a:solidFill>
                                    <a:srgbClr val="0D1B2A"/>
                                  </a:solidFill>
                                  <a:latin typeface="Cambria Math" panose="02040503050406030204" pitchFamily="18" charset="0"/>
                                  <a:ea typeface="Cambria Math" panose="02040503050406030204" pitchFamily="18" charset="0"/>
                                </a:rPr>
                                <m:t>{</m:t>
                              </m:r>
                              <m:r>
                                <a:rPr lang="en-US" altLang="zh-CN" i="1" dirty="0">
                                  <a:solidFill>
                                    <a:srgbClr val="0D1B2A"/>
                                  </a:solidFill>
                                  <a:latin typeface="Cambria Math" panose="02040503050406030204" pitchFamily="18" charset="0"/>
                                  <a:ea typeface="Cambria Math" panose="02040503050406030204" pitchFamily="18" charset="0"/>
                                </a:rPr>
                                <m:t>𝑣</m:t>
                              </m:r>
                              <m:r>
                                <a:rPr lang="en-US" altLang="zh-CN" i="1" dirty="0">
                                  <a:solidFill>
                                    <a:srgbClr val="0D1B2A"/>
                                  </a:solidFill>
                                  <a:latin typeface="Cambria Math" panose="02040503050406030204" pitchFamily="18" charset="0"/>
                                  <a:ea typeface="Cambria Math" panose="02040503050406030204" pitchFamily="18" charset="0"/>
                                </a:rPr>
                                <m:t>}</m:t>
                              </m:r>
                            </m:sub>
                            <m:sup/>
                            <m:e>
                              <m:sSub>
                                <m:sSubPr>
                                  <m:ctrlPr>
                                    <a:rPr lang="en-US" altLang="zh-CN" i="1" dirty="0">
                                      <a:solidFill>
                                        <a:srgbClr val="0D1B2A"/>
                                      </a:solidFill>
                                      <a:latin typeface="Cambria Math" panose="02040503050406030204" pitchFamily="18" charset="0"/>
                                    </a:rPr>
                                  </m:ctrlPr>
                                </m:sSubPr>
                                <m:e>
                                  <m:r>
                                    <a:rPr lang="en-US" altLang="zh-CN" i="1" dirty="0">
                                      <a:solidFill>
                                        <a:srgbClr val="0D1B2A"/>
                                      </a:solidFill>
                                      <a:latin typeface="Cambria Math" panose="02040503050406030204" pitchFamily="18" charset="0"/>
                                    </a:rPr>
                                    <m:t>𝑎</m:t>
                                  </m:r>
                                </m:e>
                                <m:sub>
                                  <m:r>
                                    <a:rPr lang="en-US" altLang="zh-CN" i="1" dirty="0">
                                      <a:solidFill>
                                        <a:srgbClr val="0D1B2A"/>
                                      </a:solidFill>
                                      <a:latin typeface="Cambria Math" panose="02040503050406030204" pitchFamily="18" charset="0"/>
                                    </a:rPr>
                                    <m:t>𝑣</m:t>
                                  </m:r>
                                  <m:r>
                                    <a:rPr lang="en-US" altLang="zh-CN" i="1" dirty="0">
                                      <a:solidFill>
                                        <a:srgbClr val="0D1B2A"/>
                                      </a:solidFill>
                                      <a:latin typeface="Cambria Math" panose="02040503050406030204" pitchFamily="18" charset="0"/>
                                    </a:rPr>
                                    <m:t>,</m:t>
                                  </m:r>
                                  <m:r>
                                    <a:rPr lang="en-US" altLang="zh-CN" i="1" dirty="0">
                                      <a:solidFill>
                                        <a:srgbClr val="0D1B2A"/>
                                      </a:solidFill>
                                      <a:latin typeface="Cambria Math" panose="02040503050406030204" pitchFamily="18" charset="0"/>
                                    </a:rPr>
                                    <m:t>𝑢</m:t>
                                  </m:r>
                                </m:sub>
                              </m:sSub>
                            </m:e>
                          </m:nary>
                          <m:r>
                            <a:rPr lang="en-US" altLang="zh-CN" i="1" dirty="0">
                              <a:solidFill>
                                <a:srgbClr val="0D1B2A"/>
                              </a:solidFill>
                              <a:latin typeface="Cambria Math" panose="02040503050406030204" pitchFamily="18" charset="0"/>
                            </a:rPr>
                            <m:t> · </m:t>
                          </m:r>
                          <m:sSup>
                            <m:sSupPr>
                              <m:ctrlPr>
                                <a:rPr lang="en-US" altLang="zh-CN" i="1" dirty="0" smtClean="0">
                                  <a:solidFill>
                                    <a:srgbClr val="0D1B2A"/>
                                  </a:solidFill>
                                  <a:latin typeface="Cambria Math" panose="02040503050406030204" pitchFamily="18" charset="0"/>
                                </a:rPr>
                              </m:ctrlPr>
                            </m:sSupPr>
                            <m:e>
                              <m:r>
                                <a:rPr lang="en-US" altLang="zh-CN" b="0" i="1" dirty="0" smtClean="0">
                                  <a:solidFill>
                                    <a:srgbClr val="0D1B2A"/>
                                  </a:solidFill>
                                  <a:latin typeface="Cambria Math" panose="02040503050406030204" pitchFamily="18" charset="0"/>
                                </a:rPr>
                                <m:t>𝑊</m:t>
                              </m:r>
                            </m:e>
                            <m:sup>
                              <m:r>
                                <a:rPr lang="en-US" altLang="zh-CN" b="0" i="1" dirty="0" smtClean="0">
                                  <a:solidFill>
                                    <a:srgbClr val="0D1B2A"/>
                                  </a:solidFill>
                                  <a:latin typeface="Cambria Math" panose="02040503050406030204" pitchFamily="18" charset="0"/>
                                </a:rPr>
                                <m:t>(</m:t>
                              </m:r>
                              <m:r>
                                <a:rPr lang="en-US" altLang="zh-CN" b="0" i="1" dirty="0" smtClean="0">
                                  <a:solidFill>
                                    <a:srgbClr val="0D1B2A"/>
                                  </a:solidFill>
                                  <a:latin typeface="Cambria Math" panose="02040503050406030204" pitchFamily="18" charset="0"/>
                                </a:rPr>
                                <m:t>𝑙</m:t>
                              </m:r>
                              <m:r>
                                <a:rPr lang="en-US" altLang="zh-CN" b="0" i="1" dirty="0" smtClean="0">
                                  <a:solidFill>
                                    <a:srgbClr val="0D1B2A"/>
                                  </a:solidFill>
                                  <a:latin typeface="Cambria Math" panose="02040503050406030204" pitchFamily="18" charset="0"/>
                                </a:rPr>
                                <m:t>)</m:t>
                              </m:r>
                            </m:sup>
                          </m:sSup>
                          <m:r>
                            <a:rPr lang="en-US" altLang="zh-CN" b="0" i="1" dirty="0" smtClean="0">
                              <a:solidFill>
                                <a:srgbClr val="0D1B2A"/>
                              </a:solidFill>
                              <a:latin typeface="Cambria Math" panose="02040503050406030204" pitchFamily="18" charset="0"/>
                            </a:rPr>
                            <m:t> </m:t>
                          </m:r>
                          <m:r>
                            <a:rPr lang="en-US" altLang="zh-CN" i="1" dirty="0" smtClean="0">
                              <a:solidFill>
                                <a:srgbClr val="0D1B2A"/>
                              </a:solidFill>
                              <a:latin typeface="Cambria Math" panose="02040503050406030204" pitchFamily="18" charset="0"/>
                              <a:ea typeface="Cambria Math" panose="02040503050406030204" pitchFamily="18" charset="0"/>
                            </a:rPr>
                            <m:t>⨂</m:t>
                          </m:r>
                          <m:sSubSup>
                            <m:sSubSupPr>
                              <m:ctrlPr>
                                <a:rPr lang="en-US" altLang="zh-CN" i="1" dirty="0" smtClean="0">
                                  <a:solidFill>
                                    <a:srgbClr val="0D1B2A"/>
                                  </a:solidFill>
                                  <a:latin typeface="Cambria Math" panose="02040503050406030204" pitchFamily="18" charset="0"/>
                                  <a:ea typeface="Cambria Math" panose="02040503050406030204" pitchFamily="18" charset="0"/>
                                </a:rPr>
                              </m:ctrlPr>
                            </m:sSubSupPr>
                            <m:e>
                              <m:r>
                                <a:rPr lang="en-US" altLang="zh-CN" b="0" i="1" dirty="0" smtClean="0">
                                  <a:solidFill>
                                    <a:srgbClr val="0D1B2A"/>
                                  </a:solidFill>
                                  <a:latin typeface="Cambria Math" panose="02040503050406030204" pitchFamily="18" charset="0"/>
                                  <a:ea typeface="Cambria Math" panose="02040503050406030204" pitchFamily="18" charset="0"/>
                                </a:rPr>
                                <m:t> </m:t>
                              </m:r>
                              <m:r>
                                <a:rPr lang="en-US" altLang="zh-CN" b="0" i="1" dirty="0" smtClean="0">
                                  <a:solidFill>
                                    <a:srgbClr val="0D1B2A"/>
                                  </a:solidFill>
                                  <a:latin typeface="Cambria Math" panose="02040503050406030204" pitchFamily="18" charset="0"/>
                                  <a:ea typeface="Cambria Math" panose="02040503050406030204" pitchFamily="18" charset="0"/>
                                </a:rPr>
                                <m:t>h</m:t>
                              </m:r>
                            </m:e>
                            <m:sub>
                              <m:r>
                                <a:rPr lang="en-US" altLang="zh-CN" b="0" i="1" dirty="0" smtClean="0">
                                  <a:solidFill>
                                    <a:srgbClr val="0D1B2A"/>
                                  </a:solidFill>
                                  <a:latin typeface="Cambria Math" panose="02040503050406030204" pitchFamily="18" charset="0"/>
                                  <a:ea typeface="Cambria Math" panose="02040503050406030204" pitchFamily="18" charset="0"/>
                                </a:rPr>
                                <m:t>𝑢</m:t>
                              </m:r>
                            </m:sub>
                            <m:sup>
                              <m:r>
                                <a:rPr lang="en-US" altLang="zh-CN" b="0" i="1" dirty="0" smtClean="0">
                                  <a:solidFill>
                                    <a:srgbClr val="0D1B2A"/>
                                  </a:solidFill>
                                  <a:latin typeface="Cambria Math" panose="02040503050406030204" pitchFamily="18" charset="0"/>
                                  <a:ea typeface="Cambria Math" panose="02040503050406030204" pitchFamily="18" charset="0"/>
                                </a:rPr>
                                <m:t>(</m:t>
                              </m:r>
                              <m:r>
                                <a:rPr lang="en-US" altLang="zh-CN" b="0" i="1" dirty="0" smtClean="0">
                                  <a:solidFill>
                                    <a:srgbClr val="0D1B2A"/>
                                  </a:solidFill>
                                  <a:latin typeface="Cambria Math" panose="02040503050406030204" pitchFamily="18" charset="0"/>
                                  <a:ea typeface="Cambria Math" panose="02040503050406030204" pitchFamily="18" charset="0"/>
                                </a:rPr>
                                <m:t>𝑙</m:t>
                              </m:r>
                              <m:r>
                                <a:rPr lang="en-US" altLang="zh-CN" b="0" i="1" dirty="0" smtClean="0">
                                  <a:solidFill>
                                    <a:srgbClr val="0D1B2A"/>
                                  </a:solidFill>
                                  <a:latin typeface="Cambria Math" panose="02040503050406030204" pitchFamily="18" charset="0"/>
                                  <a:ea typeface="Cambria Math" panose="02040503050406030204" pitchFamily="18" charset="0"/>
                                </a:rPr>
                                <m:t>−1)</m:t>
                              </m:r>
                            </m:sup>
                          </m:sSubSup>
                        </m:e>
                      </m:d>
                    </m:oMath>
                  </m:oMathPara>
                </a14:m>
                <a:endParaRPr lang="en-US" dirty="0"/>
              </a:p>
            </p:txBody>
          </p:sp>
        </mc:Choice>
        <mc:Fallback xmlns="">
          <p:sp>
            <p:nvSpPr>
              <p:cNvPr id="16" name="Text 14"/>
              <p:cNvSpPr>
                <a:spLocks noRot="1" noChangeAspect="1" noMove="1" noResize="1" noEditPoints="1" noAdjustHandles="1" noChangeArrowheads="1" noChangeShapeType="1" noTextEdit="1"/>
              </p:cNvSpPr>
              <p:nvPr/>
            </p:nvSpPr>
            <p:spPr>
              <a:xfrm>
                <a:off x="6053328" y="1472184"/>
                <a:ext cx="5724144" cy="640080"/>
              </a:xfrm>
              <a:prstGeom prst="rect">
                <a:avLst/>
              </a:prstGeom>
              <a:blipFill>
                <a:blip r:embed="rId4"/>
                <a:stretch>
                  <a:fillRect t="-158824" b="-209804"/>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Text 15"/>
              <p:cNvSpPr/>
              <p:nvPr/>
            </p:nvSpPr>
            <p:spPr>
              <a:xfrm>
                <a:off x="5943600" y="2267712"/>
                <a:ext cx="6172200" cy="3840480"/>
              </a:xfrm>
              <a:prstGeom prst="rect">
                <a:avLst/>
              </a:prstGeom>
              <a:noFill/>
              <a:ln/>
            </p:spPr>
            <p:txBody>
              <a:bodyPr wrap="square" rtlCol="0" anchor="t"/>
              <a:lstStyle/>
              <a:p>
                <a:pPr marL="0" indent="0">
                  <a:buNone/>
                </a:pPr>
                <a:r>
                  <a:rPr lang="en-US" sz="1400" b="1" dirty="0">
                    <a:solidFill>
                      <a:srgbClr val="1A3A6B"/>
                    </a:solidFill>
                  </a:rPr>
                  <a:t>符号说明</a:t>
                </a:r>
                <a:endParaRPr lang="en-US" sz="1400" dirty="0"/>
              </a:p>
              <a:p>
                <a14:m>
                  <m:oMath xmlns:m="http://schemas.openxmlformats.org/officeDocument/2006/math">
                    <m:sSub>
                      <m:sSubPr>
                        <m:ctrlPr>
                          <a:rPr lang="en-US" altLang="zh-CN" sz="1400" i="1" dirty="0" smtClean="0">
                            <a:solidFill>
                              <a:srgbClr val="0D1B2A"/>
                            </a:solidFill>
                            <a:latin typeface="Cambria Math" panose="02040503050406030204" pitchFamily="18" charset="0"/>
                          </a:rPr>
                        </m:ctrlPr>
                      </m:sSubPr>
                      <m:e>
                        <m:r>
                          <a:rPr lang="en-US" altLang="zh-CN" sz="1400" i="1" dirty="0">
                            <a:solidFill>
                              <a:srgbClr val="0D1B2A"/>
                            </a:solidFill>
                            <a:latin typeface="Cambria Math" panose="02040503050406030204" pitchFamily="18" charset="0"/>
                          </a:rPr>
                          <m:t>𝑎</m:t>
                        </m:r>
                      </m:e>
                      <m:sub>
                        <m:r>
                          <a:rPr lang="en-US" altLang="zh-CN" sz="1400" i="1" dirty="0">
                            <a:solidFill>
                              <a:srgbClr val="0D1B2A"/>
                            </a:solidFill>
                            <a:latin typeface="Cambria Math" panose="02040503050406030204" pitchFamily="18" charset="0"/>
                          </a:rPr>
                          <m:t>𝑣</m:t>
                        </m:r>
                        <m:r>
                          <a:rPr lang="en-US" altLang="zh-CN" sz="1400" i="1" dirty="0">
                            <a:solidFill>
                              <a:srgbClr val="0D1B2A"/>
                            </a:solidFill>
                            <a:latin typeface="Cambria Math" panose="02040503050406030204" pitchFamily="18" charset="0"/>
                          </a:rPr>
                          <m:t>,</m:t>
                        </m:r>
                        <m:r>
                          <a:rPr lang="en-US" altLang="zh-CN" sz="1400" i="1" dirty="0">
                            <a:solidFill>
                              <a:srgbClr val="0D1B2A"/>
                            </a:solidFill>
                            <a:latin typeface="Cambria Math" panose="02040503050406030204" pitchFamily="18" charset="0"/>
                          </a:rPr>
                          <m:t>𝑢</m:t>
                        </m:r>
                      </m:sub>
                    </m:sSub>
                  </m:oMath>
                </a14:m>
                <a:r>
                  <a:rPr lang="en-US" altLang="zh-CN" sz="1400" baseline="-40000" dirty="0">
                    <a:solidFill>
                      <a:srgbClr val="0D1B2A"/>
                    </a:solidFill>
                  </a:rPr>
                  <a:t> </a:t>
                </a:r>
                <a:r>
                  <a:rPr lang="zh-CN" altLang="en-US" sz="1400" dirty="0">
                    <a:solidFill>
                      <a:srgbClr val="0D1B2A"/>
                    </a:solidFill>
                  </a:rPr>
                  <a:t> </a:t>
                </a:r>
                <a:r>
                  <a:rPr lang="en-US" sz="1400" dirty="0">
                    <a:solidFill>
                      <a:srgbClr val="0D1B2A"/>
                    </a:solidFill>
                  </a:rPr>
                  <a:t>: 共现加权邻接矩阵元素（见 2.2.2 节定义）
⊗     : 四元数汉密尔顿乘积（Hamilton product）
</a:t>
                </a:r>
                <a:r>
                  <a:rPr lang="en-US" altLang="zh-CN" sz="1400" dirty="0">
                    <a:solidFill>
                      <a:srgbClr val="0D1B2A"/>
                    </a:solidFill>
                  </a:rPr>
                  <a:t> </a:t>
                </a:r>
                <a14:m>
                  <m:oMath xmlns:m="http://schemas.openxmlformats.org/officeDocument/2006/math">
                    <m:sSup>
                      <m:sSupPr>
                        <m:ctrlPr>
                          <a:rPr lang="en-US" altLang="zh-CN" sz="1400" i="1" dirty="0">
                            <a:solidFill>
                              <a:srgbClr val="0D1B2A"/>
                            </a:solidFill>
                            <a:latin typeface="Cambria Math" panose="02040503050406030204" pitchFamily="18" charset="0"/>
                          </a:rPr>
                        </m:ctrlPr>
                      </m:sSupPr>
                      <m:e>
                        <m:r>
                          <a:rPr lang="en-US" altLang="zh-CN" sz="1400" i="1" dirty="0">
                            <a:solidFill>
                              <a:srgbClr val="0D1B2A"/>
                            </a:solidFill>
                            <a:latin typeface="Cambria Math" panose="02040503050406030204" pitchFamily="18" charset="0"/>
                          </a:rPr>
                          <m:t>𝑊</m:t>
                        </m:r>
                      </m:e>
                      <m:sup>
                        <m:r>
                          <a:rPr lang="en-US" altLang="zh-CN" sz="1400" i="1" dirty="0">
                            <a:solidFill>
                              <a:srgbClr val="0D1B2A"/>
                            </a:solidFill>
                            <a:latin typeface="Cambria Math" panose="02040503050406030204" pitchFamily="18" charset="0"/>
                          </a:rPr>
                          <m:t>(</m:t>
                        </m:r>
                        <m:r>
                          <a:rPr lang="en-US" altLang="zh-CN" sz="1400" i="1" dirty="0">
                            <a:solidFill>
                              <a:srgbClr val="0D1B2A"/>
                            </a:solidFill>
                            <a:latin typeface="Cambria Math" panose="02040503050406030204" pitchFamily="18" charset="0"/>
                          </a:rPr>
                          <m:t>𝑙</m:t>
                        </m:r>
                        <m:r>
                          <a:rPr lang="en-US" altLang="zh-CN" sz="1400" i="1" dirty="0">
                            <a:solidFill>
                              <a:srgbClr val="0D1B2A"/>
                            </a:solidFill>
                            <a:latin typeface="Cambria Math" panose="02040503050406030204" pitchFamily="18" charset="0"/>
                          </a:rPr>
                          <m:t>)</m:t>
                        </m:r>
                      </m:sup>
                    </m:sSup>
                  </m:oMath>
                </a14:m>
                <a:r>
                  <a:rPr lang="en-US" sz="1400" dirty="0">
                    <a:solidFill>
                      <a:srgbClr val="0D1B2A"/>
                    </a:solidFill>
                  </a:rPr>
                  <a:t>    : 对偶四元数形式的可学习权重矩阵
</a:t>
                </a:r>
                <a:r>
                  <a:rPr lang="en-US" sz="1400" b="1" dirty="0">
                    <a:solidFill>
                      <a:srgbClr val="1A3A6B"/>
                    </a:solidFill>
                  </a:rPr>
                  <a:t>训练配置</a:t>
                </a:r>
                <a:endParaRPr lang="en-US" sz="1400" dirty="0"/>
              </a:p>
              <a:p>
                <a:pPr marL="0" indent="0">
                  <a:buNone/>
                </a:pPr>
                <a:r>
                  <a:rPr lang="en-US" sz="1400" dirty="0">
                    <a:solidFill>
                      <a:srgbClr val="0D1B2A"/>
                    </a:solidFill>
                  </a:rPr>
                  <a:t>轮数 3000 · 批大小 1024 · Adam · lr = 5×10⁻³
</a:t>
                </a:r>
                <a:r>
                  <a:rPr lang="en-US" sz="1400" b="1" dirty="0">
                    <a:solidFill>
                      <a:srgbClr val="006579"/>
                    </a:solidFill>
                  </a:rPr>
                  <a:t>四元数优势</a:t>
                </a:r>
                <a:endParaRPr lang="en-US" sz="1400" dirty="0"/>
              </a:p>
              <a:p>
                <a:pPr marL="0" indent="0">
                  <a:buNone/>
                </a:pPr>
                <a:r>
                  <a:rPr lang="en-US" sz="1400" dirty="0">
                    <a:solidFill>
                      <a:srgbClr val="0D1B2A"/>
                    </a:solidFill>
                  </a:rPr>
                  <a:t>单次前向传播同时编码旋转+平移（对偶性质）
非交换乘法精细刻画 APT 组织攻击偏好的
非对称演化关系（如 A exploit B ≠ B exploit A）
</a:t>
                </a:r>
                <a:r>
                  <a:rPr lang="en-US" sz="1400" b="1" dirty="0">
                    <a:solidFill>
                      <a:srgbClr val="E65100"/>
                    </a:solidFill>
                  </a:rPr>
                  <a:t>与 </a:t>
                </a:r>
                <a:r>
                  <a:rPr lang="en-US" sz="1600" b="1" dirty="0">
                    <a:solidFill>
                      <a:srgbClr val="E65100"/>
                    </a:solidFill>
                  </a:rPr>
                  <a:t>KLEC</a:t>
                </a:r>
                <a:r>
                  <a:rPr lang="en-US" sz="1400" b="1" dirty="0">
                    <a:solidFill>
                      <a:srgbClr val="E65100"/>
                    </a:solidFill>
                  </a:rPr>
                  <a:t> 的区别</a:t>
                </a:r>
                <a:endParaRPr lang="en-US" sz="1400" dirty="0"/>
              </a:p>
              <a:p>
                <a:pPr marL="0" indent="0">
                  <a:buNone/>
                </a:pPr>
                <a:r>
                  <a:rPr lang="en-US" sz="1600" dirty="0">
                    <a:solidFill>
                      <a:srgbClr val="0D1B2A"/>
                    </a:solidFill>
                  </a:rPr>
                  <a:t>KLEC: CyBERT + </a:t>
                </a:r>
                <a:r>
                  <a:rPr lang="en-US" sz="1600" dirty="0" err="1">
                    <a:solidFill>
                      <a:srgbClr val="0D1B2A"/>
                    </a:solidFill>
                  </a:rPr>
                  <a:t>DualQGNN</a:t>
                </a:r>
                <a:r>
                  <a:rPr lang="en-US" sz="1400" dirty="0" err="1">
                    <a:solidFill>
                      <a:srgbClr val="0D1B2A"/>
                    </a:solidFill>
                  </a:rPr>
                  <a:t>编码</a:t>
                </a:r>
                <a:r>
                  <a:rPr lang="zh-CN" altLang="en-US" sz="1600" dirty="0">
                    <a:solidFill>
                      <a:srgbClr val="0D1B2A"/>
                    </a:solidFill>
                  </a:rPr>
                  <a:t> </a:t>
                </a:r>
                <a:r>
                  <a:rPr lang="en-US" altLang="zh-CN" sz="1600" dirty="0">
                    <a:solidFill>
                      <a:srgbClr val="0D1B2A"/>
                    </a:solidFill>
                  </a:rPr>
                  <a:t>+</a:t>
                </a:r>
                <a:r>
                  <a:rPr lang="zh-CN" altLang="en-US" sz="1600" dirty="0">
                    <a:solidFill>
                      <a:srgbClr val="0D1B2A"/>
                    </a:solidFill>
                  </a:rPr>
                  <a:t> </a:t>
                </a:r>
                <a:r>
                  <a:rPr lang="en-US" altLang="zh-CN" sz="1600" dirty="0" err="1">
                    <a:solidFill>
                      <a:srgbClr val="0D1B2A"/>
                    </a:solidFill>
                  </a:rPr>
                  <a:t>QuatE</a:t>
                </a:r>
                <a:r>
                  <a:rPr lang="zh-CN" altLang="en-US" sz="1400" dirty="0">
                    <a:solidFill>
                      <a:srgbClr val="0D1B2A"/>
                    </a:solidFill>
                  </a:rPr>
                  <a:t>解码</a:t>
                </a:r>
                <a:r>
                  <a:rPr lang="en-US" sz="1400" dirty="0">
                    <a:solidFill>
                      <a:srgbClr val="0D1B2A"/>
                    </a:solidFill>
                  </a:rPr>
                  <a:t> + </a:t>
                </a:r>
                <a:r>
                  <a:rPr lang="en-US" sz="1400" dirty="0" err="1">
                    <a:solidFill>
                      <a:srgbClr val="0D1B2A"/>
                    </a:solidFill>
                    <a:latin typeface="+mn-ea"/>
                  </a:rPr>
                  <a:t>对比学习</a:t>
                </a:r>
                <a:r>
                  <a:rPr lang="zh-CN" altLang="en-US" sz="1400" dirty="0">
                    <a:solidFill>
                      <a:srgbClr val="0D1B2A"/>
                    </a:solidFill>
                  </a:rPr>
                  <a:t>（全程欧式空间）</a:t>
                </a:r>
                <a:r>
                  <a:rPr lang="en-US" sz="1400" dirty="0">
                    <a:solidFill>
                      <a:srgbClr val="0D1B2A"/>
                    </a:solidFill>
                  </a:rPr>
                  <a:t>
</a:t>
                </a:r>
                <a:r>
                  <a:rPr lang="en-US" sz="1400" dirty="0" err="1">
                    <a:solidFill>
                      <a:srgbClr val="0D1B2A"/>
                    </a:solidFill>
                  </a:rPr>
                  <a:t>本文欧式阶段</a:t>
                </a:r>
                <a:r>
                  <a:rPr lang="en-US" sz="1400" dirty="0">
                    <a:solidFill>
                      <a:srgbClr val="0D1B2A"/>
                    </a:solidFill>
                  </a:rPr>
                  <a:t>: </a:t>
                </a:r>
                <a:r>
                  <a:rPr lang="en-US" sz="1400" dirty="0" err="1">
                    <a:solidFill>
                      <a:srgbClr val="0D1B2A"/>
                    </a:solidFill>
                  </a:rPr>
                  <a:t>沿用</a:t>
                </a:r>
                <a:r>
                  <a:rPr lang="zh-CN" altLang="en-US" sz="1400" dirty="0">
                    <a:solidFill>
                      <a:srgbClr val="0D1B2A"/>
                    </a:solidFill>
                  </a:rPr>
                  <a:t> </a:t>
                </a:r>
                <a:r>
                  <a:rPr lang="en-US" sz="1600" dirty="0">
                    <a:solidFill>
                      <a:srgbClr val="0D1B2A"/>
                    </a:solidFill>
                  </a:rPr>
                  <a:t>KLEC</a:t>
                </a:r>
                <a:r>
                  <a:rPr lang="zh-CN" altLang="en-US" sz="1400" dirty="0">
                    <a:solidFill>
                      <a:srgbClr val="0D1B2A"/>
                    </a:solidFill>
                  </a:rPr>
                  <a:t> </a:t>
                </a:r>
                <a:r>
                  <a:rPr lang="en-US" sz="1400" dirty="0" err="1">
                    <a:solidFill>
                      <a:srgbClr val="0D1B2A"/>
                    </a:solidFill>
                  </a:rPr>
                  <a:t>的</a:t>
                </a:r>
                <a:r>
                  <a:rPr lang="en-US" sz="1600" dirty="0" err="1">
                    <a:solidFill>
                      <a:srgbClr val="0D1B2A"/>
                    </a:solidFill>
                  </a:rPr>
                  <a:t>CyBERT</a:t>
                </a:r>
                <a:r>
                  <a:rPr lang="en-US" sz="1400" dirty="0">
                    <a:solidFill>
                      <a:srgbClr val="0D1B2A"/>
                    </a:solidFill>
                  </a:rPr>
                  <a:t> + </a:t>
                </a:r>
                <a:r>
                  <a:rPr lang="en-US" altLang="zh-CN" sz="1600" dirty="0" err="1">
                    <a:solidFill>
                      <a:srgbClr val="0D1B2A"/>
                    </a:solidFill>
                  </a:rPr>
                  <a:t>DualQGNN</a:t>
                </a:r>
                <a:r>
                  <a:rPr lang="en-US" altLang="zh-CN" sz="1400" dirty="0" err="1">
                    <a:solidFill>
                      <a:srgbClr val="0D1B2A"/>
                    </a:solidFill>
                  </a:rPr>
                  <a:t>编码</a:t>
                </a:r>
                <a:r>
                  <a:rPr lang="zh-CN" altLang="en-US" sz="1400" dirty="0"/>
                  <a:t> </a:t>
                </a:r>
                <a:r>
                  <a:rPr lang="en-US" altLang="zh-CN" sz="1400" dirty="0"/>
                  <a:t>,</a:t>
                </a:r>
                <a:r>
                  <a:rPr lang="zh-CN" altLang="en-US" sz="1400" dirty="0"/>
                  <a:t>但仅保留实体嵌入输出</a:t>
                </a:r>
                <a:r>
                  <a:rPr lang="en-US" altLang="zh-CN" sz="1400" dirty="0"/>
                  <a:t>,</a:t>
                </a:r>
                <a:r>
                  <a:rPr lang="zh-CN" altLang="en-US" sz="1400" dirty="0"/>
                  <a:t>丢弃 </a:t>
                </a:r>
                <a:r>
                  <a:rPr lang="en" altLang="zh-CN" sz="1600" dirty="0" err="1"/>
                  <a:t>QuatE</a:t>
                </a:r>
                <a:r>
                  <a:rPr lang="en" altLang="zh-CN" sz="1400" dirty="0"/>
                  <a:t> </a:t>
                </a:r>
                <a:r>
                  <a:rPr lang="zh-CN" altLang="en-US" sz="1400" dirty="0"/>
                  <a:t>解码器</a:t>
                </a:r>
                <a:r>
                  <a:rPr lang="en-US" altLang="zh-CN" sz="1400" dirty="0"/>
                  <a:t>,</a:t>
                </a:r>
                <a:r>
                  <a:rPr lang="zh-CN" altLang="en-US" sz="1400" b="1" dirty="0"/>
                  <a:t>作为后续双曲空间 </a:t>
                </a:r>
                <a:r>
                  <a:rPr lang="en" altLang="zh-CN" sz="1600" b="1" dirty="0" err="1"/>
                  <a:t>MuRP</a:t>
                </a:r>
                <a:r>
                  <a:rPr lang="en" altLang="zh-CN" sz="1400" b="1" dirty="0"/>
                  <a:t> </a:t>
                </a:r>
                <a:r>
                  <a:rPr lang="zh-CN" altLang="en-US" sz="1400" b="1" dirty="0"/>
                  <a:t>解码的初始化输入。</a:t>
                </a:r>
                <a:endParaRPr lang="en-US" altLang="zh-CN" sz="1400" b="1" dirty="0">
                  <a:solidFill>
                    <a:srgbClr val="0D1B2A"/>
                  </a:solidFill>
                </a:endParaRPr>
              </a:p>
              <a:p>
                <a:pPr marL="0" indent="0">
                  <a:buNone/>
                </a:pPr>
                <a:r>
                  <a:rPr lang="en-US" sz="1400" dirty="0">
                    <a:solidFill>
                      <a:srgbClr val="0D1B2A"/>
                    </a:solidFill>
                  </a:rPr>
                  <a:t> → 增强拓扑结构感知能力</a:t>
                </a:r>
                <a:endParaRPr lang="en-US" sz="1400" dirty="0"/>
              </a:p>
            </p:txBody>
          </p:sp>
        </mc:Choice>
        <mc:Fallback>
          <p:sp>
            <p:nvSpPr>
              <p:cNvPr id="17" name="Text 15"/>
              <p:cNvSpPr>
                <a:spLocks noRot="1" noChangeAspect="1" noMove="1" noResize="1" noEditPoints="1" noAdjustHandles="1" noChangeArrowheads="1" noChangeShapeType="1" noTextEdit="1"/>
              </p:cNvSpPr>
              <p:nvPr/>
            </p:nvSpPr>
            <p:spPr>
              <a:xfrm>
                <a:off x="5943600" y="2267712"/>
                <a:ext cx="6172200" cy="3840480"/>
              </a:xfrm>
              <a:prstGeom prst="rect">
                <a:avLst/>
              </a:prstGeom>
              <a:blipFill>
                <a:blip r:embed="rId5"/>
                <a:stretch>
                  <a:fillRect l="-616" t="-330" b="-7921"/>
                </a:stretch>
              </a:blipFill>
              <a:ln/>
            </p:spPr>
            <p:txBody>
              <a:bodyPr/>
              <a:lstStyle/>
              <a:p>
                <a:r>
                  <a:rPr lang="zh-CN" altLang="en-US">
                    <a:noFill/>
                  </a:rPr>
                  <a:t> </a:t>
                </a:r>
              </a:p>
            </p:txBody>
          </p:sp>
        </mc:Fallback>
      </mc:AlternateContent>
      <p:sp>
        <p:nvSpPr>
          <p:cNvPr id="18" name="Text 16"/>
          <p:cNvSpPr/>
          <p:nvPr/>
        </p:nvSpPr>
        <p:spPr>
          <a:xfrm>
            <a:off x="11704320" y="6629400"/>
            <a:ext cx="411480" cy="201168"/>
          </a:xfrm>
          <a:prstGeom prst="rect">
            <a:avLst/>
          </a:prstGeom>
          <a:noFill/>
          <a:ln/>
        </p:spPr>
        <p:txBody>
          <a:bodyPr wrap="square" rtlCol="0" anchor="ctr"/>
          <a:lstStyle/>
          <a:p>
            <a:pPr marL="0" indent="0" algn="r">
              <a:buNone/>
            </a:pPr>
            <a:r>
              <a:rPr lang="en-US" sz="900" dirty="0">
                <a:solidFill>
                  <a:srgbClr val="90A4AE"/>
                </a:solidFill>
              </a:rPr>
              <a:t>9/18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09  跨空间桥接：Norm Clipping + 指数映射</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19" y="1024128"/>
            <a:ext cx="5486400" cy="2011680"/>
          </a:xfrm>
          <a:prstGeom prst="rect">
            <a:avLst/>
          </a:prstGeom>
          <a:solidFill>
            <a:srgbClr val="FFF8E1"/>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1024128"/>
            <a:ext cx="73152" cy="2011680"/>
          </a:xfrm>
          <a:prstGeom prst="rect">
            <a:avLst/>
          </a:prstGeom>
          <a:solidFill>
            <a:srgbClr val="E65100"/>
          </a:solidFill>
          <a:ln w="12700">
            <a:solidFill>
              <a:srgbClr val="E65100"/>
            </a:solidFill>
            <a:prstDash val="solid"/>
          </a:ln>
        </p:spPr>
      </p:sp>
      <p:sp>
        <p:nvSpPr>
          <p:cNvPr id="7" name="Text 5"/>
          <p:cNvSpPr/>
          <p:nvPr/>
        </p:nvSpPr>
        <p:spPr>
          <a:xfrm>
            <a:off x="457200" y="1051560"/>
            <a:ext cx="4023360" cy="384048"/>
          </a:xfrm>
          <a:prstGeom prst="rect">
            <a:avLst/>
          </a:prstGeom>
          <a:noFill/>
          <a:ln/>
        </p:spPr>
        <p:txBody>
          <a:bodyPr wrap="square" rtlCol="0" anchor="ctr"/>
          <a:lstStyle/>
          <a:p>
            <a:pPr marL="0" indent="0">
              <a:buNone/>
            </a:pPr>
            <a:r>
              <a:rPr lang="en-US" sz="1600" b="1" dirty="0">
                <a:solidFill>
                  <a:srgbClr val="E65100"/>
                </a:solidFill>
              </a:rPr>
              <a:t>为什么不直接双曲训练？</a:t>
            </a:r>
            <a:endParaRPr lang="en-US" sz="1600" dirty="0"/>
          </a:p>
        </p:txBody>
      </p:sp>
      <p:sp>
        <p:nvSpPr>
          <p:cNvPr id="8" name="Text 6"/>
          <p:cNvSpPr/>
          <p:nvPr/>
        </p:nvSpPr>
        <p:spPr>
          <a:xfrm>
            <a:off x="457200" y="1463040"/>
            <a:ext cx="4843848" cy="1463040"/>
          </a:xfrm>
          <a:prstGeom prst="rect">
            <a:avLst/>
          </a:prstGeom>
          <a:noFill/>
          <a:ln/>
        </p:spPr>
        <p:txBody>
          <a:bodyPr wrap="square" rtlCol="0" anchor="t"/>
          <a:lstStyle/>
          <a:p>
            <a:pPr marL="0" indent="0">
              <a:buNone/>
            </a:pPr>
            <a:r>
              <a:rPr lang="en-US" sz="1600" dirty="0">
                <a:solidFill>
                  <a:srgbClr val="0D1B2A"/>
                </a:solidFill>
              </a:rPr>
              <a:t>① 梯度更新须在切空间投影，易数值不稳定
② 随机初始化在曲面上频繁发散
③ CyBERT 语义特征（欧式）无法直接嵌入双曲架构</a:t>
            </a:r>
            <a:endParaRPr lang="en-US" sz="1600" dirty="0"/>
          </a:p>
        </p:txBody>
      </p:sp>
      <p:sp>
        <p:nvSpPr>
          <p:cNvPr id="9" name="Text 7"/>
          <p:cNvSpPr/>
          <p:nvPr/>
        </p:nvSpPr>
        <p:spPr>
          <a:xfrm>
            <a:off x="274320" y="3154680"/>
            <a:ext cx="11612880" cy="384048"/>
          </a:xfrm>
          <a:prstGeom prst="rect">
            <a:avLst/>
          </a:prstGeom>
          <a:noFill/>
          <a:ln/>
        </p:spPr>
        <p:txBody>
          <a:bodyPr wrap="square" rtlCol="0" anchor="ctr"/>
          <a:lstStyle/>
          <a:p>
            <a:pPr marL="0" indent="0">
              <a:buNone/>
            </a:pPr>
            <a:r>
              <a:rPr lang="en-US" sz="1600" b="1" dirty="0">
                <a:solidFill>
                  <a:srgbClr val="1A3A6B"/>
                </a:solidFill>
              </a:rPr>
              <a:t>步骤 1  Norm Clipping（防边界坍缩）</a:t>
            </a:r>
            <a:endParaRPr lang="en-US" sz="1600" dirty="0"/>
          </a:p>
        </p:txBody>
      </p:sp>
      <p:sp>
        <p:nvSpPr>
          <p:cNvPr id="10" name="Shape 8"/>
          <p:cNvSpPr/>
          <p:nvPr/>
        </p:nvSpPr>
        <p:spPr>
          <a:xfrm>
            <a:off x="274320" y="3584448"/>
            <a:ext cx="5486400" cy="566928"/>
          </a:xfrm>
          <a:prstGeom prst="rect">
            <a:avLst/>
          </a:prstGeom>
          <a:solidFill>
            <a:srgbClr val="E1F5FE"/>
          </a:solidFill>
          <a:ln w="19050">
            <a:solidFill>
              <a:srgbClr val="00B4CC"/>
            </a:solidFill>
            <a:prstDash val="solid"/>
          </a:ln>
        </p:spPr>
      </p:sp>
      <mc:AlternateContent xmlns:mc="http://schemas.openxmlformats.org/markup-compatibility/2006">
        <mc:Choice xmlns:a14="http://schemas.microsoft.com/office/drawing/2010/main" Requires="a14">
          <p:sp>
            <p:nvSpPr>
              <p:cNvPr id="11" name="Text 9"/>
              <p:cNvSpPr/>
              <p:nvPr/>
            </p:nvSpPr>
            <p:spPr>
              <a:xfrm>
                <a:off x="384048" y="3639312"/>
                <a:ext cx="5266944" cy="457200"/>
              </a:xfrm>
              <a:prstGeom prst="rect">
                <a:avLst/>
              </a:prstGeom>
              <a:noFill/>
              <a:ln/>
            </p:spPr>
            <p:txBody>
              <a:bodyPr wrap="square" rtlCol="0" anchor="ctr"/>
              <a:lstStyle/>
              <a:p>
                <a:pPr marL="0" indent="0" algn="ctr">
                  <a:buNone/>
                </a:pPr>
                <a14:m>
                  <m:oMath xmlns:m="http://schemas.openxmlformats.org/officeDocument/2006/math">
                    <m:r>
                      <a:rPr lang="en-US" i="1" dirty="0" smtClean="0">
                        <a:solidFill>
                          <a:srgbClr val="0D1B2A"/>
                        </a:solidFill>
                        <a:latin typeface="Cambria Math" panose="02040503050406030204" pitchFamily="18" charset="0"/>
                      </a:rPr>
                      <m:t>h</m:t>
                    </m:r>
                    <m:r>
                      <a:rPr lang="en-US" i="1" dirty="0" smtClean="0">
                        <a:solidFill>
                          <a:srgbClr val="0D1B2A"/>
                        </a:solidFill>
                        <a:latin typeface="Cambria Math" panose="02040503050406030204" pitchFamily="18" charset="0"/>
                      </a:rPr>
                      <m:t> ̃</m:t>
                    </m:r>
                    <m:r>
                      <a:rPr lang="en-US" i="1" baseline="-40000" dirty="0">
                        <a:solidFill>
                          <a:srgbClr val="0D1B2A"/>
                        </a:solidFill>
                        <a:latin typeface="Cambria Math" panose="02040503050406030204" pitchFamily="18" charset="0"/>
                      </a:rPr>
                      <m:t>𝐸</m:t>
                    </m:r>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h𝐸</m:t>
                    </m:r>
                    <m:r>
                      <a:rPr lang="en-US" i="1" dirty="0">
                        <a:solidFill>
                          <a:srgbClr val="0D1B2A"/>
                        </a:solidFill>
                        <a:latin typeface="Cambria Math" panose="02040503050406030204" pitchFamily="18" charset="0"/>
                      </a:rPr>
                      <m:t>            </m:t>
                    </m:r>
                  </m:oMath>
                </a14:m>
                <a:r>
                  <a:rPr lang="en-US" dirty="0">
                    <a:solidFill>
                      <a:srgbClr val="0D1B2A"/>
                    </a:solidFill>
                  </a:rPr>
                  <a:t>if  ‖h</a:t>
                </a:r>
                <a:r>
                  <a:rPr lang="en-US" baseline="-40000" dirty="0">
                    <a:solidFill>
                      <a:srgbClr val="0D1B2A"/>
                    </a:solidFill>
                  </a:rPr>
                  <a:t>E</a:t>
                </a:r>
                <a:r>
                  <a:rPr lang="en-US" dirty="0">
                    <a:solidFill>
                      <a:srgbClr val="0D1B2A"/>
                    </a:solidFill>
                  </a:rPr>
                  <a:t>‖ ≤ 1.0</a:t>
                </a:r>
                <a:endParaRPr lang="en-US" dirty="0"/>
              </a:p>
            </p:txBody>
          </p:sp>
        </mc:Choice>
        <mc:Fallback>
          <p:sp>
            <p:nvSpPr>
              <p:cNvPr id="11" name="Text 9"/>
              <p:cNvSpPr>
                <a:spLocks noRot="1" noChangeAspect="1" noMove="1" noResize="1" noEditPoints="1" noAdjustHandles="1" noChangeArrowheads="1" noChangeShapeType="1" noTextEdit="1"/>
              </p:cNvSpPr>
              <p:nvPr/>
            </p:nvSpPr>
            <p:spPr>
              <a:xfrm>
                <a:off x="384048" y="3639312"/>
                <a:ext cx="5266944" cy="457200"/>
              </a:xfrm>
              <a:prstGeom prst="rect">
                <a:avLst/>
              </a:prstGeom>
              <a:blipFill>
                <a:blip r:embed="rId3"/>
                <a:stretch>
                  <a:fillRect b="-10811"/>
                </a:stretch>
              </a:blipFill>
              <a:ln/>
            </p:spPr>
            <p:txBody>
              <a:bodyPr/>
              <a:lstStyle/>
              <a:p>
                <a:r>
                  <a:rPr lang="zh-CN" altLang="en-US">
                    <a:noFill/>
                  </a:rPr>
                  <a:t> </a:t>
                </a:r>
              </a:p>
            </p:txBody>
          </p:sp>
        </mc:Fallback>
      </mc:AlternateContent>
      <p:sp>
        <p:nvSpPr>
          <p:cNvPr id="12" name="Shape 10"/>
          <p:cNvSpPr/>
          <p:nvPr/>
        </p:nvSpPr>
        <p:spPr>
          <a:xfrm>
            <a:off x="6035040" y="3584448"/>
            <a:ext cx="5852160" cy="566928"/>
          </a:xfrm>
          <a:prstGeom prst="rect">
            <a:avLst/>
          </a:prstGeom>
          <a:solidFill>
            <a:srgbClr val="E1F5FE"/>
          </a:solidFill>
          <a:ln w="19050">
            <a:solidFill>
              <a:srgbClr val="00B4CC"/>
            </a:solidFill>
            <a:prstDash val="solid"/>
          </a:ln>
        </p:spPr>
      </p:sp>
      <mc:AlternateContent xmlns:mc="http://schemas.openxmlformats.org/markup-compatibility/2006">
        <mc:Choice xmlns:a14="http://schemas.microsoft.com/office/drawing/2010/main" Requires="a14">
          <p:sp>
            <p:nvSpPr>
              <p:cNvPr id="13" name="Text 11"/>
              <p:cNvSpPr/>
              <p:nvPr/>
            </p:nvSpPr>
            <p:spPr>
              <a:xfrm>
                <a:off x="6144768" y="3639312"/>
                <a:ext cx="5632704" cy="457200"/>
              </a:xfrm>
              <a:prstGeom prst="rect">
                <a:avLst/>
              </a:prstGeom>
              <a:noFill/>
              <a:ln/>
            </p:spPr>
            <p:txBody>
              <a:bodyPr wrap="square" rtlCol="0" anchor="ctr"/>
              <a:lstStyle/>
              <a:p>
                <a:pPr algn="ctr"/>
                <a14:m>
                  <m:oMath xmlns:m="http://schemas.openxmlformats.org/officeDocument/2006/math">
                    <m:r>
                      <a:rPr lang="en-US" i="1" dirty="0" smtClean="0">
                        <a:solidFill>
                          <a:srgbClr val="0D1B2A"/>
                        </a:solidFill>
                        <a:latin typeface="Cambria Math" panose="02040503050406030204" pitchFamily="18" charset="0"/>
                      </a:rPr>
                      <m:t>h</m:t>
                    </m:r>
                    <m:r>
                      <a:rPr lang="en-US" i="1" dirty="0" smtClean="0">
                        <a:solidFill>
                          <a:srgbClr val="0D1B2A"/>
                        </a:solidFill>
                        <a:latin typeface="Cambria Math" panose="02040503050406030204" pitchFamily="18" charset="0"/>
                      </a:rPr>
                      <m:t> ̃</m:t>
                    </m:r>
                    <m:r>
                      <a:rPr lang="en-US" i="1" baseline="-40000" dirty="0">
                        <a:solidFill>
                          <a:srgbClr val="0D1B2A"/>
                        </a:solidFill>
                        <a:latin typeface="Cambria Math" panose="02040503050406030204" pitchFamily="18" charset="0"/>
                      </a:rPr>
                      <m:t>𝐸</m:t>
                    </m:r>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h𝐸</m:t>
                    </m:r>
                    <m:r>
                      <a:rPr lang="en-US" i="1" dirty="0">
                        <a:solidFill>
                          <a:srgbClr val="0D1B2A"/>
                        </a:solidFill>
                        <a:latin typeface="Cambria Math" panose="02040503050406030204" pitchFamily="18" charset="0"/>
                      </a:rPr>
                      <m:t> · </m:t>
                    </m:r>
                    <m:f>
                      <m:fPr>
                        <m:ctrlPr>
                          <a:rPr lang="en-US" altLang="zh-CN" i="1" dirty="0" smtClean="0">
                            <a:solidFill>
                              <a:srgbClr val="0D1B2A"/>
                            </a:solidFill>
                            <a:latin typeface="Cambria Math" panose="02040503050406030204" pitchFamily="18" charset="0"/>
                          </a:rPr>
                        </m:ctrlPr>
                      </m:fPr>
                      <m:num>
                        <m:r>
                          <a:rPr lang="en-US" altLang="zh-CN" i="1" dirty="0">
                            <a:solidFill>
                              <a:srgbClr val="0D1B2A"/>
                            </a:solidFill>
                            <a:latin typeface="Cambria Math" panose="02040503050406030204" pitchFamily="18" charset="0"/>
                          </a:rPr>
                          <m:t>1.0</m:t>
                        </m:r>
                      </m:num>
                      <m:den>
                        <m:r>
                          <a:rPr lang="en-US" altLang="zh-CN" i="1" dirty="0">
                            <a:solidFill>
                              <a:srgbClr val="0D1B2A"/>
                            </a:solidFill>
                            <a:latin typeface="Cambria Math" panose="02040503050406030204" pitchFamily="18" charset="0"/>
                          </a:rPr>
                          <m:t>‖</m:t>
                        </m:r>
                        <m:sSub>
                          <m:sSubPr>
                            <m:ctrlPr>
                              <a:rPr lang="en-US" altLang="zh-CN" i="1" dirty="0" smtClean="0">
                                <a:solidFill>
                                  <a:srgbClr val="0D1B2A"/>
                                </a:solidFill>
                                <a:latin typeface="Cambria Math" panose="02040503050406030204" pitchFamily="18" charset="0"/>
                              </a:rPr>
                            </m:ctrlPr>
                          </m:sSubPr>
                          <m:e>
                            <m:r>
                              <m:rPr>
                                <m:sty m:val="p"/>
                              </m:rPr>
                              <a:rPr lang="en-US" altLang="zh-CN" i="1" dirty="0">
                                <a:solidFill>
                                  <a:srgbClr val="0D1B2A"/>
                                </a:solidFill>
                                <a:latin typeface="Cambria Math" panose="02040503050406030204" pitchFamily="18" charset="0"/>
                              </a:rPr>
                              <m:t>h</m:t>
                            </m:r>
                          </m:e>
                          <m:sub>
                            <m:r>
                              <a:rPr lang="en-US" altLang="zh-CN" b="0" i="1" dirty="0" smtClean="0">
                                <a:solidFill>
                                  <a:srgbClr val="0D1B2A"/>
                                </a:solidFill>
                                <a:latin typeface="Cambria Math" panose="02040503050406030204" pitchFamily="18" charset="0"/>
                              </a:rPr>
                              <m:t>𝐸</m:t>
                            </m:r>
                          </m:sub>
                        </m:sSub>
                        <m:r>
                          <a:rPr lang="en-US" altLang="zh-CN" i="1" dirty="0">
                            <a:solidFill>
                              <a:srgbClr val="0D1B2A"/>
                            </a:solidFill>
                            <a:latin typeface="Cambria Math" panose="02040503050406030204" pitchFamily="18" charset="0"/>
                          </a:rPr>
                          <m:t>‖</m:t>
                        </m:r>
                      </m:den>
                    </m:f>
                    <m:r>
                      <a:rPr lang="en-US" i="1" dirty="0">
                        <a:solidFill>
                          <a:srgbClr val="0D1B2A"/>
                        </a:solidFill>
                        <a:latin typeface="Cambria Math" panose="02040503050406030204" pitchFamily="18" charset="0"/>
                      </a:rPr>
                      <m:t>    </m:t>
                    </m:r>
                  </m:oMath>
                </a14:m>
                <a:r>
                  <a:rPr lang="en-US" dirty="0">
                    <a:solidFill>
                      <a:srgbClr val="0D1B2A"/>
                    </a:solidFill>
                  </a:rPr>
                  <a:t>if  ‖h</a:t>
                </a:r>
                <a:r>
                  <a:rPr lang="en-US" baseline="-40000" dirty="0">
                    <a:solidFill>
                      <a:srgbClr val="0D1B2A"/>
                    </a:solidFill>
                  </a:rPr>
                  <a:t>E</a:t>
                </a:r>
                <a:r>
                  <a:rPr lang="en-US" dirty="0">
                    <a:solidFill>
                      <a:srgbClr val="0D1B2A"/>
                    </a:solidFill>
                  </a:rPr>
                  <a:t>‖ &gt; 1.0</a:t>
                </a:r>
                <a:endParaRPr lang="en-US" dirty="0"/>
              </a:p>
            </p:txBody>
          </p:sp>
        </mc:Choice>
        <mc:Fallback>
          <p:sp>
            <p:nvSpPr>
              <p:cNvPr id="13" name="Text 11"/>
              <p:cNvSpPr>
                <a:spLocks noRot="1" noChangeAspect="1" noMove="1" noResize="1" noEditPoints="1" noAdjustHandles="1" noChangeArrowheads="1" noChangeShapeType="1" noTextEdit="1"/>
              </p:cNvSpPr>
              <p:nvPr/>
            </p:nvSpPr>
            <p:spPr>
              <a:xfrm>
                <a:off x="6144768" y="3639312"/>
                <a:ext cx="5632704" cy="457200"/>
              </a:xfrm>
              <a:prstGeom prst="rect">
                <a:avLst/>
              </a:prstGeom>
              <a:blipFill>
                <a:blip r:embed="rId4"/>
                <a:stretch>
                  <a:fillRect b="-13514"/>
                </a:stretch>
              </a:blipFill>
              <a:ln/>
            </p:spPr>
            <p:txBody>
              <a:bodyPr/>
              <a:lstStyle/>
              <a:p>
                <a:r>
                  <a:rPr lang="zh-CN" altLang="en-US">
                    <a:noFill/>
                  </a:rPr>
                  <a:t> </a:t>
                </a:r>
              </a:p>
            </p:txBody>
          </p:sp>
        </mc:Fallback>
      </mc:AlternateContent>
      <p:sp>
        <p:nvSpPr>
          <p:cNvPr id="14" name="Text 12"/>
          <p:cNvSpPr/>
          <p:nvPr/>
        </p:nvSpPr>
        <p:spPr>
          <a:xfrm>
            <a:off x="274320" y="4279392"/>
            <a:ext cx="11612880" cy="384048"/>
          </a:xfrm>
          <a:prstGeom prst="rect">
            <a:avLst/>
          </a:prstGeom>
          <a:noFill/>
          <a:ln/>
        </p:spPr>
        <p:txBody>
          <a:bodyPr wrap="square" rtlCol="0" anchor="ctr"/>
          <a:lstStyle/>
          <a:p>
            <a:pPr marL="0" indent="0">
              <a:buNone/>
            </a:pPr>
            <a:r>
              <a:rPr lang="en-US" sz="1600" b="1" dirty="0">
                <a:solidFill>
                  <a:srgbClr val="1A3A6B"/>
                </a:solidFill>
              </a:rPr>
              <a:t>步骤 2  指数映射（切空间 → 庞加莱球）</a:t>
            </a:r>
            <a:endParaRPr lang="en-US" sz="1600" dirty="0"/>
          </a:p>
        </p:txBody>
      </p:sp>
      <p:sp>
        <p:nvSpPr>
          <p:cNvPr id="15" name="Shape 13"/>
          <p:cNvSpPr/>
          <p:nvPr/>
        </p:nvSpPr>
        <p:spPr>
          <a:xfrm>
            <a:off x="274320" y="4709160"/>
            <a:ext cx="11612880" cy="713232"/>
          </a:xfrm>
          <a:prstGeom prst="rect">
            <a:avLst/>
          </a:prstGeom>
          <a:solidFill>
            <a:srgbClr val="E1F5FE"/>
          </a:solidFill>
          <a:ln w="19050">
            <a:solidFill>
              <a:srgbClr val="00B4CC"/>
            </a:solidFill>
            <a:prstDash val="solid"/>
          </a:ln>
        </p:spPr>
      </p:sp>
      <mc:AlternateContent xmlns:mc="http://schemas.openxmlformats.org/markup-compatibility/2006" xmlns:a14="http://schemas.microsoft.com/office/drawing/2010/main">
        <mc:Choice Requires="a14">
          <p:sp>
            <p:nvSpPr>
              <p:cNvPr id="16" name="Text 14"/>
              <p:cNvSpPr/>
              <p:nvPr/>
            </p:nvSpPr>
            <p:spPr>
              <a:xfrm>
                <a:off x="384048" y="4764024"/>
                <a:ext cx="11393424" cy="60350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n-US" altLang="zh-CN" i="1" dirty="0" smtClean="0">
                              <a:solidFill>
                                <a:srgbClr val="0D1B2A"/>
                              </a:solidFill>
                              <a:latin typeface="Cambria Math" panose="02040503050406030204" pitchFamily="18" charset="0"/>
                            </a:rPr>
                          </m:ctrlPr>
                        </m:sSubSupPr>
                        <m:e>
                          <m:r>
                            <a:rPr lang="en-US" altLang="zh-CN" b="0" i="1" dirty="0" smtClean="0">
                              <a:solidFill>
                                <a:srgbClr val="0D1B2A"/>
                              </a:solidFill>
                              <a:latin typeface="Cambria Math" panose="02040503050406030204" pitchFamily="18" charset="0"/>
                            </a:rPr>
                            <m:t>h</m:t>
                          </m:r>
                        </m:e>
                        <m:sub>
                          <m:r>
                            <a:rPr lang="en-US" altLang="zh-CN" b="0" i="1" dirty="0" smtClean="0">
                              <a:solidFill>
                                <a:srgbClr val="0D1B2A"/>
                              </a:solidFill>
                              <a:latin typeface="Cambria Math" panose="02040503050406030204" pitchFamily="18" charset="0"/>
                            </a:rPr>
                            <m:t>𝐻</m:t>
                          </m:r>
                        </m:sub>
                        <m:sup>
                          <m:r>
                            <a:rPr lang="en-US" altLang="zh-CN" b="0" i="1" dirty="0" smtClean="0">
                              <a:solidFill>
                                <a:srgbClr val="0D1B2A"/>
                              </a:solidFill>
                              <a:latin typeface="Cambria Math" panose="02040503050406030204" pitchFamily="18" charset="0"/>
                            </a:rPr>
                            <m:t>(0)</m:t>
                          </m:r>
                        </m:sup>
                      </m:sSubSup>
                      <m:r>
                        <a:rPr lang="en-US" i="1" dirty="0">
                          <a:solidFill>
                            <a:srgbClr val="0D1B2A"/>
                          </a:solidFill>
                          <a:latin typeface="Cambria Math" panose="02040503050406030204" pitchFamily="18" charset="0"/>
                        </a:rPr>
                        <m:t>= </m:t>
                      </m:r>
                      <m:sSubSup>
                        <m:sSubSupPr>
                          <m:ctrlPr>
                            <a:rPr lang="en-US" altLang="zh-CN" i="1" dirty="0" smtClean="0">
                              <a:solidFill>
                                <a:srgbClr val="0D1B2A"/>
                              </a:solidFill>
                              <a:latin typeface="Cambria Math" panose="02040503050406030204" pitchFamily="18" charset="0"/>
                            </a:rPr>
                          </m:ctrlPr>
                        </m:sSubSupPr>
                        <m:e>
                          <m:r>
                            <m:rPr>
                              <m:sty m:val="p"/>
                            </m:rPr>
                            <a:rPr lang="en-US" altLang="zh-CN" b="0" i="0" dirty="0" smtClean="0">
                              <a:solidFill>
                                <a:srgbClr val="0D1B2A"/>
                              </a:solidFill>
                              <a:latin typeface="Cambria Math" panose="02040503050406030204" pitchFamily="18" charset="0"/>
                            </a:rPr>
                            <m:t>exp</m:t>
                          </m:r>
                        </m:e>
                        <m:sub>
                          <m:r>
                            <a:rPr lang="en-US" altLang="zh-CN" b="0" i="1" dirty="0" smtClean="0">
                              <a:solidFill>
                                <a:srgbClr val="0D1B2A"/>
                              </a:solidFill>
                              <a:latin typeface="Cambria Math" panose="02040503050406030204" pitchFamily="18" charset="0"/>
                            </a:rPr>
                            <m:t>0</m:t>
                          </m:r>
                        </m:sub>
                        <m:sup>
                          <m:r>
                            <a:rPr lang="en-US" altLang="zh-CN" b="0" i="1" dirty="0" smtClean="0">
                              <a:solidFill>
                                <a:srgbClr val="0D1B2A"/>
                              </a:solidFill>
                              <a:latin typeface="Cambria Math" panose="02040503050406030204" pitchFamily="18" charset="0"/>
                            </a:rPr>
                            <m:t>𝑐</m:t>
                          </m:r>
                        </m:sup>
                      </m:sSubSup>
                      <m:r>
                        <a:rPr lang="en-US" i="1" dirty="0" smtClean="0">
                          <a:solidFill>
                            <a:srgbClr val="0D1B2A"/>
                          </a:solidFill>
                          <a:latin typeface="Cambria Math" panose="02040503050406030204" pitchFamily="18" charset="0"/>
                        </a:rPr>
                        <m:t> </m:t>
                      </m:r>
                      <m:r>
                        <a:rPr lang="en-US" i="1" dirty="0">
                          <a:solidFill>
                            <a:srgbClr val="0D1B2A"/>
                          </a:solidFill>
                          <a:latin typeface="Cambria Math" panose="02040503050406030204" pitchFamily="18" charset="0"/>
                        </a:rPr>
                        <m:t>( </m:t>
                      </m:r>
                      <m:r>
                        <a:rPr lang="en-US" i="1" dirty="0" smtClean="0">
                          <a:solidFill>
                            <a:srgbClr val="0D1B2A"/>
                          </a:solidFill>
                          <a:latin typeface="Cambria Math" panose="02040503050406030204" pitchFamily="18" charset="0"/>
                        </a:rPr>
                        <m:t>h</m:t>
                      </m:r>
                      <m:r>
                        <a:rPr lang="en-US" i="1" dirty="0" smtClean="0">
                          <a:solidFill>
                            <a:srgbClr val="0D1B2A"/>
                          </a:solidFill>
                          <a:latin typeface="Cambria Math" panose="02040503050406030204" pitchFamily="18" charset="0"/>
                        </a:rPr>
                        <m:t> ̃</m:t>
                      </m:r>
                      <m:r>
                        <a:rPr lang="en-US" i="1" baseline="-40000" dirty="0">
                          <a:solidFill>
                            <a:srgbClr val="0D1B2A"/>
                          </a:solidFill>
                          <a:latin typeface="Cambria Math" panose="02040503050406030204" pitchFamily="18" charset="0"/>
                        </a:rPr>
                        <m:t>𝐸</m:t>
                      </m:r>
                      <m:r>
                        <a:rPr lang="en-US" i="1" dirty="0">
                          <a:solidFill>
                            <a:srgbClr val="0D1B2A"/>
                          </a:solidFill>
                          <a:latin typeface="Cambria Math" panose="02040503050406030204" pitchFamily="18" charset="0"/>
                        </a:rPr>
                        <m:t> ) = </m:t>
                      </m:r>
                      <m:r>
                        <m:rPr>
                          <m:sty m:val="p"/>
                        </m:rPr>
                        <a:rPr lang="en-US" i="1" dirty="0">
                          <a:solidFill>
                            <a:srgbClr val="0D1B2A"/>
                          </a:solidFill>
                          <a:latin typeface="Cambria Math" panose="02040503050406030204" pitchFamily="18" charset="0"/>
                        </a:rPr>
                        <m:t>tanh</m:t>
                      </m:r>
                      <m:r>
                        <a:rPr lang="en-US" i="1" dirty="0">
                          <a:solidFill>
                            <a:srgbClr val="0D1B2A"/>
                          </a:solidFill>
                          <a:latin typeface="Cambria Math" panose="02040503050406030204" pitchFamily="18" charset="0"/>
                        </a:rPr>
                        <m:t>⁡(</m:t>
                      </m:r>
                      <m:rad>
                        <m:radPr>
                          <m:degHide m:val="on"/>
                          <m:ctrlPr>
                            <a:rPr lang="en-US" altLang="zh-CN" i="1" dirty="0" smtClean="0">
                              <a:solidFill>
                                <a:srgbClr val="0D1B2A"/>
                              </a:solidFill>
                              <a:latin typeface="Cambria Math" panose="02040503050406030204" pitchFamily="18" charset="0"/>
                            </a:rPr>
                          </m:ctrlPr>
                        </m:radPr>
                        <m:deg/>
                        <m:e>
                          <m:r>
                            <a:rPr lang="en-US" altLang="zh-CN" b="0" i="1" dirty="0" smtClean="0">
                              <a:solidFill>
                                <a:srgbClr val="0D1B2A"/>
                              </a:solidFill>
                              <a:latin typeface="Cambria Math" panose="02040503050406030204" pitchFamily="18" charset="0"/>
                            </a:rPr>
                            <m:t>𝑐</m:t>
                          </m:r>
                        </m:e>
                      </m:rad>
                      <m:r>
                        <a:rPr lang="en-US" i="1" dirty="0">
                          <a:solidFill>
                            <a:srgbClr val="0D1B2A"/>
                          </a:solidFill>
                          <a:latin typeface="Cambria Math" panose="02040503050406030204" pitchFamily="18" charset="0"/>
                        </a:rPr>
                        <m:t>·‖</m:t>
                      </m:r>
                      <m:r>
                        <a:rPr lang="en-US" i="1" dirty="0">
                          <a:solidFill>
                            <a:srgbClr val="0D1B2A"/>
                          </a:solidFill>
                          <a:latin typeface="Cambria Math" panose="02040503050406030204" pitchFamily="18" charset="0"/>
                        </a:rPr>
                        <m:t>h</m:t>
                      </m:r>
                      <m:r>
                        <a:rPr lang="en-US" i="1" dirty="0">
                          <a:solidFill>
                            <a:srgbClr val="0D1B2A"/>
                          </a:solidFill>
                          <a:latin typeface="Cambria Math" panose="02040503050406030204" pitchFamily="18" charset="0"/>
                        </a:rPr>
                        <m:t> ̃</m:t>
                      </m:r>
                      <m:r>
                        <a:rPr lang="en-US" i="1" baseline="-40000" dirty="0">
                          <a:solidFill>
                            <a:srgbClr val="0D1B2A"/>
                          </a:solidFill>
                          <a:latin typeface="Cambria Math" panose="02040503050406030204" pitchFamily="18" charset="0"/>
                        </a:rPr>
                        <m:t>𝐸</m:t>
                      </m:r>
                      <m:r>
                        <a:rPr lang="en-US" i="1" dirty="0">
                          <a:solidFill>
                            <a:srgbClr val="0D1B2A"/>
                          </a:solidFill>
                          <a:latin typeface="Cambria Math" panose="02040503050406030204" pitchFamily="18" charset="0"/>
                        </a:rPr>
                        <m:t>‖) · </m:t>
                      </m:r>
                      <m:f>
                        <m:fPr>
                          <m:ctrlPr>
                            <a:rPr lang="en-US" altLang="zh-CN" i="1" dirty="0" smtClean="0">
                              <a:solidFill>
                                <a:srgbClr val="0D1B2A"/>
                              </a:solidFill>
                              <a:latin typeface="Cambria Math" panose="02040503050406030204" pitchFamily="18" charset="0"/>
                            </a:rPr>
                          </m:ctrlPr>
                        </m:fPr>
                        <m:num>
                          <m:r>
                            <a:rPr lang="en-US" altLang="zh-CN" i="1" dirty="0">
                              <a:solidFill>
                                <a:srgbClr val="0D1B2A"/>
                              </a:solidFill>
                              <a:latin typeface="Cambria Math" panose="02040503050406030204" pitchFamily="18" charset="0"/>
                            </a:rPr>
                            <m:t>h</m:t>
                          </m:r>
                          <m:r>
                            <a:rPr lang="en-US" altLang="zh-CN" i="1" dirty="0">
                              <a:solidFill>
                                <a:srgbClr val="0D1B2A"/>
                              </a:solidFill>
                              <a:latin typeface="Cambria Math" panose="02040503050406030204" pitchFamily="18" charset="0"/>
                            </a:rPr>
                            <m:t> ̃</m:t>
                          </m:r>
                          <m:r>
                            <a:rPr lang="en-US" altLang="zh-CN" i="1" baseline="-40000" dirty="0">
                              <a:solidFill>
                                <a:srgbClr val="0D1B2A"/>
                              </a:solidFill>
                              <a:latin typeface="Cambria Math" panose="02040503050406030204" pitchFamily="18" charset="0"/>
                            </a:rPr>
                            <m:t>𝐸</m:t>
                          </m:r>
                        </m:num>
                        <m:den>
                          <m:rad>
                            <m:radPr>
                              <m:degHide m:val="on"/>
                              <m:ctrlPr>
                                <a:rPr lang="en-US" altLang="zh-CN" i="1" dirty="0" smtClean="0">
                                  <a:solidFill>
                                    <a:srgbClr val="0D1B2A"/>
                                  </a:solidFill>
                                  <a:latin typeface="Cambria Math" panose="02040503050406030204" pitchFamily="18" charset="0"/>
                                </a:rPr>
                              </m:ctrlPr>
                            </m:radPr>
                            <m:deg/>
                            <m:e>
                              <m:r>
                                <a:rPr lang="en-US" altLang="zh-CN" b="0" i="1" dirty="0" smtClean="0">
                                  <a:solidFill>
                                    <a:srgbClr val="0D1B2A"/>
                                  </a:solidFill>
                                  <a:latin typeface="Cambria Math" panose="02040503050406030204" pitchFamily="18" charset="0"/>
                                </a:rPr>
                                <m:t>𝑐</m:t>
                              </m:r>
                            </m:e>
                          </m:rad>
                          <m:r>
                            <a:rPr lang="en-US" altLang="zh-CN" i="1" dirty="0">
                              <a:solidFill>
                                <a:srgbClr val="0D1B2A"/>
                              </a:solidFill>
                              <a:latin typeface="Cambria Math" panose="02040503050406030204" pitchFamily="18" charset="0"/>
                            </a:rPr>
                            <m:t>·‖</m:t>
                          </m:r>
                          <m:r>
                            <a:rPr lang="en-US" altLang="zh-CN" i="1" dirty="0">
                              <a:solidFill>
                                <a:srgbClr val="0D1B2A"/>
                              </a:solidFill>
                              <a:latin typeface="Cambria Math" panose="02040503050406030204" pitchFamily="18" charset="0"/>
                            </a:rPr>
                            <m:t>h</m:t>
                          </m:r>
                          <m:r>
                            <a:rPr lang="en-US" altLang="zh-CN" i="1" dirty="0">
                              <a:solidFill>
                                <a:srgbClr val="0D1B2A"/>
                              </a:solidFill>
                              <a:latin typeface="Cambria Math" panose="02040503050406030204" pitchFamily="18" charset="0"/>
                            </a:rPr>
                            <m:t> ̃</m:t>
                          </m:r>
                          <m:r>
                            <a:rPr lang="en-US" altLang="zh-CN" i="1" baseline="-40000" dirty="0">
                              <a:solidFill>
                                <a:srgbClr val="0D1B2A"/>
                              </a:solidFill>
                              <a:latin typeface="Cambria Math" panose="02040503050406030204" pitchFamily="18" charset="0"/>
                            </a:rPr>
                            <m:t>𝐸</m:t>
                          </m:r>
                          <m:r>
                            <a:rPr lang="en-US" altLang="zh-CN" i="1" dirty="0">
                              <a:solidFill>
                                <a:srgbClr val="0D1B2A"/>
                              </a:solidFill>
                              <a:latin typeface="Cambria Math" panose="02040503050406030204" pitchFamily="18" charset="0"/>
                            </a:rPr>
                            <m:t>‖</m:t>
                          </m:r>
                        </m:den>
                      </m:f>
                      <m:r>
                        <a:rPr lang="en-US" i="1" dirty="0">
                          <a:solidFill>
                            <a:srgbClr val="0D1B2A"/>
                          </a:solidFill>
                          <a:latin typeface="Cambria Math" panose="02040503050406030204" pitchFamily="18" charset="0"/>
                        </a:rPr>
                        <m:t> </m:t>
                      </m:r>
                    </m:oMath>
                  </m:oMathPara>
                </a14:m>
                <a:endParaRPr lang="en-US" dirty="0"/>
              </a:p>
            </p:txBody>
          </p:sp>
        </mc:Choice>
        <mc:Fallback xmlns="">
          <p:sp>
            <p:nvSpPr>
              <p:cNvPr id="16" name="Text 14"/>
              <p:cNvSpPr>
                <a:spLocks noRot="1" noChangeAspect="1" noMove="1" noResize="1" noEditPoints="1" noAdjustHandles="1" noChangeArrowheads="1" noChangeShapeType="1" noTextEdit="1"/>
              </p:cNvSpPr>
              <p:nvPr/>
            </p:nvSpPr>
            <p:spPr>
              <a:xfrm>
                <a:off x="384048" y="4764024"/>
                <a:ext cx="11393424" cy="603504"/>
              </a:xfrm>
              <a:prstGeom prst="rect">
                <a:avLst/>
              </a:prstGeom>
              <a:blipFill>
                <a:blip r:embed="rId5"/>
                <a:stretch>
                  <a:fillRect t="-6250" b="-18750"/>
                </a:stretch>
              </a:blipFill>
              <a:ln/>
            </p:spPr>
            <p:txBody>
              <a:bodyPr/>
              <a:lstStyle/>
              <a:p>
                <a:r>
                  <a:rPr lang="zh-CN" altLang="en-US">
                    <a:noFill/>
                  </a:rPr>
                  <a:t> </a:t>
                </a:r>
              </a:p>
            </p:txBody>
          </p:sp>
        </mc:Fallback>
      </mc:AlternateContent>
      <p:sp>
        <p:nvSpPr>
          <p:cNvPr id="17" name="Shape 15"/>
          <p:cNvSpPr/>
          <p:nvPr/>
        </p:nvSpPr>
        <p:spPr>
          <a:xfrm>
            <a:off x="274320" y="5532120"/>
            <a:ext cx="3749040" cy="1234440"/>
          </a:xfrm>
          <a:prstGeom prst="rect">
            <a:avLst/>
          </a:prstGeom>
          <a:solidFill>
            <a:srgbClr val="006579"/>
          </a:solidFill>
          <a:ln w="12700">
            <a:solidFill>
              <a:srgbClr val="006579"/>
            </a:solidFill>
            <a:prstDash val="solid"/>
          </a:ln>
        </p:spPr>
      </p:sp>
      <p:sp>
        <p:nvSpPr>
          <p:cNvPr id="18" name="Text 16"/>
          <p:cNvSpPr/>
          <p:nvPr/>
        </p:nvSpPr>
        <p:spPr>
          <a:xfrm>
            <a:off x="320040" y="5559552"/>
            <a:ext cx="3657600" cy="365760"/>
          </a:xfrm>
          <a:prstGeom prst="rect">
            <a:avLst/>
          </a:prstGeom>
          <a:noFill/>
          <a:ln/>
        </p:spPr>
        <p:txBody>
          <a:bodyPr wrap="square" rtlCol="0" anchor="ctr"/>
          <a:lstStyle/>
          <a:p>
            <a:pPr marL="0" indent="0">
              <a:buNone/>
            </a:pPr>
            <a:r>
              <a:rPr lang="en-US" sz="1600" b="1" dirty="0">
                <a:solidFill>
                  <a:srgbClr val="FFFFFF"/>
                </a:solidFill>
              </a:rPr>
              <a:t>局部等距性</a:t>
            </a:r>
            <a:endParaRPr lang="en-US" sz="1600" dirty="0"/>
          </a:p>
        </p:txBody>
      </p:sp>
      <p:sp>
        <p:nvSpPr>
          <p:cNvPr id="19" name="Text 17"/>
          <p:cNvSpPr/>
          <p:nvPr/>
        </p:nvSpPr>
        <p:spPr>
          <a:xfrm>
            <a:off x="320040" y="5943600"/>
            <a:ext cx="3657600" cy="777240"/>
          </a:xfrm>
          <a:prstGeom prst="rect">
            <a:avLst/>
          </a:prstGeom>
          <a:noFill/>
          <a:ln/>
        </p:spPr>
        <p:txBody>
          <a:bodyPr wrap="square" rtlCol="0" anchor="t"/>
          <a:lstStyle/>
          <a:p>
            <a:pPr marL="0" indent="0">
              <a:buNone/>
            </a:pPr>
            <a:r>
              <a:rPr lang="en-US" sz="1400" dirty="0">
                <a:solidFill>
                  <a:srgbClr val="D0E8F0"/>
                </a:solidFill>
              </a:rPr>
              <a:t>在原点邻域内，指数映射保持欧式度量关系，语义聚类结构不发生显著扭曲</a:t>
            </a:r>
            <a:endParaRPr lang="en-US" sz="1400" dirty="0"/>
          </a:p>
        </p:txBody>
      </p:sp>
      <p:sp>
        <p:nvSpPr>
          <p:cNvPr id="20" name="Shape 18"/>
          <p:cNvSpPr/>
          <p:nvPr/>
        </p:nvSpPr>
        <p:spPr>
          <a:xfrm>
            <a:off x="4233672" y="5532120"/>
            <a:ext cx="3749040" cy="1234440"/>
          </a:xfrm>
          <a:prstGeom prst="rect">
            <a:avLst/>
          </a:prstGeom>
          <a:solidFill>
            <a:srgbClr val="1A3A6B"/>
          </a:solidFill>
          <a:ln w="12700">
            <a:solidFill>
              <a:srgbClr val="1A3A6B"/>
            </a:solidFill>
            <a:prstDash val="solid"/>
          </a:ln>
        </p:spPr>
      </p:sp>
      <p:sp>
        <p:nvSpPr>
          <p:cNvPr id="21" name="Text 19"/>
          <p:cNvSpPr/>
          <p:nvPr/>
        </p:nvSpPr>
        <p:spPr>
          <a:xfrm>
            <a:off x="4279392" y="5559552"/>
            <a:ext cx="3657600" cy="365760"/>
          </a:xfrm>
          <a:prstGeom prst="rect">
            <a:avLst/>
          </a:prstGeom>
          <a:noFill/>
          <a:ln/>
        </p:spPr>
        <p:txBody>
          <a:bodyPr wrap="square" rtlCol="0" anchor="ctr"/>
          <a:lstStyle/>
          <a:p>
            <a:pPr marL="0" indent="0">
              <a:buNone/>
            </a:pPr>
            <a:r>
              <a:rPr lang="en-US" sz="1600" b="1" dirty="0">
                <a:solidFill>
                  <a:srgbClr val="FFFFFF"/>
                </a:solidFill>
              </a:rPr>
              <a:t>信息区分性</a:t>
            </a:r>
            <a:endParaRPr lang="en-US" sz="1600" dirty="0"/>
          </a:p>
        </p:txBody>
      </p:sp>
      <p:sp>
        <p:nvSpPr>
          <p:cNvPr id="22" name="Text 20"/>
          <p:cNvSpPr/>
          <p:nvPr/>
        </p:nvSpPr>
        <p:spPr>
          <a:xfrm>
            <a:off x="4279392" y="5943600"/>
            <a:ext cx="3657600" cy="777240"/>
          </a:xfrm>
          <a:prstGeom prst="rect">
            <a:avLst/>
          </a:prstGeom>
          <a:noFill/>
          <a:ln/>
        </p:spPr>
        <p:txBody>
          <a:bodyPr wrap="square" rtlCol="0" anchor="t"/>
          <a:lstStyle/>
          <a:p>
            <a:pPr marL="0" indent="0">
              <a:buNone/>
            </a:pPr>
            <a:r>
              <a:rPr lang="en-US" sz="1400" dirty="0">
                <a:solidFill>
                  <a:srgbClr val="D0E8F0"/>
                </a:solidFill>
              </a:rPr>
              <a:t>exp 为单射映射：不同欧式向量 → 不同双曲点，信息传递无混叠</a:t>
            </a:r>
            <a:endParaRPr lang="en-US" sz="1400" dirty="0"/>
          </a:p>
        </p:txBody>
      </p:sp>
      <p:sp>
        <p:nvSpPr>
          <p:cNvPr id="23" name="Shape 21"/>
          <p:cNvSpPr/>
          <p:nvPr/>
        </p:nvSpPr>
        <p:spPr>
          <a:xfrm>
            <a:off x="8193024" y="5532120"/>
            <a:ext cx="3749040" cy="1234440"/>
          </a:xfrm>
          <a:prstGeom prst="rect">
            <a:avLst/>
          </a:prstGeom>
          <a:solidFill>
            <a:srgbClr val="1B5E20"/>
          </a:solidFill>
          <a:ln w="12700">
            <a:solidFill>
              <a:srgbClr val="1B5E20"/>
            </a:solidFill>
            <a:prstDash val="solid"/>
          </a:ln>
        </p:spPr>
      </p:sp>
      <p:sp>
        <p:nvSpPr>
          <p:cNvPr id="24" name="Text 22"/>
          <p:cNvSpPr/>
          <p:nvPr/>
        </p:nvSpPr>
        <p:spPr>
          <a:xfrm>
            <a:off x="8238744" y="5559552"/>
            <a:ext cx="3657600" cy="365760"/>
          </a:xfrm>
          <a:prstGeom prst="rect">
            <a:avLst/>
          </a:prstGeom>
          <a:noFill/>
          <a:ln/>
        </p:spPr>
        <p:txBody>
          <a:bodyPr wrap="square" rtlCol="0" anchor="ctr"/>
          <a:lstStyle/>
          <a:p>
            <a:pPr marL="0" indent="0">
              <a:buNone/>
            </a:pPr>
            <a:r>
              <a:rPr lang="en-US" sz="1600" b="1" dirty="0">
                <a:solidFill>
                  <a:srgbClr val="FFFFFF"/>
                </a:solidFill>
              </a:rPr>
              <a:t>初始化稳定</a:t>
            </a:r>
            <a:endParaRPr lang="en-US" sz="1600" dirty="0"/>
          </a:p>
        </p:txBody>
      </p:sp>
      <p:sp>
        <p:nvSpPr>
          <p:cNvPr id="25" name="Text 23"/>
          <p:cNvSpPr/>
          <p:nvPr/>
        </p:nvSpPr>
        <p:spPr>
          <a:xfrm>
            <a:off x="8238744" y="5943600"/>
            <a:ext cx="3657600" cy="777240"/>
          </a:xfrm>
          <a:prstGeom prst="rect">
            <a:avLst/>
          </a:prstGeom>
          <a:noFill/>
          <a:ln/>
        </p:spPr>
        <p:txBody>
          <a:bodyPr wrap="square" rtlCol="0" anchor="t"/>
          <a:lstStyle/>
          <a:p>
            <a:pPr marL="0" indent="0">
              <a:buNone/>
            </a:pPr>
            <a:r>
              <a:rPr lang="en-US" sz="1400" dirty="0">
                <a:solidFill>
                  <a:srgbClr val="D0E8F0"/>
                </a:solidFill>
              </a:rPr>
              <a:t>映射后表示分布于庞加莱球中间区域，避免边界区域梯度衰减</a:t>
            </a:r>
            <a:endParaRPr lang="en-US" sz="1400" dirty="0"/>
          </a:p>
        </p:txBody>
      </p:sp>
      <p:sp>
        <p:nvSpPr>
          <p:cNvPr id="26" name="Text 24"/>
          <p:cNvSpPr/>
          <p:nvPr/>
        </p:nvSpPr>
        <p:spPr>
          <a:xfrm>
            <a:off x="11590638" y="6656832"/>
            <a:ext cx="525162" cy="173736"/>
          </a:xfrm>
          <a:prstGeom prst="rect">
            <a:avLst/>
          </a:prstGeom>
          <a:noFill/>
          <a:ln/>
        </p:spPr>
        <p:txBody>
          <a:bodyPr wrap="square" rtlCol="0" anchor="ctr"/>
          <a:lstStyle/>
          <a:p>
            <a:pPr marL="0" indent="0" algn="r">
              <a:buNone/>
            </a:pPr>
            <a:r>
              <a:rPr lang="en-US" sz="900" dirty="0">
                <a:solidFill>
                  <a:srgbClr val="90A4AE"/>
                </a:solidFill>
              </a:rPr>
              <a:t>10/18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10  </a:t>
            </a:r>
            <a:r>
              <a:rPr lang="en-US" sz="2300" b="1" dirty="0" err="1">
                <a:solidFill>
                  <a:srgbClr val="1A3A6B"/>
                </a:solidFill>
              </a:rPr>
              <a:t>阶段二：庞加莱球双曲解码（MuRP</a:t>
            </a:r>
            <a:r>
              <a:rPr lang="en-US" sz="2300" b="1" dirty="0">
                <a:solidFill>
                  <a:srgbClr val="1A3A6B"/>
                </a:solidFill>
              </a:rPr>
              <a:t> </a:t>
            </a:r>
            <a:r>
              <a:rPr lang="en-US" sz="2300" b="1" dirty="0" err="1">
                <a:solidFill>
                  <a:srgbClr val="1A3A6B"/>
                </a:solidFill>
              </a:rPr>
              <a:t>评分模型</a:t>
            </a:r>
            <a:r>
              <a:rPr lang="en-US" sz="2300" b="1" dirty="0">
                <a:solidFill>
                  <a:srgbClr val="1A3A6B"/>
                </a:solidFill>
              </a:rPr>
              <a:t>）</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Text 3"/>
          <p:cNvSpPr/>
          <p:nvPr/>
        </p:nvSpPr>
        <p:spPr>
          <a:xfrm>
            <a:off x="274320" y="1024128"/>
            <a:ext cx="6400800" cy="347472"/>
          </a:xfrm>
          <a:prstGeom prst="rect">
            <a:avLst/>
          </a:prstGeom>
          <a:noFill/>
          <a:ln/>
        </p:spPr>
        <p:txBody>
          <a:bodyPr wrap="square" rtlCol="0" anchor="ctr"/>
          <a:lstStyle/>
          <a:p>
            <a:pPr marL="0" indent="0">
              <a:buNone/>
            </a:pPr>
            <a:r>
              <a:rPr lang="en-US" sz="1600" b="1" dirty="0">
                <a:solidFill>
                  <a:srgbClr val="1A3A6B"/>
                </a:solidFill>
              </a:rPr>
              <a:t>① </a:t>
            </a:r>
            <a:r>
              <a:rPr lang="en-US" sz="1600" b="1" dirty="0" err="1">
                <a:solidFill>
                  <a:srgbClr val="1A3A6B"/>
                </a:solidFill>
              </a:rPr>
              <a:t>双曲距离（Poincaré</a:t>
            </a:r>
            <a:r>
              <a:rPr lang="en-US" sz="1600" b="1" dirty="0">
                <a:solidFill>
                  <a:srgbClr val="1A3A6B"/>
                </a:solidFill>
              </a:rPr>
              <a:t> Ball）</a:t>
            </a:r>
            <a:endParaRPr lang="en-US" sz="1600" dirty="0"/>
          </a:p>
        </p:txBody>
      </p:sp>
      <p:sp>
        <p:nvSpPr>
          <p:cNvPr id="6" name="Shape 4"/>
          <p:cNvSpPr/>
          <p:nvPr/>
        </p:nvSpPr>
        <p:spPr>
          <a:xfrm>
            <a:off x="274320" y="1417320"/>
            <a:ext cx="11612880" cy="640080"/>
          </a:xfrm>
          <a:prstGeom prst="rect">
            <a:avLst/>
          </a:prstGeom>
          <a:solidFill>
            <a:srgbClr val="E1F5FE"/>
          </a:solidFill>
          <a:ln w="19050">
            <a:solidFill>
              <a:srgbClr val="00B4CC"/>
            </a:solidFill>
            <a:prstDash val="solid"/>
          </a:ln>
        </p:spPr>
      </p:sp>
      <mc:AlternateContent xmlns:mc="http://schemas.openxmlformats.org/markup-compatibility/2006" xmlns:a14="http://schemas.microsoft.com/office/drawing/2010/main">
        <mc:Choice Requires="a14">
          <p:sp>
            <p:nvSpPr>
              <p:cNvPr id="7" name="Text 5"/>
              <p:cNvSpPr/>
              <p:nvPr/>
            </p:nvSpPr>
            <p:spPr>
              <a:xfrm>
                <a:off x="384048" y="1472184"/>
                <a:ext cx="11393424"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altLang="zh-CN" i="1" dirty="0" smtClean="0">
                              <a:solidFill>
                                <a:srgbClr val="0D1B2A"/>
                              </a:solidFill>
                              <a:latin typeface="Cambria Math" panose="02040503050406030204" pitchFamily="18" charset="0"/>
                            </a:rPr>
                          </m:ctrlPr>
                        </m:sSubPr>
                        <m:e>
                          <m:r>
                            <m:rPr>
                              <m:sty m:val="p"/>
                            </m:rPr>
                            <a:rPr lang="en-US" altLang="zh-CN" i="1" dirty="0">
                              <a:solidFill>
                                <a:srgbClr val="0D1B2A"/>
                              </a:solidFill>
                              <a:latin typeface="Cambria Math" panose="02040503050406030204" pitchFamily="18" charset="0"/>
                            </a:rPr>
                            <m:t>d</m:t>
                          </m:r>
                        </m:e>
                        <m:sub>
                          <m:r>
                            <a:rPr lang="en-US" altLang="zh-CN" i="1" dirty="0" smtClean="0">
                              <a:solidFill>
                                <a:srgbClr val="0D1B2A"/>
                              </a:solidFill>
                              <a:latin typeface="Cambria Math" panose="02040503050406030204" pitchFamily="18" charset="0"/>
                              <a:ea typeface="Cambria Math" panose="02040503050406030204" pitchFamily="18" charset="0"/>
                            </a:rPr>
                            <m:t>𝔹</m:t>
                          </m:r>
                        </m:sub>
                      </m:sSub>
                      <m:r>
                        <a:rPr lang="en-US" i="1" dirty="0" smtClean="0">
                          <a:solidFill>
                            <a:srgbClr val="0D1B2A"/>
                          </a:solidFill>
                          <a:latin typeface="Cambria Math" panose="02040503050406030204" pitchFamily="18" charset="0"/>
                        </a:rPr>
                        <m:t>(</m:t>
                      </m:r>
                      <m:r>
                        <a:rPr lang="en-US" i="1" dirty="0">
                          <a:solidFill>
                            <a:srgbClr val="0D1B2A"/>
                          </a:solidFill>
                          <a:latin typeface="Cambria Math" panose="02040503050406030204" pitchFamily="18" charset="0"/>
                        </a:rPr>
                        <m:t>𝑥</m:t>
                      </m:r>
                      <m:r>
                        <a:rPr lang="en-US" i="1" dirty="0">
                          <a:solidFill>
                            <a:srgbClr val="0D1B2A"/>
                          </a:solidFill>
                          <a:latin typeface="Cambria Math" panose="02040503050406030204" pitchFamily="18" charset="0"/>
                        </a:rPr>
                        <m:t>,</m:t>
                      </m:r>
                      <m:r>
                        <a:rPr lang="en-US" i="1" dirty="0">
                          <a:solidFill>
                            <a:srgbClr val="0D1B2A"/>
                          </a:solidFill>
                          <a:latin typeface="Cambria Math" panose="02040503050406030204" pitchFamily="18" charset="0"/>
                        </a:rPr>
                        <m:t>𝑦</m:t>
                      </m:r>
                      <m:r>
                        <a:rPr lang="en-US" i="1" dirty="0">
                          <a:solidFill>
                            <a:srgbClr val="0D1B2A"/>
                          </a:solidFill>
                          <a:latin typeface="Cambria Math" panose="02040503050406030204" pitchFamily="18" charset="0"/>
                        </a:rPr>
                        <m:t>) =  </m:t>
                      </m:r>
                      <m:f>
                        <m:fPr>
                          <m:ctrlPr>
                            <a:rPr lang="en-US" altLang="zh-CN" i="1" dirty="0" smtClean="0">
                              <a:solidFill>
                                <a:srgbClr val="0D1B2A"/>
                              </a:solidFill>
                              <a:latin typeface="Cambria Math" panose="02040503050406030204" pitchFamily="18" charset="0"/>
                            </a:rPr>
                          </m:ctrlPr>
                        </m:fPr>
                        <m:num>
                          <m:r>
                            <a:rPr lang="en-US" altLang="zh-CN" b="0" i="1" dirty="0" smtClean="0">
                              <a:solidFill>
                                <a:srgbClr val="0D1B2A"/>
                              </a:solidFill>
                              <a:latin typeface="Cambria Math" panose="02040503050406030204" pitchFamily="18" charset="0"/>
                            </a:rPr>
                            <m:t>2</m:t>
                          </m:r>
                        </m:num>
                        <m:den>
                          <m:rad>
                            <m:radPr>
                              <m:degHide m:val="on"/>
                              <m:ctrlPr>
                                <a:rPr lang="en-US" altLang="zh-CN" i="1" dirty="0" smtClean="0">
                                  <a:solidFill>
                                    <a:srgbClr val="0D1B2A"/>
                                  </a:solidFill>
                                  <a:latin typeface="Cambria Math" panose="02040503050406030204" pitchFamily="18" charset="0"/>
                                </a:rPr>
                              </m:ctrlPr>
                            </m:radPr>
                            <m:deg/>
                            <m:e>
                              <m:r>
                                <a:rPr lang="en-US" altLang="zh-CN" b="0" i="1" dirty="0" smtClean="0">
                                  <a:solidFill>
                                    <a:srgbClr val="0D1B2A"/>
                                  </a:solidFill>
                                  <a:latin typeface="Cambria Math" panose="02040503050406030204" pitchFamily="18" charset="0"/>
                                </a:rPr>
                                <m:t>𝑐</m:t>
                              </m:r>
                            </m:e>
                          </m:rad>
                        </m:den>
                      </m:f>
                      <m:r>
                        <a:rPr lang="en-US" i="1" dirty="0">
                          <a:solidFill>
                            <a:srgbClr val="0D1B2A"/>
                          </a:solidFill>
                          <a:latin typeface="Cambria Math" panose="02040503050406030204" pitchFamily="18" charset="0"/>
                        </a:rPr>
                        <m:t>· </m:t>
                      </m:r>
                      <m:r>
                        <m:rPr>
                          <m:sty m:val="p"/>
                        </m:rPr>
                        <a:rPr lang="en-US" i="1" dirty="0">
                          <a:solidFill>
                            <a:srgbClr val="0D1B2A"/>
                          </a:solidFill>
                          <a:latin typeface="Cambria Math" panose="02040503050406030204" pitchFamily="18" charset="0"/>
                        </a:rPr>
                        <m:t>arctanh</m:t>
                      </m:r>
                      <m:r>
                        <a:rPr lang="en-US" i="1" dirty="0">
                          <a:solidFill>
                            <a:srgbClr val="0D1B2A"/>
                          </a:solidFill>
                          <a:latin typeface="Cambria Math" panose="02040503050406030204" pitchFamily="18" charset="0"/>
                        </a:rPr>
                        <m:t>⁡(</m:t>
                      </m:r>
                      <m:rad>
                        <m:radPr>
                          <m:degHide m:val="on"/>
                          <m:ctrlPr>
                            <a:rPr lang="en-US" altLang="zh-CN" i="1" dirty="0" smtClean="0">
                              <a:solidFill>
                                <a:srgbClr val="0D1B2A"/>
                              </a:solidFill>
                              <a:latin typeface="Cambria Math" panose="02040503050406030204" pitchFamily="18" charset="0"/>
                            </a:rPr>
                          </m:ctrlPr>
                        </m:radPr>
                        <m:deg/>
                        <m:e>
                          <m:r>
                            <a:rPr lang="en-US" altLang="zh-CN" b="0" i="1" dirty="0" smtClean="0">
                              <a:solidFill>
                                <a:srgbClr val="0D1B2A"/>
                              </a:solidFill>
                              <a:latin typeface="Cambria Math" panose="02040503050406030204" pitchFamily="18" charset="0"/>
                            </a:rPr>
                            <m:t>𝑐</m:t>
                          </m:r>
                        </m:e>
                      </m:rad>
                      <m:r>
                        <a:rPr lang="en-US" i="1" dirty="0">
                          <a:solidFill>
                            <a:srgbClr val="0D1B2A"/>
                          </a:solidFill>
                          <a:latin typeface="Cambria Math" panose="02040503050406030204" pitchFamily="18" charset="0"/>
                        </a:rPr>
                        <m:t>·‖−</m:t>
                      </m:r>
                      <m:r>
                        <a:rPr lang="en-US" i="1" dirty="0">
                          <a:solidFill>
                            <a:srgbClr val="0D1B2A"/>
                          </a:solidFill>
                          <a:latin typeface="Cambria Math" panose="02040503050406030204" pitchFamily="18" charset="0"/>
                        </a:rPr>
                        <m:t>𝑥</m:t>
                      </m:r>
                      <m:r>
                        <a:rPr lang="en-US" i="1" dirty="0">
                          <a:solidFill>
                            <a:srgbClr val="0D1B2A"/>
                          </a:solidFill>
                          <a:latin typeface="Cambria Math" panose="02040503050406030204" pitchFamily="18" charset="0"/>
                        </a:rPr>
                        <m:t> ⊕</m:t>
                      </m:r>
                      <m:r>
                        <a:rPr lang="en-US" i="1" baseline="-40000" dirty="0">
                          <a:solidFill>
                            <a:srgbClr val="0D1B2A"/>
                          </a:solidFill>
                          <a:latin typeface="Cambria Math" panose="02040503050406030204" pitchFamily="18" charset="0"/>
                        </a:rPr>
                        <m:t>𝑐</m:t>
                      </m:r>
                      <m:r>
                        <a:rPr lang="en-US" i="1" dirty="0">
                          <a:solidFill>
                            <a:srgbClr val="0D1B2A"/>
                          </a:solidFill>
                          <a:latin typeface="Cambria Math" panose="02040503050406030204" pitchFamily="18" charset="0"/>
                        </a:rPr>
                        <m:t> </m:t>
                      </m:r>
                      <m:r>
                        <a:rPr lang="en-US" i="1" dirty="0">
                          <a:solidFill>
                            <a:srgbClr val="0D1B2A"/>
                          </a:solidFill>
                          <a:latin typeface="Cambria Math" panose="02040503050406030204" pitchFamily="18" charset="0"/>
                        </a:rPr>
                        <m:t>𝑦</m:t>
                      </m:r>
                      <m:r>
                        <a:rPr lang="en-US" i="1" dirty="0">
                          <a:solidFill>
                            <a:srgbClr val="0D1B2A"/>
                          </a:solidFill>
                          <a:latin typeface="Cambria Math" panose="02040503050406030204" pitchFamily="18" charset="0"/>
                        </a:rPr>
                        <m:t>‖)</m:t>
                      </m:r>
                    </m:oMath>
                  </m:oMathPara>
                </a14:m>
                <a:endParaRPr lang="en-US" dirty="0"/>
              </a:p>
            </p:txBody>
          </p:sp>
        </mc:Choice>
        <mc:Fallback xmlns="">
          <p:sp>
            <p:nvSpPr>
              <p:cNvPr id="7" name="Text 5"/>
              <p:cNvSpPr>
                <a:spLocks noRot="1" noChangeAspect="1" noMove="1" noResize="1" noEditPoints="1" noAdjustHandles="1" noChangeArrowheads="1" noChangeShapeType="1" noTextEdit="1"/>
              </p:cNvSpPr>
              <p:nvPr/>
            </p:nvSpPr>
            <p:spPr>
              <a:xfrm>
                <a:off x="384048" y="1472184"/>
                <a:ext cx="11393424" cy="530352"/>
              </a:xfrm>
              <a:prstGeom prst="rect">
                <a:avLst/>
              </a:prstGeom>
              <a:blipFill>
                <a:blip r:embed="rId3"/>
                <a:stretch>
                  <a:fillRect t="-9524" b="-4762"/>
                </a:stretch>
              </a:blipFill>
              <a:ln/>
            </p:spPr>
            <p:txBody>
              <a:bodyPr/>
              <a:lstStyle/>
              <a:p>
                <a:r>
                  <a:rPr lang="zh-CN" altLang="en-US">
                    <a:noFill/>
                  </a:rPr>
                  <a:t> </a:t>
                </a:r>
              </a:p>
            </p:txBody>
          </p:sp>
        </mc:Fallback>
      </mc:AlternateContent>
      <p:sp>
        <p:nvSpPr>
          <p:cNvPr id="8" name="Text 6"/>
          <p:cNvSpPr/>
          <p:nvPr/>
        </p:nvSpPr>
        <p:spPr>
          <a:xfrm>
            <a:off x="274320" y="2103120"/>
            <a:ext cx="11612880" cy="365760"/>
          </a:xfrm>
          <a:prstGeom prst="rect">
            <a:avLst/>
          </a:prstGeom>
          <a:noFill/>
          <a:ln/>
        </p:spPr>
        <p:txBody>
          <a:bodyPr wrap="square" rtlCol="0" anchor="ctr"/>
          <a:lstStyle/>
          <a:p>
            <a:pPr marL="0" indent="0">
              <a:buNone/>
            </a:pPr>
            <a:r>
              <a:rPr lang="en-US" sz="1400" i="1" dirty="0">
                <a:solidFill>
                  <a:srgbClr val="455A64"/>
                </a:solidFill>
              </a:rPr>
              <a:t>边界区域增长速率远快于欧式距离 → 叶子节点在接近球面处可被有效区分（缓解几何拥挤）</a:t>
            </a:r>
            <a:endParaRPr lang="en-US" sz="1400" dirty="0"/>
          </a:p>
        </p:txBody>
      </p:sp>
      <p:sp>
        <p:nvSpPr>
          <p:cNvPr id="9" name="Text 7"/>
          <p:cNvSpPr/>
          <p:nvPr/>
        </p:nvSpPr>
        <p:spPr>
          <a:xfrm>
            <a:off x="274320" y="2578608"/>
            <a:ext cx="11612880" cy="347472"/>
          </a:xfrm>
          <a:prstGeom prst="rect">
            <a:avLst/>
          </a:prstGeom>
          <a:noFill/>
          <a:ln/>
        </p:spPr>
        <p:txBody>
          <a:bodyPr wrap="square" rtlCol="0" anchor="ctr"/>
          <a:lstStyle/>
          <a:p>
            <a:pPr marL="0" indent="0">
              <a:buNone/>
            </a:pPr>
            <a:r>
              <a:rPr lang="en-US" sz="1600" b="1" dirty="0">
                <a:solidFill>
                  <a:srgbClr val="1A3A6B"/>
                </a:solidFill>
              </a:rPr>
              <a:t>② 关系驱动变换（语义加权 + 层级平移）</a:t>
            </a:r>
            <a:endParaRPr lang="en-US" sz="1600" dirty="0"/>
          </a:p>
        </p:txBody>
      </p:sp>
      <p:sp>
        <p:nvSpPr>
          <p:cNvPr id="10" name="Shape 8"/>
          <p:cNvSpPr/>
          <p:nvPr/>
        </p:nvSpPr>
        <p:spPr>
          <a:xfrm>
            <a:off x="274320" y="2971800"/>
            <a:ext cx="11612880" cy="621792"/>
          </a:xfrm>
          <a:prstGeom prst="rect">
            <a:avLst/>
          </a:prstGeom>
          <a:solidFill>
            <a:srgbClr val="E1F5FE"/>
          </a:solidFill>
          <a:ln w="19050">
            <a:solidFill>
              <a:srgbClr val="00B4CC"/>
            </a:solidFill>
            <a:prstDash val="solid"/>
          </a:ln>
        </p:spPr>
      </p:sp>
      <mc:AlternateContent xmlns:mc="http://schemas.openxmlformats.org/markup-compatibility/2006" xmlns:a14="http://schemas.microsoft.com/office/drawing/2010/main">
        <mc:Choice Requires="a14">
          <p:sp>
            <p:nvSpPr>
              <p:cNvPr id="11" name="Text 9"/>
              <p:cNvSpPr/>
              <p:nvPr/>
            </p:nvSpPr>
            <p:spPr>
              <a:xfrm>
                <a:off x="384048" y="3026664"/>
                <a:ext cx="11393424" cy="512064"/>
              </a:xfrm>
              <a:prstGeom prst="rect">
                <a:avLst/>
              </a:prstGeom>
              <a:noFill/>
              <a:ln/>
            </p:spPr>
            <p:txBody>
              <a:bodyPr wrap="square" rtlCol="0" anchor="ctr"/>
              <a:lstStyle/>
              <a:p>
                <a:pPr algn="ctr"/>
                <a14:m>
                  <m:oMath xmlns:m="http://schemas.openxmlformats.org/officeDocument/2006/math">
                    <m:r>
                      <a:rPr lang="en-US" i="1" dirty="0" smtClean="0">
                        <a:solidFill>
                          <a:srgbClr val="0D1B2A"/>
                        </a:solidFill>
                        <a:latin typeface="Cambria Math" panose="02040503050406030204" pitchFamily="18" charset="0"/>
                      </a:rPr>
                      <m:t>h</m:t>
                    </m:r>
                    <m:r>
                      <a:rPr lang="en-US" i="1" dirty="0" smtClean="0">
                        <a:solidFill>
                          <a:srgbClr val="0D1B2A"/>
                        </a:solidFill>
                        <a:latin typeface="Cambria Math" panose="02040503050406030204" pitchFamily="18" charset="0"/>
                      </a:rPr>
                      <m:t>′ = </m:t>
                    </m:r>
                    <m:sSub>
                      <m:sSubPr>
                        <m:ctrlPr>
                          <a:rPr lang="en-US" altLang="zh-CN" i="1" dirty="0" smtClean="0">
                            <a:solidFill>
                              <a:srgbClr val="0D1B2A"/>
                            </a:solidFill>
                            <a:latin typeface="Cambria Math" panose="02040503050406030204" pitchFamily="18" charset="0"/>
                          </a:rPr>
                        </m:ctrlPr>
                      </m:sSubPr>
                      <m:e>
                        <m:r>
                          <a:rPr lang="en-US" altLang="zh-CN" b="0" i="1" dirty="0" smtClean="0">
                            <a:solidFill>
                              <a:srgbClr val="0D1B2A"/>
                            </a:solidFill>
                            <a:latin typeface="Cambria Math" panose="02040503050406030204" pitchFamily="18" charset="0"/>
                          </a:rPr>
                          <m:t>𝑒𝑥𝑝</m:t>
                        </m:r>
                      </m:e>
                      <m:sub>
                        <m:r>
                          <a:rPr lang="en-US" altLang="zh-CN" b="0" i="1" dirty="0" smtClean="0">
                            <a:solidFill>
                              <a:srgbClr val="0D1B2A"/>
                            </a:solidFill>
                            <a:latin typeface="Cambria Math" panose="02040503050406030204" pitchFamily="18" charset="0"/>
                          </a:rPr>
                          <m:t>0</m:t>
                        </m:r>
                      </m:sub>
                    </m:sSub>
                    <m:r>
                      <a:rPr lang="en-US" i="1" dirty="0">
                        <a:solidFill>
                          <a:srgbClr val="0D1B2A"/>
                        </a:solidFill>
                        <a:latin typeface="Cambria Math" panose="02040503050406030204" pitchFamily="18" charset="0"/>
                      </a:rPr>
                      <m:t>( </m:t>
                    </m:r>
                    <m:func>
                      <m:funcPr>
                        <m:ctrlPr>
                          <a:rPr lang="en-US" i="1" dirty="0" smtClean="0">
                            <a:solidFill>
                              <a:srgbClr val="0D1B2A"/>
                            </a:solidFill>
                            <a:latin typeface="Cambria Math" panose="02040503050406030204" pitchFamily="18" charset="0"/>
                          </a:rPr>
                        </m:ctrlPr>
                      </m:funcPr>
                      <m:fName>
                        <m:sSub>
                          <m:sSubPr>
                            <m:ctrlPr>
                              <a:rPr lang="en-US" i="1" dirty="0" smtClean="0">
                                <a:solidFill>
                                  <a:srgbClr val="0D1B2A"/>
                                </a:solidFill>
                                <a:latin typeface="Cambria Math" panose="02040503050406030204" pitchFamily="18" charset="0"/>
                              </a:rPr>
                            </m:ctrlPr>
                          </m:sSubPr>
                          <m:e>
                            <m:r>
                              <m:rPr>
                                <m:sty m:val="p"/>
                              </m:rPr>
                              <a:rPr lang="en-US" i="0" dirty="0" smtClean="0">
                                <a:solidFill>
                                  <a:srgbClr val="0D1B2A"/>
                                </a:solidFill>
                                <a:latin typeface="Cambria Math" panose="02040503050406030204" pitchFamily="18" charset="0"/>
                              </a:rPr>
                              <m:t>log</m:t>
                            </m:r>
                          </m:e>
                          <m:sub>
                            <m:r>
                              <a:rPr lang="en-US" b="0" i="1" dirty="0" smtClean="0">
                                <a:solidFill>
                                  <a:srgbClr val="0D1B2A"/>
                                </a:solidFill>
                                <a:latin typeface="Cambria Math" panose="02040503050406030204" pitchFamily="18" charset="0"/>
                              </a:rPr>
                              <m:t>0</m:t>
                            </m:r>
                          </m:sub>
                        </m:sSub>
                      </m:fName>
                      <m:e>
                        <m:r>
                          <a:rPr lang="en-US" altLang="zh-CN" i="1" dirty="0">
                            <a:solidFill>
                              <a:srgbClr val="0D1B2A"/>
                            </a:solidFill>
                            <a:latin typeface="Cambria Math" panose="02040503050406030204" pitchFamily="18" charset="0"/>
                          </a:rPr>
                          <m:t>(</m:t>
                        </m:r>
                        <m:sSub>
                          <m:sSubPr>
                            <m:ctrlPr>
                              <a:rPr lang="en-US" altLang="zh-CN" i="1" dirty="0" smtClean="0">
                                <a:solidFill>
                                  <a:srgbClr val="0D1B2A"/>
                                </a:solidFill>
                                <a:latin typeface="Cambria Math" panose="02040503050406030204" pitchFamily="18" charset="0"/>
                              </a:rPr>
                            </m:ctrlPr>
                          </m:sSubPr>
                          <m:e>
                            <m:r>
                              <a:rPr lang="en-US" altLang="zh-CN" b="0" i="1" dirty="0" smtClean="0">
                                <a:solidFill>
                                  <a:srgbClr val="0D1B2A"/>
                                </a:solidFill>
                                <a:latin typeface="Cambria Math" panose="02040503050406030204" pitchFamily="18" charset="0"/>
                              </a:rPr>
                              <m:t>h</m:t>
                            </m:r>
                          </m:e>
                          <m:sub>
                            <m:r>
                              <a:rPr lang="en-US" altLang="zh-CN" b="0" i="1" dirty="0" smtClean="0">
                                <a:solidFill>
                                  <a:srgbClr val="0D1B2A"/>
                                </a:solidFill>
                                <a:latin typeface="Cambria Math" panose="02040503050406030204" pitchFamily="18" charset="0"/>
                              </a:rPr>
                              <m:t>𝐻</m:t>
                            </m:r>
                          </m:sub>
                        </m:sSub>
                        <m:r>
                          <a:rPr lang="en-US" altLang="zh-CN" i="1" dirty="0">
                            <a:solidFill>
                              <a:srgbClr val="0D1B2A"/>
                            </a:solidFill>
                            <a:latin typeface="Cambria Math" panose="02040503050406030204" pitchFamily="18" charset="0"/>
                          </a:rPr>
                          <m:t>)</m:t>
                        </m:r>
                      </m:e>
                    </m:func>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𝑅𝑟</m:t>
                    </m:r>
                    <m:r>
                      <a:rPr lang="en-US" i="1" dirty="0">
                        <a:solidFill>
                          <a:srgbClr val="0D1B2A"/>
                        </a:solidFill>
                        <a:latin typeface="Cambria Math" panose="02040503050406030204" pitchFamily="18" charset="0"/>
                      </a:rPr>
                      <m:t> )</m:t>
                    </m:r>
                  </m:oMath>
                </a14:m>
                <a:r>
                  <a:rPr lang="en-US" i="1" dirty="0">
                    <a:solidFill>
                      <a:srgbClr val="445566"/>
                    </a:solidFill>
                  </a:rPr>
                  <a:t>         </a:t>
                </a:r>
                <a:r>
                  <a:rPr lang="en-US" sz="1600" i="1" dirty="0">
                    <a:solidFill>
                      <a:srgbClr val="445566"/>
                    </a:solidFill>
                  </a:rPr>
                  <a:t>（语义维度加权，聚焦关系特异特征）</a:t>
                </a:r>
                <a:endParaRPr lang="en-US" dirty="0"/>
              </a:p>
            </p:txBody>
          </p:sp>
        </mc:Choice>
        <mc:Fallback xmlns="">
          <p:sp>
            <p:nvSpPr>
              <p:cNvPr id="11" name="Text 9"/>
              <p:cNvSpPr>
                <a:spLocks noRot="1" noChangeAspect="1" noMove="1" noResize="1" noEditPoints="1" noAdjustHandles="1" noChangeArrowheads="1" noChangeShapeType="1" noTextEdit="1"/>
              </p:cNvSpPr>
              <p:nvPr/>
            </p:nvSpPr>
            <p:spPr>
              <a:xfrm>
                <a:off x="384048" y="3026664"/>
                <a:ext cx="11393424" cy="512064"/>
              </a:xfrm>
              <a:prstGeom prst="rect">
                <a:avLst/>
              </a:prstGeom>
              <a:blipFill>
                <a:blip r:embed="rId4"/>
                <a:stretch>
                  <a:fillRect/>
                </a:stretch>
              </a:blipFill>
              <a:ln/>
            </p:spPr>
            <p:txBody>
              <a:bodyPr/>
              <a:lstStyle/>
              <a:p>
                <a:r>
                  <a:rPr lang="zh-CN" altLang="en-US">
                    <a:noFill/>
                  </a:rPr>
                  <a:t> </a:t>
                </a:r>
              </a:p>
            </p:txBody>
          </p:sp>
        </mc:Fallback>
      </mc:AlternateContent>
      <p:sp>
        <p:nvSpPr>
          <p:cNvPr id="12" name="Shape 10"/>
          <p:cNvSpPr/>
          <p:nvPr/>
        </p:nvSpPr>
        <p:spPr>
          <a:xfrm>
            <a:off x="274320" y="3657600"/>
            <a:ext cx="11612880" cy="594360"/>
          </a:xfrm>
          <a:prstGeom prst="rect">
            <a:avLst/>
          </a:prstGeom>
          <a:solidFill>
            <a:srgbClr val="E1F5FE"/>
          </a:solidFill>
          <a:ln w="19050">
            <a:solidFill>
              <a:srgbClr val="00B4CC"/>
            </a:solidFill>
            <a:prstDash val="solid"/>
          </a:ln>
        </p:spPr>
      </p:sp>
      <mc:AlternateContent xmlns:mc="http://schemas.openxmlformats.org/markup-compatibility/2006" xmlns:a14="http://schemas.microsoft.com/office/drawing/2010/main">
        <mc:Choice Requires="a14">
          <p:sp>
            <p:nvSpPr>
              <p:cNvPr id="13" name="Text 11"/>
              <p:cNvSpPr/>
              <p:nvPr/>
            </p:nvSpPr>
            <p:spPr>
              <a:xfrm>
                <a:off x="384048" y="3712464"/>
                <a:ext cx="11393424" cy="484632"/>
              </a:xfrm>
              <a:prstGeom prst="rect">
                <a:avLst/>
              </a:prstGeom>
              <a:noFill/>
              <a:ln/>
            </p:spPr>
            <p:txBody>
              <a:bodyPr wrap="square" rtlCol="0" anchor="ctr"/>
              <a:lstStyle/>
              <a:p>
                <a:pPr algn="ctr"/>
                <a14:m>
                  <m:oMath xmlns:m="http://schemas.openxmlformats.org/officeDocument/2006/math">
                    <m:r>
                      <a:rPr lang="en-US" i="1" dirty="0" smtClean="0">
                        <a:solidFill>
                          <a:srgbClr val="0D1B2A"/>
                        </a:solidFill>
                        <a:latin typeface="Cambria Math" panose="02040503050406030204" pitchFamily="18" charset="0"/>
                      </a:rPr>
                      <m:t>𝑡</m:t>
                    </m:r>
                    <m:r>
                      <a:rPr lang="en-US" i="1" dirty="0" smtClean="0">
                        <a:solidFill>
                          <a:srgbClr val="0D1B2A"/>
                        </a:solidFill>
                        <a:latin typeface="Cambria Math" panose="02040503050406030204" pitchFamily="18" charset="0"/>
                      </a:rPr>
                      <m:t>′ = </m:t>
                    </m:r>
                    <m:sSub>
                      <m:sSubPr>
                        <m:ctrlPr>
                          <a:rPr lang="en-US" altLang="zh-CN" i="1" dirty="0" smtClean="0">
                            <a:solidFill>
                              <a:srgbClr val="0D1B2A"/>
                            </a:solidFill>
                            <a:latin typeface="Cambria Math" panose="02040503050406030204" pitchFamily="18" charset="0"/>
                          </a:rPr>
                        </m:ctrlPr>
                      </m:sSubPr>
                      <m:e>
                        <m:r>
                          <a:rPr lang="en-US" altLang="zh-CN" b="0" i="1" dirty="0" smtClean="0">
                            <a:solidFill>
                              <a:srgbClr val="0D1B2A"/>
                            </a:solidFill>
                            <a:latin typeface="Cambria Math" panose="02040503050406030204" pitchFamily="18" charset="0"/>
                          </a:rPr>
                          <m:t>𝑡</m:t>
                        </m:r>
                      </m:e>
                      <m:sub>
                        <m:r>
                          <m:rPr>
                            <m:sty m:val="p"/>
                          </m:rPr>
                          <a:rPr lang="en-US" altLang="zh-CN" i="1" dirty="0">
                            <a:solidFill>
                              <a:srgbClr val="0D1B2A"/>
                            </a:solidFill>
                            <a:latin typeface="Cambria Math" panose="02040503050406030204" pitchFamily="18" charset="0"/>
                          </a:rPr>
                          <m:t>H</m:t>
                        </m:r>
                      </m:sub>
                    </m:sSub>
                    <m:r>
                      <a:rPr lang="en-US" i="1" dirty="0">
                        <a:solidFill>
                          <a:srgbClr val="0D1B2A"/>
                        </a:solidFill>
                        <a:latin typeface="Cambria Math" panose="02040503050406030204" pitchFamily="18" charset="0"/>
                      </a:rPr>
                      <m:t> </m:t>
                    </m:r>
                    <m:sSub>
                      <m:sSubPr>
                        <m:ctrlPr>
                          <a:rPr lang="en-US" altLang="zh-CN" i="1" dirty="0" smtClean="0">
                            <a:solidFill>
                              <a:srgbClr val="0D1B2A"/>
                            </a:solidFill>
                            <a:latin typeface="Cambria Math" panose="02040503050406030204" pitchFamily="18" charset="0"/>
                          </a:rPr>
                        </m:ctrlPr>
                      </m:sSubPr>
                      <m:e>
                        <m:r>
                          <a:rPr lang="en-US" altLang="zh-CN" i="1" dirty="0">
                            <a:solidFill>
                              <a:srgbClr val="0D1B2A"/>
                            </a:solidFill>
                            <a:latin typeface="Cambria Math" panose="02040503050406030204" pitchFamily="18" charset="0"/>
                          </a:rPr>
                          <m:t>⊕</m:t>
                        </m:r>
                      </m:e>
                      <m:sub>
                        <m:r>
                          <a:rPr lang="en-US" altLang="zh-CN" i="1" dirty="0" smtClean="0">
                            <a:solidFill>
                              <a:srgbClr val="0D1B2A"/>
                            </a:solidFill>
                            <a:latin typeface="Cambria Math" panose="02040503050406030204" pitchFamily="18" charset="0"/>
                            <a:ea typeface="Cambria Math" panose="02040503050406030204" pitchFamily="18" charset="0"/>
                          </a:rPr>
                          <m:t>ℳ</m:t>
                        </m:r>
                      </m:sub>
                    </m:sSub>
                    <m:r>
                      <a:rPr lang="en-US" i="1" dirty="0">
                        <a:solidFill>
                          <a:srgbClr val="0D1B2A"/>
                        </a:solidFill>
                        <a:latin typeface="Cambria Math" panose="02040503050406030204" pitchFamily="18" charset="0"/>
                      </a:rPr>
                      <m:t> </m:t>
                    </m:r>
                    <m:sSub>
                      <m:sSubPr>
                        <m:ctrlPr>
                          <a:rPr lang="en-US" altLang="zh-CN" i="1" dirty="0" smtClean="0">
                            <a:solidFill>
                              <a:srgbClr val="0D1B2A"/>
                            </a:solidFill>
                            <a:latin typeface="Cambria Math" panose="02040503050406030204" pitchFamily="18" charset="0"/>
                          </a:rPr>
                        </m:ctrlPr>
                      </m:sSubPr>
                      <m:e>
                        <m:r>
                          <a:rPr lang="en-US" altLang="zh-CN" b="0" i="1" dirty="0" smtClean="0">
                            <a:solidFill>
                              <a:srgbClr val="0D1B2A"/>
                            </a:solidFill>
                            <a:latin typeface="Cambria Math" panose="02040503050406030204" pitchFamily="18" charset="0"/>
                          </a:rPr>
                          <m:t>𝑟</m:t>
                        </m:r>
                      </m:e>
                      <m:sub>
                        <m:r>
                          <a:rPr lang="en-US" altLang="zh-CN" b="0" i="1" dirty="0" smtClean="0">
                            <a:solidFill>
                              <a:srgbClr val="0D1B2A"/>
                            </a:solidFill>
                            <a:latin typeface="Cambria Math" panose="02040503050406030204" pitchFamily="18" charset="0"/>
                          </a:rPr>
                          <m:t>𝑟</m:t>
                        </m:r>
                      </m:sub>
                    </m:sSub>
                  </m:oMath>
                </a14:m>
                <a:r>
                  <a:rPr lang="en-US" sz="1600" i="1" dirty="0">
                    <a:solidFill>
                      <a:srgbClr val="445566"/>
                    </a:solidFill>
                  </a:rPr>
                  <a:t>（莫比乌斯加法，刻画层级平移跃迁）</a:t>
                </a:r>
                <a:endParaRPr lang="en-US" dirty="0"/>
              </a:p>
            </p:txBody>
          </p:sp>
        </mc:Choice>
        <mc:Fallback xmlns="">
          <p:sp>
            <p:nvSpPr>
              <p:cNvPr id="13" name="Text 11"/>
              <p:cNvSpPr>
                <a:spLocks noRot="1" noChangeAspect="1" noMove="1" noResize="1" noEditPoints="1" noAdjustHandles="1" noChangeArrowheads="1" noChangeShapeType="1" noTextEdit="1"/>
              </p:cNvSpPr>
              <p:nvPr/>
            </p:nvSpPr>
            <p:spPr>
              <a:xfrm>
                <a:off x="384048" y="3712464"/>
                <a:ext cx="11393424" cy="484632"/>
              </a:xfrm>
              <a:prstGeom prst="rect">
                <a:avLst/>
              </a:prstGeom>
              <a:blipFill>
                <a:blip r:embed="rId5"/>
                <a:stretch>
                  <a:fillRect b="-2564"/>
                </a:stretch>
              </a:blipFill>
              <a:ln/>
            </p:spPr>
            <p:txBody>
              <a:bodyPr/>
              <a:lstStyle/>
              <a:p>
                <a:r>
                  <a:rPr lang="zh-CN" altLang="en-US">
                    <a:noFill/>
                  </a:rPr>
                  <a:t> </a:t>
                </a:r>
              </a:p>
            </p:txBody>
          </p:sp>
        </mc:Fallback>
      </mc:AlternateContent>
      <p:sp>
        <p:nvSpPr>
          <p:cNvPr id="14" name="Text 12"/>
          <p:cNvSpPr/>
          <p:nvPr/>
        </p:nvSpPr>
        <p:spPr>
          <a:xfrm>
            <a:off x="274320" y="4370832"/>
            <a:ext cx="11612880" cy="347472"/>
          </a:xfrm>
          <a:prstGeom prst="rect">
            <a:avLst/>
          </a:prstGeom>
          <a:noFill/>
          <a:ln/>
        </p:spPr>
        <p:txBody>
          <a:bodyPr wrap="square" rtlCol="0" anchor="ctr"/>
          <a:lstStyle/>
          <a:p>
            <a:pPr marL="0" indent="0">
              <a:buNone/>
            </a:pPr>
            <a:r>
              <a:rPr lang="en-US" sz="1600" b="1" dirty="0">
                <a:solidFill>
                  <a:srgbClr val="1A3A6B"/>
                </a:solidFill>
              </a:rPr>
              <a:t>③ 最终评分函数</a:t>
            </a:r>
            <a:endParaRPr lang="en-US" sz="1600" dirty="0"/>
          </a:p>
        </p:txBody>
      </p:sp>
      <p:sp>
        <p:nvSpPr>
          <p:cNvPr id="15" name="Shape 13"/>
          <p:cNvSpPr/>
          <p:nvPr/>
        </p:nvSpPr>
        <p:spPr>
          <a:xfrm>
            <a:off x="274320" y="4754880"/>
            <a:ext cx="11612880" cy="658368"/>
          </a:xfrm>
          <a:prstGeom prst="rect">
            <a:avLst/>
          </a:prstGeom>
          <a:solidFill>
            <a:srgbClr val="E1F5FE"/>
          </a:solidFill>
          <a:ln w="19050">
            <a:solidFill>
              <a:srgbClr val="00B4CC"/>
            </a:solidFill>
            <a:prstDash val="solid"/>
          </a:ln>
        </p:spPr>
      </p:sp>
      <mc:AlternateContent xmlns:mc="http://schemas.openxmlformats.org/markup-compatibility/2006">
        <mc:Choice xmlns:a14="http://schemas.microsoft.com/office/drawing/2010/main" Requires="a14">
          <p:sp>
            <p:nvSpPr>
              <p:cNvPr id="16" name="Text 14"/>
              <p:cNvSpPr/>
              <p:nvPr/>
            </p:nvSpPr>
            <p:spPr>
              <a:xfrm>
                <a:off x="384048" y="4809744"/>
                <a:ext cx="11393424"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n-US" i="1" dirty="0" smtClean="0">
                          <a:solidFill>
                            <a:srgbClr val="0D1B2A"/>
                          </a:solidFill>
                          <a:latin typeface="Cambria Math" panose="02040503050406030204" pitchFamily="18" charset="0"/>
                        </a:rPr>
                        <m:t>𝑓</m:t>
                      </m:r>
                      <m:r>
                        <a:rPr lang="en-US" i="1" baseline="-40000" dirty="0">
                          <a:solidFill>
                            <a:srgbClr val="0D1B2A"/>
                          </a:solidFill>
                          <a:latin typeface="Cambria Math" panose="02040503050406030204" pitchFamily="18" charset="0"/>
                        </a:rPr>
                        <m:t>𝑠𝑐𝑜𝑟𝑒</m:t>
                      </m:r>
                      <m:r>
                        <a:rPr lang="en-US" i="1" dirty="0">
                          <a:solidFill>
                            <a:srgbClr val="0D1B2A"/>
                          </a:solidFill>
                          <a:latin typeface="Cambria Math" panose="02040503050406030204" pitchFamily="18" charset="0"/>
                        </a:rPr>
                        <m:t>(</m:t>
                      </m:r>
                      <m:r>
                        <a:rPr lang="en-US" i="1" dirty="0">
                          <a:solidFill>
                            <a:srgbClr val="0D1B2A"/>
                          </a:solidFill>
                          <a:latin typeface="Cambria Math" panose="02040503050406030204" pitchFamily="18" charset="0"/>
                        </a:rPr>
                        <m:t>h</m:t>
                      </m:r>
                      <m:r>
                        <a:rPr lang="en-US" i="1" dirty="0">
                          <a:solidFill>
                            <a:srgbClr val="0D1B2A"/>
                          </a:solidFill>
                          <a:latin typeface="Cambria Math" panose="02040503050406030204" pitchFamily="18" charset="0"/>
                        </a:rPr>
                        <m:t>,</m:t>
                      </m:r>
                      <m:r>
                        <a:rPr lang="en-US" i="1" dirty="0">
                          <a:solidFill>
                            <a:srgbClr val="0D1B2A"/>
                          </a:solidFill>
                          <a:latin typeface="Cambria Math" panose="02040503050406030204" pitchFamily="18" charset="0"/>
                        </a:rPr>
                        <m:t>𝑟</m:t>
                      </m:r>
                      <m:r>
                        <a:rPr lang="en-US" i="1" dirty="0">
                          <a:solidFill>
                            <a:srgbClr val="0D1B2A"/>
                          </a:solidFill>
                          <a:latin typeface="Cambria Math" panose="02040503050406030204" pitchFamily="18" charset="0"/>
                        </a:rPr>
                        <m:t>,</m:t>
                      </m:r>
                      <m:r>
                        <a:rPr lang="en-US" i="1" dirty="0">
                          <a:solidFill>
                            <a:srgbClr val="0D1B2A"/>
                          </a:solidFill>
                          <a:latin typeface="Cambria Math" panose="02040503050406030204" pitchFamily="18" charset="0"/>
                        </a:rPr>
                        <m:t>𝑡</m:t>
                      </m:r>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𝑑</m:t>
                      </m:r>
                      <m:r>
                        <a:rPr lang="en-US" i="1" baseline="-40000" dirty="0">
                          <a:solidFill>
                            <a:srgbClr val="0D1B2A"/>
                          </a:solidFill>
                          <a:latin typeface="Cambria Math" panose="02040503050406030204" pitchFamily="18" charset="0"/>
                        </a:rPr>
                        <m:t>𝔹</m:t>
                      </m:r>
                      <m:r>
                        <a:rPr lang="en-US" i="1" dirty="0">
                          <a:solidFill>
                            <a:srgbClr val="0D1B2A"/>
                          </a:solidFill>
                          <a:latin typeface="Cambria Math" panose="02040503050406030204" pitchFamily="18" charset="0"/>
                        </a:rPr>
                        <m:t>( </m:t>
                      </m:r>
                      <m:r>
                        <a:rPr lang="en-US" i="1" dirty="0">
                          <a:solidFill>
                            <a:srgbClr val="0D1B2A"/>
                          </a:solidFill>
                          <a:latin typeface="Cambria Math" panose="02040503050406030204" pitchFamily="18" charset="0"/>
                        </a:rPr>
                        <m:t>h</m:t>
                      </m:r>
                      <m:r>
                        <a:rPr lang="en-US" i="1" dirty="0">
                          <a:solidFill>
                            <a:srgbClr val="0D1B2A"/>
                          </a:solidFill>
                          <a:latin typeface="Cambria Math" panose="02040503050406030204" pitchFamily="18" charset="0"/>
                        </a:rPr>
                        <m:t>′</m:t>
                      </m:r>
                      <m:r>
                        <a:rPr lang="en-US" i="1" baseline="-40000" dirty="0">
                          <a:solidFill>
                            <a:srgbClr val="0D1B2A"/>
                          </a:solidFill>
                          <a:latin typeface="Cambria Math" panose="02040503050406030204" pitchFamily="18" charset="0"/>
                        </a:rPr>
                        <m:t>𝑟</m:t>
                      </m:r>
                      <m:r>
                        <a:rPr lang="en-US" i="1" dirty="0">
                          <a:solidFill>
                            <a:srgbClr val="0D1B2A"/>
                          </a:solidFill>
                          <a:latin typeface="Cambria Math" panose="02040503050406030204" pitchFamily="18" charset="0"/>
                        </a:rPr>
                        <m:t>, </m:t>
                      </m:r>
                      <m:r>
                        <a:rPr lang="en-US" i="1" dirty="0">
                          <a:solidFill>
                            <a:srgbClr val="0D1B2A"/>
                          </a:solidFill>
                          <a:latin typeface="Cambria Math" panose="02040503050406030204" pitchFamily="18" charset="0"/>
                        </a:rPr>
                        <m:t>𝑡</m:t>
                      </m:r>
                      <m:r>
                        <a:rPr lang="en-US" i="1" dirty="0">
                          <a:solidFill>
                            <a:srgbClr val="0D1B2A"/>
                          </a:solidFill>
                          <a:latin typeface="Cambria Math" panose="02040503050406030204" pitchFamily="18" charset="0"/>
                        </a:rPr>
                        <m:t>′</m:t>
                      </m:r>
                      <m:r>
                        <a:rPr lang="en-US" i="1" baseline="-40000" dirty="0">
                          <a:solidFill>
                            <a:srgbClr val="0D1B2A"/>
                          </a:solidFill>
                          <a:latin typeface="Cambria Math" panose="02040503050406030204" pitchFamily="18" charset="0"/>
                        </a:rPr>
                        <m:t>𝑟</m:t>
                      </m:r>
                      <m:r>
                        <a:rPr lang="en-US" i="1" dirty="0">
                          <a:solidFill>
                            <a:srgbClr val="0D1B2A"/>
                          </a:solidFill>
                          <a:latin typeface="Cambria Math" panose="02040503050406030204" pitchFamily="18" charset="0"/>
                        </a:rPr>
                        <m:t> ) + </m:t>
                      </m:r>
                      <m:r>
                        <a:rPr lang="en-US" i="1" dirty="0">
                          <a:solidFill>
                            <a:srgbClr val="0D1B2A"/>
                          </a:solidFill>
                          <a:latin typeface="Cambria Math" panose="02040503050406030204" pitchFamily="18" charset="0"/>
                        </a:rPr>
                        <m:t>𝑏h</m:t>
                      </m:r>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𝑏𝑡</m:t>
                      </m:r>
                      <m:r>
                        <a:rPr lang="en-US" i="1" dirty="0">
                          <a:solidFill>
                            <a:srgbClr val="0D1B2A"/>
                          </a:solidFill>
                          <a:latin typeface="Cambria Math" panose="02040503050406030204" pitchFamily="18" charset="0"/>
                        </a:rPr>
                        <m:t>     →     </m:t>
                      </m:r>
                      <m:sSup>
                        <m:sSupPr>
                          <m:ctrlPr>
                            <a:rPr lang="en-US" altLang="zh-CN" i="1" dirty="0" smtClean="0">
                              <a:solidFill>
                                <a:srgbClr val="0D1B2A"/>
                              </a:solidFill>
                              <a:latin typeface="Cambria Math" panose="02040503050406030204" pitchFamily="18" charset="0"/>
                            </a:rPr>
                          </m:ctrlPr>
                        </m:sSupPr>
                        <m:e>
                          <m:r>
                            <a:rPr lang="en-US" altLang="zh-CN" b="0" i="1" dirty="0" smtClean="0">
                              <a:solidFill>
                                <a:srgbClr val="0D1B2A"/>
                              </a:solidFill>
                              <a:latin typeface="Cambria Math" panose="02040503050406030204" pitchFamily="18" charset="0"/>
                            </a:rPr>
                            <m:t>𝑡</m:t>
                          </m:r>
                        </m:e>
                        <m:sup>
                          <m:r>
                            <a:rPr lang="en-US" altLang="zh-CN" b="0" i="1" dirty="0" smtClean="0">
                              <a:solidFill>
                                <a:srgbClr val="0D1B2A"/>
                              </a:solidFill>
                              <a:latin typeface="Cambria Math" panose="02040503050406030204" pitchFamily="18" charset="0"/>
                            </a:rPr>
                            <m:t>∗</m:t>
                          </m:r>
                        </m:sup>
                      </m:sSup>
                      <m:r>
                        <a:rPr lang="en-US" i="1" dirty="0">
                          <a:solidFill>
                            <a:srgbClr val="0D1B2A"/>
                          </a:solidFill>
                          <a:latin typeface="Cambria Math" panose="02040503050406030204" pitchFamily="18" charset="0"/>
                        </a:rPr>
                        <m:t> = </m:t>
                      </m:r>
                      <m:r>
                        <m:rPr>
                          <m:sty m:val="p"/>
                        </m:rPr>
                        <a:rPr lang="en-US" i="1" dirty="0">
                          <a:solidFill>
                            <a:srgbClr val="0D1B2A"/>
                          </a:solidFill>
                          <a:latin typeface="Cambria Math" panose="02040503050406030204" pitchFamily="18" charset="0"/>
                        </a:rPr>
                        <m:t>arg</m:t>
                      </m:r>
                      <m:r>
                        <a:rPr lang="en-US" i="1" dirty="0">
                          <a:solidFill>
                            <a:srgbClr val="0D1B2A"/>
                          </a:solidFill>
                          <a:latin typeface="Cambria Math" panose="02040503050406030204" pitchFamily="18" charset="0"/>
                        </a:rPr>
                        <m:t>⁡</m:t>
                      </m:r>
                      <m:func>
                        <m:funcPr>
                          <m:ctrlPr>
                            <a:rPr lang="en-US" i="1" dirty="0" smtClean="0">
                              <a:solidFill>
                                <a:srgbClr val="0D1B2A"/>
                              </a:solidFill>
                              <a:latin typeface="Cambria Math" panose="02040503050406030204" pitchFamily="18" charset="0"/>
                            </a:rPr>
                          </m:ctrlPr>
                        </m:funcPr>
                        <m:fName>
                          <m:limLow>
                            <m:limLowPr>
                              <m:ctrlPr>
                                <a:rPr lang="en-US" i="1" dirty="0" smtClean="0">
                                  <a:solidFill>
                                    <a:srgbClr val="0D1B2A"/>
                                  </a:solidFill>
                                  <a:latin typeface="Cambria Math" panose="02040503050406030204" pitchFamily="18" charset="0"/>
                                </a:rPr>
                              </m:ctrlPr>
                            </m:limLowPr>
                            <m:e>
                              <m:r>
                                <m:rPr>
                                  <m:sty m:val="p"/>
                                </m:rPr>
                                <a:rPr lang="en-US" i="0" dirty="0" smtClean="0">
                                  <a:solidFill>
                                    <a:srgbClr val="0D1B2A"/>
                                  </a:solidFill>
                                  <a:latin typeface="Cambria Math" panose="02040503050406030204" pitchFamily="18" charset="0"/>
                                </a:rPr>
                                <m:t>max</m:t>
                              </m:r>
                            </m:e>
                            <m:lim>
                              <m:r>
                                <a:rPr lang="en-US" b="0" i="1" dirty="0" smtClean="0">
                                  <a:solidFill>
                                    <a:srgbClr val="0D1B2A"/>
                                  </a:solidFill>
                                  <a:latin typeface="Cambria Math" panose="02040503050406030204" pitchFamily="18" charset="0"/>
                                </a:rPr>
                                <m:t>𝑡</m:t>
                              </m:r>
                            </m:lim>
                          </m:limLow>
                        </m:fName>
                        <m:e>
                          <m:r>
                            <a:rPr lang="en-US" altLang="zh-CN" i="1" dirty="0">
                              <a:solidFill>
                                <a:srgbClr val="0D1B2A"/>
                              </a:solidFill>
                              <a:latin typeface="Cambria Math" panose="02040503050406030204" pitchFamily="18" charset="0"/>
                            </a:rPr>
                            <m:t>𝑓</m:t>
                          </m:r>
                          <m:r>
                            <a:rPr lang="en-US" altLang="zh-CN" i="1" baseline="-40000" dirty="0">
                              <a:solidFill>
                                <a:srgbClr val="0D1B2A"/>
                              </a:solidFill>
                              <a:latin typeface="Cambria Math" panose="02040503050406030204" pitchFamily="18" charset="0"/>
                            </a:rPr>
                            <m:t>𝑠𝑐𝑜𝑟𝑒</m:t>
                          </m:r>
                          <m:r>
                            <a:rPr lang="en-US" altLang="zh-CN" i="1" dirty="0">
                              <a:solidFill>
                                <a:srgbClr val="0D1B2A"/>
                              </a:solidFill>
                              <a:latin typeface="Cambria Math" panose="02040503050406030204" pitchFamily="18" charset="0"/>
                            </a:rPr>
                            <m:t>(</m:t>
                          </m:r>
                          <m:r>
                            <a:rPr lang="en-US" altLang="zh-CN" i="1" dirty="0">
                              <a:solidFill>
                                <a:srgbClr val="0D1B2A"/>
                              </a:solidFill>
                              <a:latin typeface="Cambria Math" panose="02040503050406030204" pitchFamily="18" charset="0"/>
                            </a:rPr>
                            <m:t>h</m:t>
                          </m:r>
                          <m:r>
                            <a:rPr lang="en-US" altLang="zh-CN" i="1" dirty="0">
                              <a:solidFill>
                                <a:srgbClr val="0D1B2A"/>
                              </a:solidFill>
                              <a:latin typeface="Cambria Math" panose="02040503050406030204" pitchFamily="18" charset="0"/>
                            </a:rPr>
                            <m:t>,</m:t>
                          </m:r>
                          <m:r>
                            <a:rPr lang="en-US" altLang="zh-CN" i="1" dirty="0">
                              <a:solidFill>
                                <a:srgbClr val="0D1B2A"/>
                              </a:solidFill>
                              <a:latin typeface="Cambria Math" panose="02040503050406030204" pitchFamily="18" charset="0"/>
                            </a:rPr>
                            <m:t>𝑟</m:t>
                          </m:r>
                          <m:r>
                            <a:rPr lang="en-US" altLang="zh-CN" i="1" dirty="0">
                              <a:solidFill>
                                <a:srgbClr val="0D1B2A"/>
                              </a:solidFill>
                              <a:latin typeface="Cambria Math" panose="02040503050406030204" pitchFamily="18" charset="0"/>
                            </a:rPr>
                            <m:t>,</m:t>
                          </m:r>
                          <m:r>
                            <a:rPr lang="en-US" altLang="zh-CN" i="1" dirty="0">
                              <a:solidFill>
                                <a:srgbClr val="0D1B2A"/>
                              </a:solidFill>
                              <a:latin typeface="Cambria Math" panose="02040503050406030204" pitchFamily="18" charset="0"/>
                            </a:rPr>
                            <m:t>𝑡</m:t>
                          </m:r>
                          <m:r>
                            <a:rPr lang="en-US" altLang="zh-CN" i="1" dirty="0">
                              <a:solidFill>
                                <a:srgbClr val="0D1B2A"/>
                              </a:solidFill>
                              <a:latin typeface="Cambria Math" panose="02040503050406030204" pitchFamily="18" charset="0"/>
                            </a:rPr>
                            <m:t>)</m:t>
                          </m:r>
                        </m:e>
                      </m:func>
                    </m:oMath>
                  </m:oMathPara>
                </a14:m>
                <a:endParaRPr lang="en-US" dirty="0"/>
              </a:p>
            </p:txBody>
          </p:sp>
        </mc:Choice>
        <mc:Fallback>
          <p:sp>
            <p:nvSpPr>
              <p:cNvPr id="16" name="Text 14"/>
              <p:cNvSpPr>
                <a:spLocks noRot="1" noChangeAspect="1" noMove="1" noResize="1" noEditPoints="1" noAdjustHandles="1" noChangeArrowheads="1" noChangeShapeType="1" noTextEdit="1"/>
              </p:cNvSpPr>
              <p:nvPr/>
            </p:nvSpPr>
            <p:spPr>
              <a:xfrm>
                <a:off x="384048" y="4809744"/>
                <a:ext cx="11393424" cy="548640"/>
              </a:xfrm>
              <a:prstGeom prst="rect">
                <a:avLst/>
              </a:prstGeom>
              <a:blipFill>
                <a:blip r:embed="rId6"/>
                <a:stretch>
                  <a:fillRect/>
                </a:stretch>
              </a:blipFill>
              <a:ln/>
            </p:spPr>
            <p:txBody>
              <a:bodyPr/>
              <a:lstStyle/>
              <a:p>
                <a:r>
                  <a:rPr lang="zh-CN" altLang="en-US">
                    <a:noFill/>
                  </a:rPr>
                  <a:t> </a:t>
                </a:r>
              </a:p>
            </p:txBody>
          </p:sp>
        </mc:Fallback>
      </mc:AlternateContent>
      <p:sp>
        <p:nvSpPr>
          <p:cNvPr id="17" name="Text 15"/>
          <p:cNvSpPr/>
          <p:nvPr/>
        </p:nvSpPr>
        <p:spPr>
          <a:xfrm>
            <a:off x="274320" y="5504688"/>
            <a:ext cx="6400800" cy="347472"/>
          </a:xfrm>
          <a:prstGeom prst="rect">
            <a:avLst/>
          </a:prstGeom>
          <a:noFill/>
          <a:ln/>
        </p:spPr>
        <p:txBody>
          <a:bodyPr wrap="square" rtlCol="0" anchor="ctr"/>
          <a:lstStyle/>
          <a:p>
            <a:pPr marL="0" indent="0">
              <a:buNone/>
            </a:pPr>
            <a:r>
              <a:rPr lang="en-US" sz="1600" b="1" dirty="0">
                <a:solidFill>
                  <a:srgbClr val="1A3A6B"/>
                </a:solidFill>
              </a:rPr>
              <a:t>④ 联合损失函数</a:t>
            </a:r>
            <a:endParaRPr lang="en-US" sz="1600" dirty="0"/>
          </a:p>
        </p:txBody>
      </p:sp>
      <p:sp>
        <p:nvSpPr>
          <p:cNvPr id="18" name="Shape 16"/>
          <p:cNvSpPr/>
          <p:nvPr/>
        </p:nvSpPr>
        <p:spPr>
          <a:xfrm>
            <a:off x="274320" y="5897880"/>
            <a:ext cx="11612880" cy="621792"/>
          </a:xfrm>
          <a:prstGeom prst="rect">
            <a:avLst/>
          </a:prstGeom>
          <a:solidFill>
            <a:srgbClr val="E1F5FE"/>
          </a:solidFill>
          <a:ln w="19050">
            <a:solidFill>
              <a:srgbClr val="00B4CC"/>
            </a:solidFill>
            <a:prstDash val="solid"/>
          </a:ln>
        </p:spPr>
      </p:sp>
      <mc:AlternateContent xmlns:mc="http://schemas.openxmlformats.org/markup-compatibility/2006" xmlns:a14="http://schemas.microsoft.com/office/drawing/2010/main">
        <mc:Choice Requires="a14">
          <p:sp>
            <p:nvSpPr>
              <p:cNvPr id="19" name="Text 17"/>
              <p:cNvSpPr/>
              <p:nvPr/>
            </p:nvSpPr>
            <p:spPr>
              <a:xfrm>
                <a:off x="384048" y="5952744"/>
                <a:ext cx="11393424" cy="512064"/>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n-US" i="1" dirty="0" smtClean="0">
                          <a:solidFill>
                            <a:srgbClr val="0D1B2A"/>
                          </a:solidFill>
                          <a:latin typeface="Cambria Math" panose="02040503050406030204" pitchFamily="18" charset="0"/>
                        </a:rPr>
                        <m:t>ℒ</m:t>
                      </m:r>
                      <m:r>
                        <a:rPr lang="en-US" i="1" baseline="-40000" dirty="0">
                          <a:solidFill>
                            <a:srgbClr val="0D1B2A"/>
                          </a:solidFill>
                          <a:latin typeface="Cambria Math" panose="02040503050406030204" pitchFamily="18" charset="0"/>
                        </a:rPr>
                        <m:t>𝑡𝑜𝑡𝑎𝑙</m:t>
                      </m:r>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ℒ</m:t>
                      </m:r>
                      <m:r>
                        <a:rPr lang="en-US" i="1" baseline="-40000" dirty="0">
                          <a:solidFill>
                            <a:srgbClr val="0D1B2A"/>
                          </a:solidFill>
                          <a:latin typeface="Cambria Math" panose="02040503050406030204" pitchFamily="18" charset="0"/>
                        </a:rPr>
                        <m:t>𝐵𝐶𝐸</m:t>
                      </m:r>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𝜆</m:t>
                      </m:r>
                      <m:r>
                        <a:rPr lang="en-US" i="1" dirty="0">
                          <a:solidFill>
                            <a:srgbClr val="0D1B2A"/>
                          </a:solidFill>
                          <a:latin typeface="Cambria Math" panose="02040503050406030204" pitchFamily="18" charset="0"/>
                        </a:rPr>
                        <m:t> · </m:t>
                      </m:r>
                      <m:r>
                        <a:rPr lang="en-US" i="1" dirty="0">
                          <a:solidFill>
                            <a:srgbClr val="0D1B2A"/>
                          </a:solidFill>
                          <a:latin typeface="Cambria Math" panose="02040503050406030204" pitchFamily="18" charset="0"/>
                        </a:rPr>
                        <m:t>ℒ</m:t>
                      </m:r>
                      <m:r>
                        <a:rPr lang="en-US" i="1" baseline="-40000" dirty="0">
                          <a:solidFill>
                            <a:srgbClr val="0D1B2A"/>
                          </a:solidFill>
                          <a:latin typeface="Cambria Math" panose="02040503050406030204" pitchFamily="18" charset="0"/>
                        </a:rPr>
                        <m:t>𝑎𝑢𝑥</m:t>
                      </m:r>
                      <m:r>
                        <a:rPr lang="en-US" i="1" dirty="0">
                          <a:solidFill>
                            <a:srgbClr val="0D1B2A"/>
                          </a:solidFill>
                          <a:latin typeface="Cambria Math" panose="02040503050406030204" pitchFamily="18" charset="0"/>
                        </a:rPr>
                        <m:t>     </m:t>
                      </m:r>
                      <m:r>
                        <a:rPr lang="en-US" i="1" dirty="0">
                          <a:solidFill>
                            <a:srgbClr val="0D1B2A"/>
                          </a:solidFill>
                          <a:latin typeface="Cambria Math" panose="02040503050406030204" pitchFamily="18" charset="0"/>
                        </a:rPr>
                        <m:t>𝜆</m:t>
                      </m:r>
                      <m:r>
                        <a:rPr lang="en-US" i="1" dirty="0">
                          <a:solidFill>
                            <a:srgbClr val="0D1B2A"/>
                          </a:solidFill>
                          <a:latin typeface="Cambria Math" panose="02040503050406030204" pitchFamily="18" charset="0"/>
                        </a:rPr>
                        <m:t> = 0.1</m:t>
                      </m:r>
                    </m:oMath>
                  </m:oMathPara>
                </a14:m>
                <a:endParaRPr lang="en-US" dirty="0"/>
              </a:p>
            </p:txBody>
          </p:sp>
        </mc:Choice>
        <mc:Fallback xmlns="">
          <p:sp>
            <p:nvSpPr>
              <p:cNvPr id="19" name="Text 17"/>
              <p:cNvSpPr>
                <a:spLocks noRot="1" noChangeAspect="1" noMove="1" noResize="1" noEditPoints="1" noAdjustHandles="1" noChangeArrowheads="1" noChangeShapeType="1" noTextEdit="1"/>
              </p:cNvSpPr>
              <p:nvPr/>
            </p:nvSpPr>
            <p:spPr>
              <a:xfrm>
                <a:off x="384048" y="5952744"/>
                <a:ext cx="11393424" cy="512064"/>
              </a:xfrm>
              <a:prstGeom prst="rect">
                <a:avLst/>
              </a:prstGeom>
              <a:blipFill>
                <a:blip r:embed="rId7"/>
                <a:stretch>
                  <a:fillRect/>
                </a:stretch>
              </a:blipFill>
              <a:ln/>
            </p:spPr>
            <p:txBody>
              <a:bodyPr/>
              <a:lstStyle/>
              <a:p>
                <a:r>
                  <a:rPr lang="zh-CN" altLang="en-US">
                    <a:noFill/>
                  </a:rPr>
                  <a:t> </a:t>
                </a:r>
              </a:p>
            </p:txBody>
          </p:sp>
        </mc:Fallback>
      </mc:AlternateContent>
      <p:sp>
        <p:nvSpPr>
          <p:cNvPr id="20" name="Text 18"/>
          <p:cNvSpPr/>
          <p:nvPr/>
        </p:nvSpPr>
        <p:spPr>
          <a:xfrm>
            <a:off x="11615351" y="6671412"/>
            <a:ext cx="500449" cy="109728"/>
          </a:xfrm>
          <a:prstGeom prst="rect">
            <a:avLst/>
          </a:prstGeom>
          <a:noFill/>
          <a:ln/>
        </p:spPr>
        <p:txBody>
          <a:bodyPr wrap="square" rtlCol="0" anchor="ctr"/>
          <a:lstStyle/>
          <a:p>
            <a:pPr marL="0" indent="0" algn="r">
              <a:buNone/>
            </a:pPr>
            <a:r>
              <a:rPr lang="en-US" sz="900" dirty="0">
                <a:solidFill>
                  <a:srgbClr val="90A4AE"/>
                </a:solidFill>
              </a:rPr>
              <a:t>11/18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11  实验设置：数据集 · </a:t>
            </a:r>
            <a:r>
              <a:rPr lang="en-US" sz="2300" b="1" dirty="0" err="1">
                <a:solidFill>
                  <a:srgbClr val="1A3A6B"/>
                </a:solidFill>
              </a:rPr>
              <a:t>评估设定</a:t>
            </a:r>
            <a:r>
              <a:rPr lang="en-US" sz="2300" b="1" dirty="0">
                <a:solidFill>
                  <a:srgbClr val="1A3A6B"/>
                </a:solidFill>
              </a:rPr>
              <a:t> · 基线 · 超参</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Shape 3"/>
          <p:cNvSpPr/>
          <p:nvPr/>
        </p:nvSpPr>
        <p:spPr>
          <a:xfrm>
            <a:off x="274320" y="1024128"/>
            <a:ext cx="5577840" cy="2743200"/>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6" name="Shape 4"/>
          <p:cNvSpPr/>
          <p:nvPr/>
        </p:nvSpPr>
        <p:spPr>
          <a:xfrm>
            <a:off x="274320" y="1024128"/>
            <a:ext cx="5577840" cy="384048"/>
          </a:xfrm>
          <a:prstGeom prst="rect">
            <a:avLst/>
          </a:prstGeom>
          <a:solidFill>
            <a:srgbClr val="1A3A6B"/>
          </a:solidFill>
          <a:ln w="12700">
            <a:solidFill>
              <a:srgbClr val="1A3A6B"/>
            </a:solidFill>
            <a:prstDash val="solid"/>
          </a:ln>
        </p:spPr>
      </p:sp>
      <p:sp>
        <p:nvSpPr>
          <p:cNvPr id="7" name="Text 5"/>
          <p:cNvSpPr/>
          <p:nvPr/>
        </p:nvSpPr>
        <p:spPr>
          <a:xfrm>
            <a:off x="274320" y="1024128"/>
            <a:ext cx="5577840" cy="384048"/>
          </a:xfrm>
          <a:prstGeom prst="rect">
            <a:avLst/>
          </a:prstGeom>
          <a:noFill/>
          <a:ln/>
        </p:spPr>
        <p:txBody>
          <a:bodyPr wrap="square" lIns="0" tIns="0" rIns="0" bIns="0" rtlCol="0" anchor="ctr"/>
          <a:lstStyle/>
          <a:p>
            <a:pPr marL="0" indent="0" algn="ctr">
              <a:buNone/>
            </a:pPr>
            <a:r>
              <a:rPr lang="en-US" sz="1400" b="1" dirty="0">
                <a:solidFill>
                  <a:srgbClr val="FFFFFF"/>
                </a:solidFill>
              </a:rPr>
              <a:t>数据集划分（APT-Hier）</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166937027"/>
              </p:ext>
            </p:extLst>
          </p:nvPr>
        </p:nvGraphicFramePr>
        <p:xfrm>
          <a:off x="320040" y="1444752"/>
          <a:ext cx="5486400" cy="1499616"/>
        </p:xfrm>
        <a:graphic>
          <a:graphicData uri="http://schemas.openxmlformats.org/drawingml/2006/table">
            <a:tbl>
              <a:tblPr/>
              <a:tblGrid>
                <a:gridCol w="12801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47472">
                <a:tc>
                  <a:txBody>
                    <a:bodyPr/>
                    <a:lstStyle/>
                    <a:p>
                      <a:pPr marL="0" indent="0">
                        <a:buNone/>
                      </a:pPr>
                      <a:r>
                        <a:rPr lang="en-US" sz="1200" b="1" dirty="0">
                          <a:solidFill>
                            <a:srgbClr val="FFFFFF"/>
                          </a:solidFill>
                        </a:rPr>
                        <a:t>划分</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3A5FAF"/>
                    </a:solidFill>
                  </a:tcPr>
                </a:tc>
                <a:tc>
                  <a:txBody>
                    <a:bodyPr/>
                    <a:lstStyle/>
                    <a:p>
                      <a:pPr marL="0" indent="0">
                        <a:buNone/>
                      </a:pPr>
                      <a:r>
                        <a:rPr lang="en-US" sz="1200" b="1" dirty="0">
                          <a:solidFill>
                            <a:srgbClr val="FFFFFF"/>
                          </a:solidFill>
                        </a:rPr>
                        <a:t>实体</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3A5FAF"/>
                    </a:solidFill>
                  </a:tcPr>
                </a:tc>
                <a:tc>
                  <a:txBody>
                    <a:bodyPr/>
                    <a:lstStyle/>
                    <a:p>
                      <a:pPr marL="0" indent="0">
                        <a:buNone/>
                      </a:pPr>
                      <a:r>
                        <a:rPr lang="en-US" sz="1200" b="1" dirty="0">
                          <a:solidFill>
                            <a:srgbClr val="FFFFFF"/>
                          </a:solidFill>
                        </a:rPr>
                        <a:t>三元组</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3A5FAF"/>
                    </a:solidFill>
                  </a:tcPr>
                </a:tc>
                <a:tc>
                  <a:txBody>
                    <a:bodyPr/>
                    <a:lstStyle/>
                    <a:p>
                      <a:pPr marL="0" indent="0">
                        <a:buNone/>
                      </a:pPr>
                      <a:r>
                        <a:rPr lang="en-US" sz="1200" b="1" dirty="0">
                          <a:solidFill>
                            <a:srgbClr val="FFFFFF"/>
                          </a:solidFill>
                        </a:rPr>
                        <a:t>说明</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3A5FAF"/>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000000"/>
                          </a:solidFill>
                        </a:rPr>
                        <a:t>训练集</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1,483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5,051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含subClassOf（仅训练，不评估）</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200" dirty="0">
                          <a:solidFill>
                            <a:srgbClr val="000000"/>
                          </a:solidFill>
                        </a:rPr>
                        <a:t>验证集</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1,476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474</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仅原始11种事实关系</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200" dirty="0">
                          <a:solidFill>
                            <a:srgbClr val="000000"/>
                          </a:solidFill>
                        </a:rPr>
                        <a:t>测试集</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1,476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474</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200" dirty="0">
                          <a:solidFill>
                            <a:srgbClr val="000000"/>
                          </a:solidFill>
                        </a:rPr>
                        <a:t>仅原始11种事实关系</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274320" y="3886200"/>
            <a:ext cx="5577840" cy="2423160"/>
          </a:xfrm>
          <a:prstGeom prst="rect">
            <a:avLst/>
          </a:prstGeom>
          <a:solidFill>
            <a:srgbClr val="F0F9FF"/>
          </a:solidFill>
          <a:ln w="6350">
            <a:solidFill>
              <a:srgbClr val="CCCCCC"/>
            </a:solidFill>
            <a:prstDash val="solid"/>
          </a:ln>
          <a:effectLst>
            <a:outerShdw blurRad="76200" dist="25400" dir="8100000" algn="bl" rotWithShape="0">
              <a:srgbClr val="000000">
                <a:alpha val="12000"/>
              </a:srgbClr>
            </a:outerShdw>
          </a:effectLst>
        </p:spPr>
      </p:sp>
      <p:sp>
        <p:nvSpPr>
          <p:cNvPr id="10" name="Shape 7"/>
          <p:cNvSpPr/>
          <p:nvPr/>
        </p:nvSpPr>
        <p:spPr>
          <a:xfrm>
            <a:off x="274320" y="3886200"/>
            <a:ext cx="73152" cy="2423160"/>
          </a:xfrm>
          <a:prstGeom prst="rect">
            <a:avLst/>
          </a:prstGeom>
          <a:solidFill>
            <a:srgbClr val="006579"/>
          </a:solidFill>
          <a:ln w="12700">
            <a:solidFill>
              <a:srgbClr val="006579"/>
            </a:solidFill>
            <a:prstDash val="solid"/>
          </a:ln>
        </p:spPr>
      </p:sp>
      <p:sp>
        <p:nvSpPr>
          <p:cNvPr id="11" name="Text 8"/>
          <p:cNvSpPr/>
          <p:nvPr/>
        </p:nvSpPr>
        <p:spPr>
          <a:xfrm>
            <a:off x="457200" y="3913632"/>
            <a:ext cx="5212080" cy="347472"/>
          </a:xfrm>
          <a:prstGeom prst="rect">
            <a:avLst/>
          </a:prstGeom>
          <a:noFill/>
          <a:ln/>
        </p:spPr>
        <p:txBody>
          <a:bodyPr wrap="square" rtlCol="0" anchor="ctr"/>
          <a:lstStyle/>
          <a:p>
            <a:pPr marL="0" indent="0">
              <a:buNone/>
            </a:pPr>
            <a:r>
              <a:rPr lang="en-US" sz="1600" b="1" dirty="0" err="1">
                <a:solidFill>
                  <a:srgbClr val="006579"/>
                </a:solidFill>
              </a:rPr>
              <a:t>评估设定设计</a:t>
            </a:r>
            <a:endParaRPr lang="en-US" sz="1600" dirty="0"/>
          </a:p>
        </p:txBody>
      </p:sp>
      <p:sp>
        <p:nvSpPr>
          <p:cNvPr id="12" name="Text 9"/>
          <p:cNvSpPr/>
          <p:nvPr/>
        </p:nvSpPr>
        <p:spPr>
          <a:xfrm>
            <a:off x="457200" y="4297680"/>
            <a:ext cx="5212080" cy="1938528"/>
          </a:xfrm>
          <a:prstGeom prst="rect">
            <a:avLst/>
          </a:prstGeom>
          <a:noFill/>
          <a:ln/>
        </p:spPr>
        <p:txBody>
          <a:bodyPr wrap="square" rtlCol="0" anchor="t"/>
          <a:lstStyle/>
          <a:p>
            <a:pPr marL="0" indent="0">
              <a:buNone/>
            </a:pPr>
            <a:r>
              <a:rPr lang="en-US" sz="1400" b="1" dirty="0">
                <a:solidFill>
                  <a:srgbClr val="0D1B2A"/>
                </a:solidFill>
              </a:rPr>
              <a:t>单向尾实体预测</a:t>
            </a:r>
            <a:r>
              <a:rPr lang="en-US" sz="1400" dirty="0">
                <a:solidFill>
                  <a:srgbClr val="0D1B2A"/>
                </a:solidFill>
              </a:rPr>
              <a:t>：仅评估 (h,r,?)，不做双向平均
</a:t>
            </a:r>
            <a:r>
              <a:rPr lang="en-US" sz="1400" b="1" dirty="0">
                <a:solidFill>
                  <a:srgbClr val="0D1B2A"/>
                </a:solidFill>
              </a:rPr>
              <a:t>关系过滤</a:t>
            </a:r>
            <a:r>
              <a:rPr lang="en-US" sz="1400" dirty="0">
                <a:solidFill>
                  <a:srgbClr val="0D1B2A"/>
                </a:solidFill>
              </a:rPr>
              <a:t>：评估范围 ℛ_pref = {target, use, exploit}
</a:t>
            </a:r>
            <a:r>
              <a:rPr lang="en-US" sz="1400" b="1" dirty="0">
                <a:solidFill>
                  <a:srgbClr val="0D1B2A"/>
                </a:solidFill>
              </a:rPr>
              <a:t>全量候选池</a:t>
            </a:r>
            <a:r>
              <a:rPr lang="en-US" sz="1400" dirty="0">
                <a:solidFill>
                  <a:srgbClr val="0D1B2A"/>
                </a:solidFill>
              </a:rPr>
              <a:t>：|ℰ| = 1,483 全实体打分排序
</a:t>
            </a:r>
            <a:r>
              <a:rPr lang="en-US" sz="1400" b="1" dirty="0">
                <a:solidFill>
                  <a:srgbClr val="0D1B2A"/>
                </a:solidFill>
              </a:rPr>
              <a:t>严格过滤</a:t>
            </a:r>
            <a:r>
              <a:rPr lang="en-US" sz="1400" dirty="0">
                <a:solidFill>
                  <a:srgbClr val="0D1B2A"/>
                </a:solidFill>
              </a:rPr>
              <a:t>：剔除训练/验证/测试中所有已知真实边
</a:t>
            </a:r>
            <a:r>
              <a:rPr lang="en-US" sz="1400" b="1" dirty="0">
                <a:solidFill>
                  <a:srgbClr val="0D1B2A"/>
                </a:solidFill>
              </a:rPr>
              <a:t>指标体系</a:t>
            </a:r>
            <a:r>
              <a:rPr lang="en-US" sz="1400" dirty="0">
                <a:solidFill>
                  <a:srgbClr val="0D1B2A"/>
                </a:solidFill>
              </a:rPr>
              <a:t>：Hits@10（首要）·Hits@3·Hits@1·MRR（综合）·MR（辅助）</a:t>
            </a:r>
            <a:endParaRPr lang="en-US" sz="1400" dirty="0"/>
          </a:p>
        </p:txBody>
      </p:sp>
      <p:sp>
        <p:nvSpPr>
          <p:cNvPr id="8" name="Shape 10"/>
          <p:cNvSpPr/>
          <p:nvPr/>
        </p:nvSpPr>
        <p:spPr>
          <a:xfrm>
            <a:off x="6035040" y="1024127"/>
            <a:ext cx="5852160" cy="2922868"/>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4" name="Shape 11"/>
          <p:cNvSpPr/>
          <p:nvPr/>
        </p:nvSpPr>
        <p:spPr>
          <a:xfrm>
            <a:off x="6035040" y="1024128"/>
            <a:ext cx="5852160" cy="384048"/>
          </a:xfrm>
          <a:prstGeom prst="rect">
            <a:avLst/>
          </a:prstGeom>
          <a:solidFill>
            <a:srgbClr val="006579"/>
          </a:solidFill>
          <a:ln w="12700">
            <a:solidFill>
              <a:srgbClr val="006579"/>
            </a:solidFill>
            <a:prstDash val="solid"/>
          </a:ln>
        </p:spPr>
      </p:sp>
      <p:sp>
        <p:nvSpPr>
          <p:cNvPr id="15" name="Text 12"/>
          <p:cNvSpPr/>
          <p:nvPr/>
        </p:nvSpPr>
        <p:spPr>
          <a:xfrm>
            <a:off x="6035040" y="1024128"/>
            <a:ext cx="5852160" cy="384048"/>
          </a:xfrm>
          <a:prstGeom prst="rect">
            <a:avLst/>
          </a:prstGeom>
          <a:noFill/>
          <a:ln/>
        </p:spPr>
        <p:txBody>
          <a:bodyPr wrap="square" lIns="0" tIns="0" rIns="0" bIns="0" rtlCol="0" anchor="ctr"/>
          <a:lstStyle/>
          <a:p>
            <a:pPr marL="0" indent="0" algn="ctr">
              <a:buNone/>
            </a:pPr>
            <a:r>
              <a:rPr lang="en-US" sz="1400" b="1" dirty="0">
                <a:solidFill>
                  <a:srgbClr val="FFFFFF"/>
                </a:solidFill>
              </a:rPr>
              <a:t>7 个对比基线（覆盖三类几何空间）</a:t>
            </a:r>
            <a:endParaRPr lang="en-US" sz="1400" dirty="0"/>
          </a:p>
        </p:txBody>
      </p:sp>
      <p:graphicFrame>
        <p:nvGraphicFramePr>
          <p:cNvPr id="25" name="Table 1"/>
          <p:cNvGraphicFramePr>
            <a:graphicFrameLocks noGrp="1"/>
          </p:cNvGraphicFramePr>
          <p:nvPr>
            <p:extLst>
              <p:ext uri="{D42A27DB-BD31-4B8C-83A1-F6EECF244321}">
                <p14:modId xmlns:p14="http://schemas.microsoft.com/office/powerpoint/2010/main" val="2375017714"/>
              </p:ext>
            </p:extLst>
          </p:nvPr>
        </p:nvGraphicFramePr>
        <p:xfrm>
          <a:off x="6077053" y="1444258"/>
          <a:ext cx="5760720" cy="2480824"/>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246861">
                <a:tc>
                  <a:txBody>
                    <a:bodyPr/>
                    <a:lstStyle/>
                    <a:p>
                      <a:pPr marL="0" indent="0">
                        <a:buNone/>
                      </a:pPr>
                      <a:r>
                        <a:rPr lang="en-US" sz="1050" b="1" dirty="0">
                          <a:solidFill>
                            <a:srgbClr val="FFFFFF"/>
                          </a:solidFill>
                        </a:rPr>
                        <a:t>模型</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006579"/>
                    </a:solidFill>
                  </a:tcPr>
                </a:tc>
                <a:tc>
                  <a:txBody>
                    <a:bodyPr/>
                    <a:lstStyle/>
                    <a:p>
                      <a:pPr marL="0" indent="0">
                        <a:buNone/>
                      </a:pPr>
                      <a:r>
                        <a:rPr lang="en-US" sz="1050" b="1" dirty="0">
                          <a:solidFill>
                            <a:srgbClr val="FFFFFF"/>
                          </a:solidFill>
                        </a:rPr>
                        <a:t>类别</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006579"/>
                    </a:solidFill>
                  </a:tcPr>
                </a:tc>
                <a:tc>
                  <a:txBody>
                    <a:bodyPr/>
                    <a:lstStyle/>
                    <a:p>
                      <a:pPr marL="0" indent="0">
                        <a:buNone/>
                      </a:pPr>
                      <a:r>
                        <a:rPr lang="en-US" sz="1050" b="1" dirty="0">
                          <a:solidFill>
                            <a:srgbClr val="FFFFFF"/>
                          </a:solidFill>
                        </a:rPr>
                        <a:t>关键特点</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006579"/>
                    </a:solidFill>
                  </a:tcPr>
                </a:tc>
                <a:extLst>
                  <a:ext uri="{0D108BD9-81ED-4DB2-BD59-A6C34878D82A}">
                    <a16:rowId xmlns:a16="http://schemas.microsoft.com/office/drawing/2014/main" val="10000"/>
                  </a:ext>
                </a:extLst>
              </a:tr>
              <a:tr h="246861">
                <a:tc>
                  <a:txBody>
                    <a:bodyPr/>
                    <a:lstStyle/>
                    <a:p>
                      <a:pPr marL="0" indent="0">
                        <a:buNone/>
                      </a:pPr>
                      <a:r>
                        <a:rPr lang="en-US" sz="1050" dirty="0">
                          <a:solidFill>
                            <a:srgbClr val="000000"/>
                          </a:solidFill>
                        </a:rPr>
                        <a:t>TransE</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欧式平移</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h+r≈t，参数少，关系模式有限</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246861">
                <a:tc>
                  <a:txBody>
                    <a:bodyPr/>
                    <a:lstStyle/>
                    <a:p>
                      <a:pPr marL="0" indent="0">
                        <a:buNone/>
                      </a:pPr>
                      <a:r>
                        <a:rPr lang="en-US" sz="1050" dirty="0">
                          <a:solidFill>
                            <a:srgbClr val="000000"/>
                          </a:solidFill>
                        </a:rPr>
                        <a:t>ComplEx</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欧式复数</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厄米内积，支持非对称关系</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246861">
                <a:tc>
                  <a:txBody>
                    <a:bodyPr/>
                    <a:lstStyle/>
                    <a:p>
                      <a:pPr marL="0" indent="0">
                        <a:buNone/>
                      </a:pPr>
                      <a:r>
                        <a:rPr lang="en-US" sz="1050" dirty="0">
                          <a:solidFill>
                            <a:srgbClr val="000000"/>
                          </a:solidFill>
                        </a:rPr>
                        <a:t>CompGCN</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图神经网络</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实体-关系联合更新，多关系GCN</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400564">
                <a:tc>
                  <a:txBody>
                    <a:bodyPr/>
                    <a:lstStyle/>
                    <a:p>
                      <a:pPr marL="0" indent="0">
                        <a:buNone/>
                      </a:pPr>
                      <a:r>
                        <a:rPr lang="en-US" sz="1050" dirty="0">
                          <a:solidFill>
                            <a:srgbClr val="000000"/>
                          </a:solidFill>
                        </a:rPr>
                        <a:t>NoGE</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图神经网络</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err="1">
                          <a:solidFill>
                            <a:srgbClr val="000000"/>
                          </a:solidFill>
                        </a:rPr>
                        <a:t>DualQGNN+共现加权</a:t>
                      </a:r>
                      <a:r>
                        <a:rPr lang="zh-CN" altLang="en-US" sz="1050" dirty="0">
                          <a:solidFill>
                            <a:srgbClr val="000000"/>
                          </a:solidFill>
                        </a:rPr>
                        <a:t>，对偶四元数图编码</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r h="246861">
                <a:tc>
                  <a:txBody>
                    <a:bodyPr/>
                    <a:lstStyle/>
                    <a:p>
                      <a:pPr marL="0" indent="0">
                        <a:buNone/>
                      </a:pPr>
                      <a:r>
                        <a:rPr lang="en-US" sz="1050" dirty="0">
                          <a:solidFill>
                            <a:srgbClr val="000000"/>
                          </a:solidFill>
                        </a:rPr>
                        <a:t>KLEC</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50" dirty="0" err="1">
                          <a:solidFill>
                            <a:srgbClr val="000000"/>
                          </a:solidFill>
                          <a:latin typeface="Microsoft YaHei" panose="020B0503020204020204" pitchFamily="34" charset="-122"/>
                          <a:ea typeface="Microsoft YaHei" panose="020B0503020204020204" pitchFamily="34" charset="-122"/>
                        </a:rPr>
                        <a:t>图神经网络</a:t>
                      </a:r>
                      <a:r>
                        <a:rPr lang="en-US" sz="1050" dirty="0" err="1">
                          <a:solidFill>
                            <a:srgbClr val="000000"/>
                          </a:solidFill>
                        </a:rPr>
                        <a:t>+领域语义</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err="1">
                          <a:solidFill>
                            <a:srgbClr val="000000"/>
                          </a:solidFill>
                        </a:rPr>
                        <a:t>NoGE+CyBERT初始化+对比学习（本文欧式阶段同架构</a:t>
                      </a:r>
                      <a:r>
                        <a:rPr lang="en-US" sz="1050" dirty="0">
                          <a:solidFill>
                            <a:srgbClr val="000000"/>
                          </a:solidFill>
                        </a:rPr>
                        <a:t>）</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5"/>
                  </a:ext>
                </a:extLst>
              </a:tr>
              <a:tr h="400564">
                <a:tc>
                  <a:txBody>
                    <a:bodyPr/>
                    <a:lstStyle/>
                    <a:p>
                      <a:pPr marL="0" indent="0">
                        <a:buNone/>
                      </a:pPr>
                      <a:r>
                        <a:rPr lang="en-US" sz="1050" dirty="0">
                          <a:solidFill>
                            <a:srgbClr val="000000"/>
                          </a:solidFill>
                        </a:rPr>
                        <a:t>MuRP</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双曲基线</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庞加莱球多关系嵌入（本文双曲阶段同评分函数）</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6"/>
                  </a:ext>
                </a:extLst>
              </a:tr>
              <a:tr h="246861">
                <a:tc>
                  <a:txBody>
                    <a:bodyPr/>
                    <a:lstStyle/>
                    <a:p>
                      <a:pPr marL="0" indent="0">
                        <a:buNone/>
                      </a:pPr>
                      <a:r>
                        <a:rPr lang="en-US" sz="1050" dirty="0">
                          <a:solidFill>
                            <a:srgbClr val="000000"/>
                          </a:solidFill>
                        </a:rPr>
                        <a:t>AttH</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双曲+注意力</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buNone/>
                      </a:pPr>
                      <a:r>
                        <a:rPr lang="en-US" sz="1050" dirty="0">
                          <a:solidFill>
                            <a:srgbClr val="000000"/>
                          </a:solidFill>
                        </a:rPr>
                        <a:t>关系旋转+反射，复杂度更高</a:t>
                      </a:r>
                      <a:endParaRPr lang="en-US" sz="105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7" name="Shape 13"/>
          <p:cNvSpPr/>
          <p:nvPr/>
        </p:nvSpPr>
        <p:spPr>
          <a:xfrm>
            <a:off x="6035040" y="4083912"/>
            <a:ext cx="5852160" cy="2225448"/>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8" name="Shape 14"/>
          <p:cNvSpPr/>
          <p:nvPr/>
        </p:nvSpPr>
        <p:spPr>
          <a:xfrm>
            <a:off x="6035040" y="4096269"/>
            <a:ext cx="5852160" cy="384048"/>
          </a:xfrm>
          <a:prstGeom prst="rect">
            <a:avLst/>
          </a:prstGeom>
          <a:solidFill>
            <a:srgbClr val="1A3A6B"/>
          </a:solidFill>
          <a:ln w="12700">
            <a:solidFill>
              <a:srgbClr val="1A3A6B"/>
            </a:solidFill>
            <a:prstDash val="solid"/>
          </a:ln>
        </p:spPr>
      </p:sp>
      <p:sp>
        <p:nvSpPr>
          <p:cNvPr id="19" name="Text 15"/>
          <p:cNvSpPr/>
          <p:nvPr/>
        </p:nvSpPr>
        <p:spPr>
          <a:xfrm>
            <a:off x="6035040" y="4083912"/>
            <a:ext cx="5852160" cy="384048"/>
          </a:xfrm>
          <a:prstGeom prst="rect">
            <a:avLst/>
          </a:prstGeom>
          <a:noFill/>
          <a:ln/>
        </p:spPr>
        <p:txBody>
          <a:bodyPr wrap="square" lIns="0" tIns="0" rIns="0" bIns="0" rtlCol="0" anchor="ctr"/>
          <a:lstStyle/>
          <a:p>
            <a:pPr marL="0" indent="0" algn="ctr">
              <a:buNone/>
            </a:pPr>
            <a:r>
              <a:rPr lang="en-US" sz="1400" b="1" dirty="0">
                <a:solidFill>
                  <a:srgbClr val="FFFFFF"/>
                </a:solidFill>
              </a:rPr>
              <a:t>关键超参数（验证集网格搜索）</a:t>
            </a:r>
            <a:endParaRPr lang="en-US" sz="1400" dirty="0"/>
          </a:p>
        </p:txBody>
      </p:sp>
      <p:sp>
        <p:nvSpPr>
          <p:cNvPr id="20" name="Text 16"/>
          <p:cNvSpPr/>
          <p:nvPr/>
        </p:nvSpPr>
        <p:spPr>
          <a:xfrm>
            <a:off x="6172200" y="4526037"/>
            <a:ext cx="5577840" cy="1920240"/>
          </a:xfrm>
          <a:prstGeom prst="rect">
            <a:avLst/>
          </a:prstGeom>
          <a:noFill/>
          <a:ln/>
        </p:spPr>
        <p:txBody>
          <a:bodyPr wrap="square" rtlCol="0" anchor="t"/>
          <a:lstStyle/>
          <a:p>
            <a:r>
              <a:rPr lang="zh-CN" altLang="en-US" sz="1400" dirty="0">
                <a:ea typeface="Microsoft YaHei" panose="020B0503020204020204" pitchFamily="34" charset="-122"/>
              </a:rPr>
              <a:t>欧式阶段：</a:t>
            </a:r>
            <a:r>
              <a:rPr lang="en" altLang="zh-CN" sz="1400" dirty="0">
                <a:ea typeface="Microsoft YaHei" panose="020B0503020204020204" pitchFamily="34" charset="-122"/>
              </a:rPr>
              <a:t>d=256</a:t>
            </a:r>
            <a:r>
              <a:rPr lang="zh-CN" altLang="en-US" sz="1400" dirty="0">
                <a:ea typeface="Microsoft YaHei" panose="020B0503020204020204" pitchFamily="34" charset="-122"/>
              </a:rPr>
              <a:t>，</a:t>
            </a:r>
            <a:r>
              <a:rPr lang="en" altLang="zh-CN" sz="1400" dirty="0">
                <a:ea typeface="Microsoft YaHei" panose="020B0503020204020204" pitchFamily="34" charset="-122"/>
              </a:rPr>
              <a:t>bs=1024</a:t>
            </a:r>
            <a:r>
              <a:rPr lang="zh-CN" altLang="en-US" sz="1400" dirty="0">
                <a:ea typeface="Microsoft YaHei" panose="020B0503020204020204" pitchFamily="34" charset="-122"/>
              </a:rPr>
              <a:t>，</a:t>
            </a:r>
            <a:r>
              <a:rPr lang="en" altLang="zh-CN" sz="1400" dirty="0">
                <a:ea typeface="Microsoft YaHei" panose="020B0503020204020204" pitchFamily="34" charset="-122"/>
              </a:rPr>
              <a:t>Adam</a:t>
            </a:r>
            <a:r>
              <a:rPr lang="zh-CN" altLang="en-US" sz="1400" dirty="0">
                <a:ea typeface="Microsoft YaHei" panose="020B0503020204020204" pitchFamily="34" charset="-122"/>
              </a:rPr>
              <a:t>，</a:t>
            </a:r>
            <a:r>
              <a:rPr lang="en" altLang="zh-CN" sz="1400" dirty="0" err="1">
                <a:ea typeface="Microsoft YaHei" panose="020B0503020204020204" pitchFamily="34" charset="-122"/>
              </a:rPr>
              <a:t>lr</a:t>
            </a:r>
            <a:r>
              <a:rPr lang="en" altLang="zh-CN" sz="1400" dirty="0">
                <a:ea typeface="Microsoft YaHei" panose="020B0503020204020204" pitchFamily="34" charset="-122"/>
              </a:rPr>
              <a:t>=5×10⁻³</a:t>
            </a:r>
            <a:r>
              <a:rPr lang="zh-CN" altLang="en-US" sz="1400" dirty="0">
                <a:ea typeface="Microsoft YaHei" panose="020B0503020204020204" pitchFamily="34" charset="-122"/>
              </a:rPr>
              <a:t>，轮数 </a:t>
            </a:r>
            <a:r>
              <a:rPr lang="en-US" altLang="zh-CN" sz="1400" dirty="0">
                <a:ea typeface="Microsoft YaHei" panose="020B0503020204020204" pitchFamily="34" charset="-122"/>
              </a:rPr>
              <a:t>3000</a:t>
            </a:r>
            <a:r>
              <a:rPr lang="zh-CN" altLang="en-US" sz="1400" dirty="0">
                <a:ea typeface="Microsoft YaHei" panose="020B0503020204020204" pitchFamily="34" charset="-122"/>
              </a:rPr>
              <a:t>，</a:t>
            </a:r>
            <a:r>
              <a:rPr lang="en" altLang="zh-CN" sz="1400" dirty="0">
                <a:ea typeface="Microsoft YaHei" panose="020B0503020204020204" pitchFamily="34" charset="-122"/>
              </a:rPr>
              <a:t>L=1</a:t>
            </a:r>
          </a:p>
          <a:p>
            <a:r>
              <a:rPr lang="zh-CN" altLang="en-US" sz="1400" dirty="0">
                <a:ea typeface="Microsoft YaHei" panose="020B0503020204020204" pitchFamily="34" charset="-122"/>
              </a:rPr>
              <a:t>双曲阶段：</a:t>
            </a:r>
            <a:r>
              <a:rPr lang="en" altLang="zh-CN" sz="1400" dirty="0">
                <a:ea typeface="Microsoft YaHei" panose="020B0503020204020204" pitchFamily="34" charset="-122"/>
              </a:rPr>
              <a:t>d=128</a:t>
            </a:r>
            <a:r>
              <a:rPr lang="zh-CN" altLang="en-US" sz="1400" dirty="0">
                <a:ea typeface="Microsoft YaHei" panose="020B0503020204020204" pitchFamily="34" charset="-122"/>
              </a:rPr>
              <a:t>，</a:t>
            </a:r>
            <a:r>
              <a:rPr lang="en" altLang="zh-CN" sz="1400" dirty="0">
                <a:ea typeface="Microsoft YaHei" panose="020B0503020204020204" pitchFamily="34" charset="-122"/>
              </a:rPr>
              <a:t>bs=128</a:t>
            </a:r>
            <a:r>
              <a:rPr lang="zh-CN" altLang="en-US" sz="1400" dirty="0">
                <a:ea typeface="Microsoft YaHei" panose="020B0503020204020204" pitchFamily="34" charset="-122"/>
              </a:rPr>
              <a:t>，</a:t>
            </a:r>
            <a:r>
              <a:rPr lang="en" altLang="zh-CN" sz="1400" dirty="0">
                <a:ea typeface="Microsoft YaHei" panose="020B0503020204020204" pitchFamily="34" charset="-122"/>
              </a:rPr>
              <a:t>RSGD</a:t>
            </a:r>
            <a:r>
              <a:rPr lang="zh-CN" altLang="en-US" sz="1400" dirty="0">
                <a:ea typeface="Microsoft YaHei" panose="020B0503020204020204" pitchFamily="34" charset="-122"/>
              </a:rPr>
              <a:t>，</a:t>
            </a:r>
            <a:r>
              <a:rPr lang="en" altLang="zh-CN" sz="1400" dirty="0" err="1">
                <a:ea typeface="Microsoft YaHei" panose="020B0503020204020204" pitchFamily="34" charset="-122"/>
              </a:rPr>
              <a:t>lr</a:t>
            </a:r>
            <a:r>
              <a:rPr lang="en" altLang="zh-CN" sz="1400" dirty="0">
                <a:ea typeface="Microsoft YaHei" panose="020B0503020204020204" pitchFamily="34" charset="-122"/>
              </a:rPr>
              <a:t>=20</a:t>
            </a:r>
            <a:r>
              <a:rPr lang="zh-CN" altLang="en-US" sz="1400" dirty="0">
                <a:ea typeface="Microsoft YaHei" panose="020B0503020204020204" pitchFamily="34" charset="-122"/>
              </a:rPr>
              <a:t>，轮数 </a:t>
            </a:r>
            <a:r>
              <a:rPr lang="en-US" altLang="zh-CN" sz="1400" dirty="0">
                <a:ea typeface="Microsoft YaHei" panose="020B0503020204020204" pitchFamily="34" charset="-122"/>
              </a:rPr>
              <a:t>500</a:t>
            </a:r>
            <a:r>
              <a:rPr lang="zh-CN" altLang="en-US" sz="1400" dirty="0">
                <a:ea typeface="Microsoft YaHei" panose="020B0503020204020204" pitchFamily="34" charset="-122"/>
              </a:rPr>
              <a:t>，负采样 </a:t>
            </a:r>
            <a:r>
              <a:rPr lang="en-US" altLang="zh-CN" sz="1400" dirty="0">
                <a:ea typeface="Microsoft YaHei" panose="020B0503020204020204" pitchFamily="34" charset="-122"/>
              </a:rPr>
              <a:t>100</a:t>
            </a:r>
          </a:p>
          <a:p>
            <a:r>
              <a:rPr lang="zh-CN" altLang="en-US" sz="1400" dirty="0">
                <a:ea typeface="Microsoft YaHei" panose="020B0503020204020204" pitchFamily="34" charset="-122"/>
              </a:rPr>
              <a:t>跨空间衔接：截断对齐</a:t>
            </a:r>
            <a:r>
              <a:rPr lang="en-US" altLang="zh-CN" sz="1400" dirty="0">
                <a:ea typeface="Microsoft YaHei" panose="020B0503020204020204" pitchFamily="34" charset="-122"/>
              </a:rPr>
              <a:t>(256→128)</a:t>
            </a:r>
            <a:r>
              <a:rPr lang="zh-CN" altLang="en-US" sz="1400" dirty="0">
                <a:ea typeface="Microsoft YaHei" panose="020B0503020204020204" pitchFamily="34" charset="-122"/>
              </a:rPr>
              <a:t> </a:t>
            </a:r>
            <a:r>
              <a:rPr lang="en-US" altLang="zh-CN" sz="1400" dirty="0">
                <a:ea typeface="Microsoft YaHei" panose="020B0503020204020204" pitchFamily="34" charset="-122"/>
              </a:rPr>
              <a:t>+ </a:t>
            </a:r>
            <a:r>
              <a:rPr lang="zh-CN" altLang="en-US" sz="1400" dirty="0">
                <a:ea typeface="Microsoft YaHei" panose="020B0503020204020204" pitchFamily="34" charset="-122"/>
              </a:rPr>
              <a:t>模长截断 </a:t>
            </a:r>
            <a:r>
              <a:rPr lang="en-US" altLang="zh-CN" sz="1400" dirty="0">
                <a:ea typeface="Microsoft YaHei" panose="020B0503020204020204" pitchFamily="34" charset="-122"/>
              </a:rPr>
              <a:t>+ </a:t>
            </a:r>
            <a:r>
              <a:rPr lang="zh-CN" altLang="en-US" sz="1400" dirty="0">
                <a:ea typeface="Microsoft YaHei" panose="020B0503020204020204" pitchFamily="34" charset="-122"/>
              </a:rPr>
              <a:t>指数映射 → 庞加莱球</a:t>
            </a:r>
            <a:r>
              <a:rPr lang="en-US" sz="1400" dirty="0">
                <a:solidFill>
                  <a:srgbClr val="0D1B2A"/>
                </a:solidFill>
                <a:ea typeface="Microsoft YaHei" panose="020B0503020204020204" pitchFamily="34" charset="-122"/>
              </a:rPr>
              <a:t>
环境：Google Colab Pro，NVIDIA Tesla T4（15GB VRAM）</a:t>
            </a:r>
            <a:endParaRPr lang="en-US" sz="1400" dirty="0">
              <a:ea typeface="Microsoft YaHei" panose="020B0503020204020204" pitchFamily="34" charset="-122"/>
            </a:endParaRPr>
          </a:p>
        </p:txBody>
      </p:sp>
      <p:sp>
        <p:nvSpPr>
          <p:cNvPr id="21" name="Text 17"/>
          <p:cNvSpPr/>
          <p:nvPr/>
        </p:nvSpPr>
        <p:spPr>
          <a:xfrm>
            <a:off x="11615351" y="6671412"/>
            <a:ext cx="500449" cy="109728"/>
          </a:xfrm>
          <a:prstGeom prst="rect">
            <a:avLst/>
          </a:prstGeom>
          <a:noFill/>
          <a:ln/>
        </p:spPr>
        <p:txBody>
          <a:bodyPr wrap="square" rtlCol="0" anchor="ctr"/>
          <a:lstStyle/>
          <a:p>
            <a:pPr marL="0" indent="0" algn="r">
              <a:buNone/>
            </a:pPr>
            <a:r>
              <a:rPr lang="en-US" sz="900" dirty="0">
                <a:solidFill>
                  <a:srgbClr val="90A4AE"/>
                </a:solidFill>
              </a:rPr>
              <a:t>12/18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12  整体性能对比（一）：通用链接预测</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Text 3"/>
          <p:cNvSpPr/>
          <p:nvPr/>
        </p:nvSpPr>
        <p:spPr>
          <a:xfrm>
            <a:off x="274320" y="1024128"/>
            <a:ext cx="11612880" cy="347472"/>
          </a:xfrm>
          <a:prstGeom prst="rect">
            <a:avLst/>
          </a:prstGeom>
          <a:noFill/>
          <a:ln/>
        </p:spPr>
        <p:txBody>
          <a:bodyPr wrap="square" rtlCol="0" anchor="ctr"/>
          <a:lstStyle/>
          <a:p>
            <a:pPr marL="0" indent="0">
              <a:buNone/>
            </a:pPr>
            <a:r>
              <a:rPr lang="en-US" sz="1600" b="1" dirty="0">
                <a:solidFill>
                  <a:srgbClr val="1A3A6B"/>
                </a:solidFill>
              </a:rPr>
              <a:t>APT-Flat</a:t>
            </a:r>
            <a:r>
              <a:rPr lang="en-US" sz="1400" b="1" dirty="0">
                <a:solidFill>
                  <a:srgbClr val="1A3A6B"/>
                </a:solidFill>
              </a:rPr>
              <a:t> 上通用链接预测（控制实验：仅验证模型层双空间框架）</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3899321097"/>
              </p:ext>
            </p:extLst>
          </p:nvPr>
        </p:nvGraphicFramePr>
        <p:xfrm>
          <a:off x="274320" y="1417320"/>
          <a:ext cx="7772400" cy="2468880"/>
        </p:xfrm>
        <a:graphic>
          <a:graphicData uri="http://schemas.openxmlformats.org/drawingml/2006/table">
            <a:tbl>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246888">
                <a:tc>
                  <a:txBody>
                    <a:bodyPr/>
                    <a:lstStyle/>
                    <a:p>
                      <a:pPr marL="0" indent="0" algn="ctr">
                        <a:buNone/>
                      </a:pPr>
                      <a:r>
                        <a:rPr lang="en-US" sz="1200" b="1" dirty="0">
                          <a:solidFill>
                            <a:srgbClr val="FFFFFF"/>
                          </a:solidFill>
                        </a:rPr>
                        <a:t>模型</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Hits@10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MRR</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MR↓</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246888">
                <a:tc>
                  <a:txBody>
                    <a:bodyPr/>
                    <a:lstStyle/>
                    <a:p>
                      <a:pPr marL="0" indent="0" algn="ctr">
                        <a:buNone/>
                      </a:pPr>
                      <a:r>
                        <a:rPr lang="en-US" sz="1200" dirty="0">
                          <a:solidFill>
                            <a:srgbClr val="000000"/>
                          </a:solidFill>
                        </a:rPr>
                        <a:t>TransE</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0.462</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0.387</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0.016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0.208</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marL="0" indent="0" algn="ctr">
                        <a:buNone/>
                      </a:pPr>
                      <a:r>
                        <a:rPr lang="en-US" sz="1200" dirty="0">
                          <a:solidFill>
                            <a:srgbClr val="000000"/>
                          </a:solidFill>
                        </a:rPr>
                        <a:t>ComplEx</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0.466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0.437</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0.406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0.427</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marL="0" indent="0" algn="ctr">
                        <a:buNone/>
                      </a:pPr>
                      <a:r>
                        <a:rPr lang="en-US" sz="1200" dirty="0">
                          <a:solidFill>
                            <a:srgbClr val="000000"/>
                          </a:solidFill>
                        </a:rPr>
                        <a:t>CompGCN</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0.542</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0.438</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0.412</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0.443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marL="0" indent="0" algn="ctr">
                        <a:buNone/>
                      </a:pPr>
                      <a:r>
                        <a:rPr lang="en-US" sz="1200" dirty="0">
                          <a:solidFill>
                            <a:srgbClr val="000000"/>
                          </a:solidFill>
                        </a:rPr>
                        <a:t>NoGE</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0.602</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0.535</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0.514</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0.539</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156.82</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marL="0" indent="0" algn="ctr">
                        <a:buNone/>
                      </a:pPr>
                      <a:r>
                        <a:rPr lang="en-US" sz="1200" dirty="0">
                          <a:solidFill>
                            <a:srgbClr val="000000"/>
                          </a:solidFill>
                        </a:rPr>
                        <a:t>KLEC</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0.606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0.550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0.522</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0.546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129.59</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marL="0" indent="0" algn="ctr">
                        <a:buNone/>
                      </a:pPr>
                      <a:r>
                        <a:rPr lang="en-US" sz="1200" dirty="0">
                          <a:solidFill>
                            <a:srgbClr val="000000"/>
                          </a:solidFill>
                        </a:rPr>
                        <a:t>MuRP（纯双曲）</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0.621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0.556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0.508</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0.546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129.59</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marL="0" indent="0" algn="ctr">
                        <a:buNone/>
                      </a:pPr>
                      <a:r>
                        <a:rPr lang="en-US" sz="1200" dirty="0">
                          <a:solidFill>
                            <a:srgbClr val="000000"/>
                          </a:solidFill>
                        </a:rPr>
                        <a:t>AttH</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0.535</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0.399</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0.336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0.398</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126.89</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marL="0" indent="0" algn="ctr">
                        <a:buNone/>
                      </a:pPr>
                      <a:r>
                        <a:rPr lang="en-US" sz="1200" b="1" dirty="0">
                          <a:solidFill>
                            <a:srgbClr val="000000"/>
                          </a:solidFill>
                        </a:rPr>
                        <a:t>Ours（w/o Hier）</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B71C1C"/>
                          </a:solidFill>
                        </a:rPr>
                        <a:t>0.682</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B71C1C"/>
                          </a:solidFill>
                        </a:rPr>
                        <a:t>0.626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B71C1C"/>
                          </a:solidFill>
                        </a:rPr>
                        <a:t>0.585</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B71C1C"/>
                          </a:solidFill>
                        </a:rPr>
                        <a:t>0.577</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000000"/>
                          </a:solidFill>
                        </a:rPr>
                        <a:t>117.85</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Shape 4"/>
          <p:cNvSpPr/>
          <p:nvPr/>
        </p:nvSpPr>
        <p:spPr>
          <a:xfrm>
            <a:off x="8183880" y="1417319"/>
            <a:ext cx="3749040" cy="1033263"/>
          </a:xfrm>
          <a:prstGeom prst="rect">
            <a:avLst/>
          </a:prstGeom>
          <a:solidFill>
            <a:srgbClr val="006579"/>
          </a:solidFill>
          <a:ln w="12700">
            <a:solidFill>
              <a:srgbClr val="006579"/>
            </a:solidFill>
            <a:prstDash val="solid"/>
          </a:ln>
          <a:effectLst>
            <a:outerShdw blurRad="76200" dist="25400" dir="8100000" algn="bl" rotWithShape="0">
              <a:srgbClr val="000000">
                <a:alpha val="12000"/>
              </a:srgbClr>
            </a:outerShdw>
          </a:effectLst>
        </p:spPr>
      </p:sp>
      <p:sp>
        <p:nvSpPr>
          <p:cNvPr id="8" name="Text 5"/>
          <p:cNvSpPr/>
          <p:nvPr/>
        </p:nvSpPr>
        <p:spPr>
          <a:xfrm>
            <a:off x="8183880" y="1481328"/>
            <a:ext cx="3749040" cy="543154"/>
          </a:xfrm>
          <a:prstGeom prst="rect">
            <a:avLst/>
          </a:prstGeom>
          <a:noFill/>
          <a:ln/>
        </p:spPr>
        <p:txBody>
          <a:bodyPr wrap="square" lIns="0" tIns="0" rIns="0" bIns="0" rtlCol="0" anchor="ctr"/>
          <a:lstStyle/>
          <a:p>
            <a:pPr marL="0" indent="0" algn="ctr">
              <a:buNone/>
            </a:pPr>
            <a:r>
              <a:rPr lang="en-US" sz="2800" b="1" dirty="0">
                <a:solidFill>
                  <a:srgbClr val="FFFFFF"/>
                </a:solidFill>
              </a:rPr>
              <a:t>0.621 → 0.682</a:t>
            </a:r>
            <a:endParaRPr lang="en-US" sz="2800" dirty="0"/>
          </a:p>
        </p:txBody>
      </p:sp>
      <p:sp>
        <p:nvSpPr>
          <p:cNvPr id="9" name="Text 6"/>
          <p:cNvSpPr/>
          <p:nvPr/>
        </p:nvSpPr>
        <p:spPr>
          <a:xfrm>
            <a:off x="8183880" y="1980225"/>
            <a:ext cx="3749040" cy="424647"/>
          </a:xfrm>
          <a:prstGeom prst="rect">
            <a:avLst/>
          </a:prstGeom>
          <a:noFill/>
          <a:ln/>
        </p:spPr>
        <p:txBody>
          <a:bodyPr wrap="square" lIns="0" tIns="0" rIns="0" bIns="0" rtlCol="0" anchor="ctr"/>
          <a:lstStyle/>
          <a:p>
            <a:pPr marL="0" indent="0" algn="ctr">
              <a:buNone/>
            </a:pPr>
            <a:r>
              <a:rPr lang="en-US" sz="1100" dirty="0">
                <a:solidFill>
                  <a:srgbClr val="AECDE8"/>
                </a:solidFill>
              </a:rPr>
              <a:t>MuRP → Ours（w/o Hier）</a:t>
            </a:r>
            <a:endParaRPr lang="en-US" sz="1100" dirty="0"/>
          </a:p>
          <a:p>
            <a:pPr marL="0" indent="0" algn="ctr">
              <a:buNone/>
            </a:pPr>
            <a:r>
              <a:rPr lang="en-US" sz="1100" dirty="0">
                <a:solidFill>
                  <a:srgbClr val="AECDE8"/>
                </a:solidFill>
              </a:rPr>
              <a:t>Hits@10 提升</a:t>
            </a:r>
            <a:endParaRPr lang="en-US" sz="1100" dirty="0"/>
          </a:p>
        </p:txBody>
      </p:sp>
      <p:sp>
        <p:nvSpPr>
          <p:cNvPr id="10" name="Text 7"/>
          <p:cNvSpPr/>
          <p:nvPr/>
        </p:nvSpPr>
        <p:spPr>
          <a:xfrm>
            <a:off x="8183880" y="2487663"/>
            <a:ext cx="3749040" cy="1115568"/>
          </a:xfrm>
          <a:prstGeom prst="rect">
            <a:avLst/>
          </a:prstGeom>
          <a:noFill/>
          <a:ln/>
        </p:spPr>
        <p:txBody>
          <a:bodyPr wrap="square" rtlCol="0" anchor="t"/>
          <a:lstStyle/>
          <a:p>
            <a:pPr marL="0" indent="0" algn="just">
              <a:buNone/>
            </a:pPr>
            <a:r>
              <a:rPr lang="en-US" sz="1400" dirty="0">
                <a:solidFill>
                  <a:srgbClr val="0D1B2A"/>
                </a:solidFill>
              </a:rPr>
              <a:t>欧式初始化的独立贡献：即使不引入层级本体重构，</a:t>
            </a:r>
            <a:endParaRPr lang="en-US" sz="1400" dirty="0"/>
          </a:p>
          <a:p>
            <a:pPr marL="0" indent="0" algn="just">
              <a:buNone/>
            </a:pPr>
            <a:r>
              <a:rPr lang="en-US" sz="1400" dirty="0" err="1">
                <a:solidFill>
                  <a:srgbClr val="0D1B2A"/>
                </a:solidFill>
              </a:rPr>
              <a:t>两阶段框架已优于纯双曲随机初始化</a:t>
            </a:r>
            <a:r>
              <a:rPr lang="en-US" sz="1400" dirty="0">
                <a:solidFill>
                  <a:srgbClr val="0D1B2A"/>
                </a:solidFill>
              </a:rPr>
              <a:t> +</a:t>
            </a:r>
            <a:r>
              <a:rPr lang="en-US" altLang="zh-CN" sz="1400" dirty="0">
                <a:solidFill>
                  <a:srgbClr val="0D1B2A"/>
                </a:solidFill>
              </a:rPr>
              <a:t>6.1pp</a:t>
            </a:r>
            <a:endParaRPr lang="en-US" sz="1400" dirty="0"/>
          </a:p>
        </p:txBody>
      </p:sp>
      <p:sp>
        <p:nvSpPr>
          <p:cNvPr id="11" name="Text 8"/>
          <p:cNvSpPr/>
          <p:nvPr/>
        </p:nvSpPr>
        <p:spPr>
          <a:xfrm>
            <a:off x="274320" y="3947742"/>
            <a:ext cx="11612880" cy="347472"/>
          </a:xfrm>
          <a:prstGeom prst="rect">
            <a:avLst/>
          </a:prstGeom>
          <a:noFill/>
          <a:ln/>
        </p:spPr>
        <p:txBody>
          <a:bodyPr wrap="square" rtlCol="0" anchor="ctr"/>
          <a:lstStyle/>
          <a:p>
            <a:pPr marL="0" indent="0">
              <a:buNone/>
            </a:pPr>
            <a:r>
              <a:rPr lang="en-US" sz="1600" b="1" dirty="0">
                <a:solidFill>
                  <a:srgbClr val="1A3A6B"/>
                </a:solidFill>
              </a:rPr>
              <a:t>APT-Hier</a:t>
            </a:r>
            <a:r>
              <a:rPr lang="en-US" sz="1400" b="1" dirty="0">
                <a:solidFill>
                  <a:srgbClr val="1A3A6B"/>
                </a:solidFill>
              </a:rPr>
              <a:t> 上通用链接预测（完整方法实验）</a:t>
            </a:r>
            <a:endParaRPr lang="en-US" sz="1400" dirty="0"/>
          </a:p>
        </p:txBody>
      </p:sp>
      <p:graphicFrame>
        <p:nvGraphicFramePr>
          <p:cNvPr id="27" name="Table 1"/>
          <p:cNvGraphicFramePr>
            <a:graphicFrameLocks noGrp="1"/>
          </p:cNvGraphicFramePr>
          <p:nvPr>
            <p:extLst>
              <p:ext uri="{D42A27DB-BD31-4B8C-83A1-F6EECF244321}">
                <p14:modId xmlns:p14="http://schemas.microsoft.com/office/powerpoint/2010/main" val="1204800392"/>
              </p:ext>
            </p:extLst>
          </p:nvPr>
        </p:nvGraphicFramePr>
        <p:xfrm>
          <a:off x="274320" y="4340934"/>
          <a:ext cx="7772400" cy="1280160"/>
        </p:xfrm>
        <a:graphic>
          <a:graphicData uri="http://schemas.openxmlformats.org/drawingml/2006/table">
            <a:tbl>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20040">
                <a:tc>
                  <a:txBody>
                    <a:bodyPr/>
                    <a:lstStyle/>
                    <a:p>
                      <a:pPr marL="0" indent="0" algn="ctr">
                        <a:buNone/>
                      </a:pPr>
                      <a:r>
                        <a:rPr lang="en-US" sz="1200" b="1" dirty="0">
                          <a:solidFill>
                            <a:srgbClr val="FFFFFF"/>
                          </a:solidFill>
                        </a:rPr>
                        <a:t>模型</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Hits@10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MRR</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MR↓</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20040">
                <a:tc>
                  <a:txBody>
                    <a:bodyPr/>
                    <a:lstStyle/>
                    <a:p>
                      <a:pPr marL="0" indent="0" algn="ctr">
                        <a:buNone/>
                      </a:pPr>
                      <a:r>
                        <a:rPr lang="en-US" altLang="zh-CN" sz="1400" dirty="0">
                          <a:solidFill>
                            <a:srgbClr val="000000"/>
                          </a:solidFill>
                        </a:rPr>
                        <a:t>KLEC</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dirty="0">
                          <a:solidFill>
                            <a:srgbClr val="000000"/>
                          </a:solidFill>
                        </a:rPr>
                        <a:t>0.626</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00"/>
                          </a:solidFill>
                        </a:rPr>
                        <a:t>0.564</a:t>
                      </a:r>
                      <a:endParaRPr lang="en-US" altLang="zh-CN"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dirty="0">
                          <a:solidFill>
                            <a:srgbClr val="000000"/>
                          </a:solidFill>
                        </a:rPr>
                        <a:t>0.287</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00"/>
                          </a:solidFill>
                        </a:rPr>
                        <a:t>0.430</a:t>
                      </a:r>
                      <a:endParaRPr lang="en-US" altLang="zh-CN"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00"/>
                          </a:solidFill>
                        </a:rPr>
                        <a:t>209.57</a:t>
                      </a:r>
                      <a:endParaRPr lang="en-US" altLang="zh-CN"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lgn="ctr">
                        <a:buNone/>
                      </a:pPr>
                      <a:r>
                        <a:rPr lang="en-US" altLang="zh-CN" sz="1400" dirty="0" err="1">
                          <a:solidFill>
                            <a:srgbClr val="000000"/>
                          </a:solidFill>
                        </a:rPr>
                        <a:t>MuRP</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00"/>
                          </a:solidFill>
                        </a:rPr>
                        <a:t>0.718</a:t>
                      </a:r>
                      <a:endParaRPr lang="en-US" altLang="zh-CN"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dirty="0">
                          <a:solidFill>
                            <a:srgbClr val="000000"/>
                          </a:solidFill>
                        </a:rPr>
                        <a:t>0.649</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00"/>
                          </a:solidFill>
                        </a:rPr>
                        <a:t>0.592</a:t>
                      </a:r>
                      <a:endParaRPr lang="en-US" altLang="zh-CN"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dirty="0">
                          <a:solidFill>
                            <a:srgbClr val="000000"/>
                          </a:solidFill>
                        </a:rPr>
                        <a:t>0.632</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solidFill>
                            <a:srgbClr val="000000"/>
                          </a:solidFill>
                        </a:rPr>
                        <a:t>126.56</a:t>
                      </a:r>
                      <a:endParaRPr lang="en-US" altLang="zh-CN"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lgn="ctr">
                        <a:buNone/>
                      </a:pPr>
                      <a:r>
                        <a:rPr lang="en-US" sz="1400" b="1" dirty="0">
                          <a:solidFill>
                            <a:srgbClr val="000000"/>
                          </a:solidFill>
                        </a:rPr>
                        <a:t>Ours-Full</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0.731</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0.660</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0.602</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0.643</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000000"/>
                          </a:solidFill>
                        </a:rPr>
                        <a:t>135.97</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Shape 9"/>
          <p:cNvSpPr/>
          <p:nvPr/>
        </p:nvSpPr>
        <p:spPr>
          <a:xfrm>
            <a:off x="274320" y="5810157"/>
            <a:ext cx="11612880" cy="804672"/>
          </a:xfrm>
          <a:prstGeom prst="rect">
            <a:avLst/>
          </a:prstGeom>
          <a:solidFill>
            <a:srgbClr val="E8F5E9"/>
          </a:solidFill>
          <a:ln w="12700">
            <a:solidFill>
              <a:srgbClr val="1B5E20"/>
            </a:solidFill>
            <a:prstDash val="solid"/>
          </a:ln>
        </p:spPr>
      </p:sp>
      <p:sp>
        <p:nvSpPr>
          <p:cNvPr id="6" name="Text 10"/>
          <p:cNvSpPr/>
          <p:nvPr/>
        </p:nvSpPr>
        <p:spPr>
          <a:xfrm>
            <a:off x="411480" y="5810157"/>
            <a:ext cx="11338560" cy="804672"/>
          </a:xfrm>
          <a:prstGeom prst="rect">
            <a:avLst/>
          </a:prstGeom>
          <a:noFill/>
          <a:ln/>
        </p:spPr>
        <p:txBody>
          <a:bodyPr wrap="square" rtlCol="0" anchor="ctr"/>
          <a:lstStyle/>
          <a:p>
            <a:pPr marL="0" indent="0">
              <a:buNone/>
            </a:pPr>
            <a:r>
              <a:rPr lang="en-US" sz="1400" dirty="0">
                <a:solidFill>
                  <a:srgbClr val="1B5E20"/>
                </a:solidFill>
              </a:rPr>
              <a:t>▶ </a:t>
            </a:r>
            <a:r>
              <a:rPr lang="en-US" sz="1400" dirty="0" err="1">
                <a:solidFill>
                  <a:srgbClr val="1B5E20"/>
                </a:solidFill>
              </a:rPr>
              <a:t>完成层级本体重构后</a:t>
            </a:r>
            <a:r>
              <a:rPr lang="zh-CN" altLang="en-US" sz="1400" dirty="0">
                <a:solidFill>
                  <a:srgbClr val="1B5E20"/>
                </a:solidFill>
              </a:rPr>
              <a:t>，</a:t>
            </a:r>
            <a:r>
              <a:rPr lang="en-US" altLang="zh-CN" sz="1400" dirty="0" err="1">
                <a:solidFill>
                  <a:srgbClr val="1B5E20"/>
                </a:solidFill>
              </a:rPr>
              <a:t>MuRP</a:t>
            </a:r>
            <a:r>
              <a:rPr lang="zh-CN" altLang="en-US" sz="1400" dirty="0">
                <a:solidFill>
                  <a:srgbClr val="1B5E20"/>
                </a:solidFill>
              </a:rPr>
              <a:t> 从 </a:t>
            </a:r>
            <a:r>
              <a:rPr lang="en-US" altLang="zh-CN" sz="1400" dirty="0">
                <a:solidFill>
                  <a:srgbClr val="1B5E20"/>
                </a:solidFill>
              </a:rPr>
              <a:t>0.621</a:t>
            </a:r>
            <a:r>
              <a:rPr lang="zh-CN" altLang="en-US" sz="1400" dirty="0">
                <a:solidFill>
                  <a:srgbClr val="1B5E20"/>
                </a:solidFill>
              </a:rPr>
              <a:t> 升至 </a:t>
            </a:r>
            <a:r>
              <a:rPr lang="en-US" altLang="zh-CN" sz="1400" dirty="0">
                <a:solidFill>
                  <a:srgbClr val="1B5E20"/>
                </a:solidFill>
              </a:rPr>
              <a:t>0.718</a:t>
            </a:r>
            <a:r>
              <a:rPr lang="zh-CN" altLang="en-US" sz="1400" dirty="0">
                <a:solidFill>
                  <a:srgbClr val="1B5E20"/>
                </a:solidFill>
              </a:rPr>
              <a:t> ，</a:t>
            </a:r>
            <a:r>
              <a:rPr lang="en-US" altLang="zh-CN" sz="1400" dirty="0">
                <a:solidFill>
                  <a:srgbClr val="1B5E20"/>
                </a:solidFill>
              </a:rPr>
              <a:t>Ours</a:t>
            </a:r>
            <a:r>
              <a:rPr lang="zh-CN" altLang="en-US" sz="1400" dirty="0">
                <a:solidFill>
                  <a:srgbClr val="1B5E20"/>
                </a:solidFill>
              </a:rPr>
              <a:t> 从 </a:t>
            </a:r>
            <a:r>
              <a:rPr lang="en-US" altLang="zh-CN" sz="1400" dirty="0">
                <a:solidFill>
                  <a:srgbClr val="1B5E20"/>
                </a:solidFill>
              </a:rPr>
              <a:t>0.682</a:t>
            </a:r>
            <a:r>
              <a:rPr lang="zh-CN" altLang="en-US" sz="1400" dirty="0">
                <a:solidFill>
                  <a:srgbClr val="1B5E20"/>
                </a:solidFill>
              </a:rPr>
              <a:t> 升至 </a:t>
            </a:r>
            <a:r>
              <a:rPr lang="en-US" altLang="zh-CN" sz="1400" dirty="0">
                <a:solidFill>
                  <a:srgbClr val="1B5E20"/>
                </a:solidFill>
              </a:rPr>
              <a:t>0.731</a:t>
            </a:r>
            <a:endParaRPr lang="en-US" sz="1400" dirty="0"/>
          </a:p>
          <a:p>
            <a:pPr marL="0" indent="0">
              <a:buNone/>
            </a:pPr>
            <a:r>
              <a:rPr lang="en-US" sz="1400" dirty="0">
                <a:solidFill>
                  <a:srgbClr val="1B5E20"/>
                </a:solidFill>
              </a:rPr>
              <a:t>   </a:t>
            </a:r>
            <a:r>
              <a:rPr lang="en-US" sz="1400" dirty="0" err="1">
                <a:solidFill>
                  <a:srgbClr val="1B5E20"/>
                </a:solidFill>
              </a:rPr>
              <a:t>说明数据层层级结构对双曲模型有放大效应，且数据层和模型层是叠加生效的</a:t>
            </a:r>
            <a:endParaRPr lang="en-US" sz="1400" dirty="0"/>
          </a:p>
        </p:txBody>
      </p:sp>
      <p:sp>
        <p:nvSpPr>
          <p:cNvPr id="15" name="Text 11"/>
          <p:cNvSpPr/>
          <p:nvPr/>
        </p:nvSpPr>
        <p:spPr>
          <a:xfrm>
            <a:off x="11504141" y="6671412"/>
            <a:ext cx="611659" cy="109728"/>
          </a:xfrm>
          <a:prstGeom prst="rect">
            <a:avLst/>
          </a:prstGeom>
          <a:noFill/>
          <a:ln/>
        </p:spPr>
        <p:txBody>
          <a:bodyPr wrap="square" rtlCol="0" anchor="ctr"/>
          <a:lstStyle/>
          <a:p>
            <a:pPr marL="0" indent="0" algn="r">
              <a:buNone/>
            </a:pPr>
            <a:r>
              <a:rPr lang="en-US" sz="900" dirty="0">
                <a:solidFill>
                  <a:srgbClr val="90A4AE"/>
                </a:solidFill>
              </a:rPr>
              <a:t>13/18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C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00B4CC"/>
          </a:solidFill>
          <a:ln w="12700">
            <a:solidFill>
              <a:srgbClr val="00B4CC"/>
            </a:solidFill>
            <a:prstDash val="solid"/>
          </a:ln>
        </p:spPr>
      </p:sp>
      <p:sp>
        <p:nvSpPr>
          <p:cNvPr id="3" name="Shape 1"/>
          <p:cNvSpPr/>
          <p:nvPr/>
        </p:nvSpPr>
        <p:spPr>
          <a:xfrm>
            <a:off x="0" y="6775704"/>
            <a:ext cx="12161520" cy="82296"/>
          </a:xfrm>
          <a:prstGeom prst="rect">
            <a:avLst/>
          </a:prstGeom>
          <a:solidFill>
            <a:srgbClr val="00B4CC"/>
          </a:solidFill>
          <a:ln w="12700">
            <a:solidFill>
              <a:srgbClr val="00B4CC"/>
            </a:solidFill>
            <a:prstDash val="solid"/>
          </a:ln>
        </p:spPr>
      </p:sp>
      <p:sp>
        <p:nvSpPr>
          <p:cNvPr id="4" name="Text 2"/>
          <p:cNvSpPr/>
          <p:nvPr/>
        </p:nvSpPr>
        <p:spPr>
          <a:xfrm>
            <a:off x="457200" y="137160"/>
            <a:ext cx="11247120" cy="685800"/>
          </a:xfrm>
          <a:prstGeom prst="rect">
            <a:avLst/>
          </a:prstGeom>
          <a:noFill/>
          <a:ln/>
        </p:spPr>
        <p:txBody>
          <a:bodyPr wrap="square" rtlCol="0" anchor="ctr"/>
          <a:lstStyle/>
          <a:p>
            <a:pPr marL="0" indent="0">
              <a:buNone/>
            </a:pPr>
            <a:r>
              <a:rPr lang="en-US" sz="2300" b="1" dirty="0">
                <a:solidFill>
                  <a:srgbClr val="FFFFFF"/>
                </a:solidFill>
              </a:rPr>
              <a:t>13  </a:t>
            </a:r>
            <a:r>
              <a:rPr lang="en-US" sz="2300" b="1" dirty="0" err="1">
                <a:solidFill>
                  <a:srgbClr val="FFFFFF"/>
                </a:solidFill>
              </a:rPr>
              <a:t>主实验：APT-Hier</a:t>
            </a:r>
            <a:r>
              <a:rPr lang="en-US" sz="2300" b="1" dirty="0">
                <a:solidFill>
                  <a:srgbClr val="FFFFFF"/>
                </a:solidFill>
              </a:rPr>
              <a:t> </a:t>
            </a:r>
            <a:r>
              <a:rPr lang="en-US" sz="2300" b="1" dirty="0" err="1">
                <a:solidFill>
                  <a:srgbClr val="FFFFFF"/>
                </a:solidFill>
              </a:rPr>
              <a:t>攻击偏好预测</a:t>
            </a:r>
            <a:endParaRPr lang="en-US" sz="2300" dirty="0"/>
          </a:p>
        </p:txBody>
      </p:sp>
      <p:sp>
        <p:nvSpPr>
          <p:cNvPr id="5" name="Shape 3"/>
          <p:cNvSpPr/>
          <p:nvPr/>
        </p:nvSpPr>
        <p:spPr>
          <a:xfrm>
            <a:off x="457200" y="822960"/>
            <a:ext cx="11247120" cy="0"/>
          </a:xfrm>
          <a:prstGeom prst="line">
            <a:avLst/>
          </a:prstGeom>
          <a:noFill/>
          <a:ln w="19050">
            <a:solidFill>
              <a:srgbClr val="00B4CC"/>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530790086"/>
              </p:ext>
            </p:extLst>
          </p:nvPr>
        </p:nvGraphicFramePr>
        <p:xfrm>
          <a:off x="320040" y="1481328"/>
          <a:ext cx="7223760" cy="3867912"/>
        </p:xfrm>
        <a:graphic>
          <a:graphicData uri="http://schemas.openxmlformats.org/drawingml/2006/table">
            <a:tbl>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429768">
                <a:tc>
                  <a:txBody>
                    <a:bodyPr/>
                    <a:lstStyle/>
                    <a:p>
                      <a:pPr marL="0" indent="0" algn="ctr">
                        <a:buNone/>
                      </a:pPr>
                      <a:r>
                        <a:rPr lang="en-US" sz="1150" b="1" dirty="0">
                          <a:solidFill>
                            <a:srgbClr val="FFFFFF"/>
                          </a:solidFill>
                        </a:rPr>
                        <a:t>模型</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Hits@10</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Hits@3</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Hits@1</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MRR</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MR↓</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429768">
                <a:tc>
                  <a:txBody>
                    <a:bodyPr/>
                    <a:lstStyle/>
                    <a:p>
                      <a:pPr marL="0" indent="0" algn="ctr">
                        <a:buNone/>
                      </a:pPr>
                      <a:r>
                        <a:rPr lang="en-US" sz="1400" dirty="0">
                          <a:solidFill>
                            <a:srgbClr val="FFFFFF"/>
                          </a:solidFill>
                        </a:rPr>
                        <a:t>TransE</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0.176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0.093</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0.044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0.090</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413.04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lgn="ctr">
                        <a:buNone/>
                      </a:pPr>
                      <a:r>
                        <a:rPr lang="en-US" sz="1400" dirty="0">
                          <a:solidFill>
                            <a:srgbClr val="FFFFFF"/>
                          </a:solidFill>
                        </a:rPr>
                        <a:t>ComplEx</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0.176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0.118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0.074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0.111</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429.68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lgn="ctr">
                        <a:buNone/>
                      </a:pPr>
                      <a:r>
                        <a:rPr lang="en-US" sz="1400" dirty="0">
                          <a:solidFill>
                            <a:srgbClr val="FFFFFF"/>
                          </a:solidFill>
                        </a:rPr>
                        <a:t>CompGCN</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0.186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0.147</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0.069</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0.118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377.14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3"/>
                  </a:ext>
                </a:extLst>
              </a:tr>
              <a:tr h="429768">
                <a:tc>
                  <a:txBody>
                    <a:bodyPr/>
                    <a:lstStyle/>
                    <a:p>
                      <a:pPr marL="0" indent="0" algn="ctr">
                        <a:buNone/>
                      </a:pPr>
                      <a:r>
                        <a:rPr lang="en-US" sz="1400" dirty="0">
                          <a:solidFill>
                            <a:srgbClr val="FFFFFF"/>
                          </a:solidFill>
                        </a:rPr>
                        <a:t>NoGE</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0.196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0.137</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0.088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0.127</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382.24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4"/>
                  </a:ext>
                </a:extLst>
              </a:tr>
              <a:tr h="429768">
                <a:tc>
                  <a:txBody>
                    <a:bodyPr/>
                    <a:lstStyle/>
                    <a:p>
                      <a:pPr marL="0" indent="0" algn="ctr">
                        <a:buNone/>
                      </a:pPr>
                      <a:r>
                        <a:rPr lang="en-US" sz="1400" dirty="0">
                          <a:solidFill>
                            <a:srgbClr val="FFFFFF"/>
                          </a:solidFill>
                        </a:rPr>
                        <a:t>KLEC</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0.284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0.142</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0.082</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0.140</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380.48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5"/>
                  </a:ext>
                </a:extLst>
              </a:tr>
              <a:tr h="429768">
                <a:tc>
                  <a:txBody>
                    <a:bodyPr/>
                    <a:lstStyle/>
                    <a:p>
                      <a:pPr marL="0" indent="0" algn="ctr">
                        <a:buNone/>
                      </a:pPr>
                      <a:r>
                        <a:rPr lang="en-US" sz="1400" dirty="0" err="1">
                          <a:solidFill>
                            <a:srgbClr val="FFFFFF"/>
                          </a:solidFill>
                        </a:rPr>
                        <a:t>MuRP</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b="1" dirty="0">
                          <a:solidFill>
                            <a:srgbClr val="FFD700"/>
                          </a:solidFill>
                        </a:rPr>
                        <a:t>0.435</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0.336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0.252</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0.324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146.12</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6"/>
                  </a:ext>
                </a:extLst>
              </a:tr>
              <a:tr h="429768">
                <a:tc>
                  <a:txBody>
                    <a:bodyPr/>
                    <a:lstStyle/>
                    <a:p>
                      <a:pPr marL="0" indent="0" algn="ctr">
                        <a:buNone/>
                      </a:pPr>
                      <a:r>
                        <a:rPr lang="en-US" sz="1400" dirty="0">
                          <a:solidFill>
                            <a:srgbClr val="FFFFFF"/>
                          </a:solidFill>
                        </a:rPr>
                        <a:t>AttH</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0.152</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0.123</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0.098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0.126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442.97</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7"/>
                  </a:ext>
                </a:extLst>
              </a:tr>
              <a:tr h="429768">
                <a:tc>
                  <a:txBody>
                    <a:bodyPr/>
                    <a:lstStyle/>
                    <a:p>
                      <a:pPr marL="0" indent="0" algn="ctr">
                        <a:buNone/>
                      </a:pPr>
                      <a:r>
                        <a:rPr lang="en-US" sz="1400" b="1" dirty="0">
                          <a:solidFill>
                            <a:srgbClr val="FFD700"/>
                          </a:solidFill>
                        </a:rPr>
                        <a:t>Ours-Full（本文）</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b="1" dirty="0">
                          <a:solidFill>
                            <a:srgbClr val="FFD700"/>
                          </a:solidFill>
                        </a:rPr>
                        <a:t>0.514 ★</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b="1" dirty="0">
                          <a:solidFill>
                            <a:srgbClr val="FFD700"/>
                          </a:solidFill>
                        </a:rPr>
                        <a:t>0.410 ★</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b="1" dirty="0">
                          <a:solidFill>
                            <a:srgbClr val="FFD700"/>
                          </a:solidFill>
                        </a:rPr>
                        <a:t>0.337 ★</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b="1" dirty="0">
                          <a:solidFill>
                            <a:srgbClr val="FFD700"/>
                          </a:solidFill>
                        </a:rPr>
                        <a:t>0.428 ★</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b="1" dirty="0">
                          <a:solidFill>
                            <a:srgbClr val="FFD700"/>
                          </a:solidFill>
                        </a:rPr>
                        <a:t>159.59</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9" name="Shape 16"/>
          <p:cNvSpPr/>
          <p:nvPr/>
        </p:nvSpPr>
        <p:spPr>
          <a:xfrm>
            <a:off x="7635240" y="3838995"/>
            <a:ext cx="4206240" cy="2404871"/>
          </a:xfrm>
          <a:prstGeom prst="rect">
            <a:avLst/>
          </a:prstGeom>
          <a:solidFill>
            <a:srgbClr val="0D2137"/>
          </a:solidFill>
          <a:ln w="12700">
            <a:solidFill>
              <a:srgbClr val="00B4CC"/>
            </a:solidFill>
            <a:prstDash val="solid"/>
          </a:ln>
        </p:spPr>
      </p:sp>
      <p:sp>
        <p:nvSpPr>
          <p:cNvPr id="20" name="Text 17"/>
          <p:cNvSpPr/>
          <p:nvPr/>
        </p:nvSpPr>
        <p:spPr>
          <a:xfrm>
            <a:off x="7680960" y="3893859"/>
            <a:ext cx="4114800" cy="2329633"/>
          </a:xfrm>
          <a:prstGeom prst="rect">
            <a:avLst/>
          </a:prstGeom>
          <a:noFill/>
          <a:ln/>
        </p:spPr>
        <p:txBody>
          <a:bodyPr wrap="square" rtlCol="0" anchor="t"/>
          <a:lstStyle/>
          <a:p>
            <a:pPr marL="0" indent="0">
              <a:lnSpc>
                <a:spcPts val="1780"/>
              </a:lnSpc>
              <a:buNone/>
            </a:pPr>
            <a:r>
              <a:rPr lang="en-US" sz="1400" b="1" dirty="0">
                <a:solidFill>
                  <a:srgbClr val="00B4CC"/>
                </a:solidFill>
              </a:rPr>
              <a:t>关键发现</a:t>
            </a:r>
            <a:endParaRPr lang="en-US" sz="1400" dirty="0"/>
          </a:p>
          <a:p>
            <a:pPr marL="0" indent="0">
              <a:lnSpc>
                <a:spcPts val="1780"/>
              </a:lnSpc>
              <a:buNone/>
            </a:pPr>
            <a:r>
              <a:rPr lang="en-US" sz="1400" dirty="0">
                <a:solidFill>
                  <a:srgbClr val="FFFFFF"/>
                </a:solidFill>
              </a:rPr>
              <a:t>①</a:t>
            </a:r>
            <a:r>
              <a:rPr lang="zh-CN" altLang="en-US" sz="1400" dirty="0">
                <a:solidFill>
                  <a:srgbClr val="FFFFFF"/>
                </a:solidFill>
              </a:rPr>
              <a:t> </a:t>
            </a:r>
            <a:r>
              <a:rPr lang="zh-CN" altLang="en-US" sz="1400" b="1" dirty="0">
                <a:solidFill>
                  <a:schemeClr val="bg1"/>
                </a:solidFill>
              </a:rPr>
              <a:t>欧式基线 </a:t>
            </a:r>
            <a:r>
              <a:rPr lang="en" altLang="zh-CN" sz="1400" b="1" dirty="0">
                <a:solidFill>
                  <a:schemeClr val="bg1"/>
                </a:solidFill>
              </a:rPr>
              <a:t>KLEC </a:t>
            </a:r>
            <a:r>
              <a:rPr lang="zh-CN" altLang="en-US" sz="1400" b="1" dirty="0">
                <a:solidFill>
                  <a:schemeClr val="bg1"/>
                </a:solidFill>
              </a:rPr>
              <a:t>在 </a:t>
            </a:r>
            <a:r>
              <a:rPr lang="en" altLang="zh-CN" sz="1400" b="1" dirty="0">
                <a:solidFill>
                  <a:schemeClr val="bg1"/>
                </a:solidFill>
              </a:rPr>
              <a:t>APT-</a:t>
            </a:r>
            <a:r>
              <a:rPr lang="en" altLang="zh-CN" sz="1400" b="1" dirty="0" err="1">
                <a:solidFill>
                  <a:schemeClr val="bg1"/>
                </a:solidFill>
              </a:rPr>
              <a:t>Hier</a:t>
            </a:r>
            <a:r>
              <a:rPr lang="en" altLang="zh-CN" sz="1400" b="1" dirty="0">
                <a:solidFill>
                  <a:schemeClr val="bg1"/>
                </a:solidFill>
              </a:rPr>
              <a:t> </a:t>
            </a:r>
            <a:r>
              <a:rPr lang="zh-CN" altLang="en-US" sz="1400" b="1" dirty="0">
                <a:solidFill>
                  <a:schemeClr val="bg1"/>
                </a:solidFill>
              </a:rPr>
              <a:t>上下降</a:t>
            </a:r>
            <a:r>
              <a:rPr lang="zh-CN" altLang="en-US" sz="1400" dirty="0">
                <a:solidFill>
                  <a:schemeClr val="bg1"/>
                </a:solidFill>
              </a:rPr>
              <a:t> </a:t>
            </a:r>
            <a:r>
              <a:rPr lang="en-US" altLang="zh-CN" sz="1400" dirty="0">
                <a:solidFill>
                  <a:schemeClr val="bg1"/>
                </a:solidFill>
              </a:rPr>
              <a:t>0.453 → 0.284 (</a:t>
            </a:r>
            <a:r>
              <a:rPr lang="en" altLang="zh-CN" sz="1400" dirty="0" err="1">
                <a:solidFill>
                  <a:schemeClr val="bg1"/>
                </a:solidFill>
              </a:rPr>
              <a:t>subClassOf</a:t>
            </a:r>
            <a:r>
              <a:rPr lang="en" altLang="zh-CN" sz="1400" dirty="0">
                <a:solidFill>
                  <a:schemeClr val="bg1"/>
                </a:solidFill>
              </a:rPr>
              <a:t> </a:t>
            </a:r>
            <a:r>
              <a:rPr lang="zh-CN" altLang="en-US" sz="1400" dirty="0">
                <a:solidFill>
                  <a:schemeClr val="bg1"/>
                </a:solidFill>
              </a:rPr>
              <a:t>层级对欧式建模有干扰</a:t>
            </a:r>
            <a:r>
              <a:rPr lang="en-US" altLang="zh-CN" sz="1400" dirty="0">
                <a:solidFill>
                  <a:schemeClr val="bg1"/>
                </a:solidFill>
              </a:rPr>
              <a:t>)</a:t>
            </a:r>
            <a:r>
              <a:rPr lang="en-US" sz="1400" dirty="0">
                <a:solidFill>
                  <a:srgbClr val="FFFFFF"/>
                </a:solidFill>
              </a:rPr>
              <a:t>
② </a:t>
            </a:r>
            <a:r>
              <a:rPr lang="en" altLang="zh-CN" sz="1400" b="1" dirty="0" err="1">
                <a:solidFill>
                  <a:schemeClr val="bg1"/>
                </a:solidFill>
              </a:rPr>
              <a:t>MuRP</a:t>
            </a:r>
            <a:r>
              <a:rPr lang="en" altLang="zh-CN" sz="1400" b="1" dirty="0">
                <a:solidFill>
                  <a:schemeClr val="bg1"/>
                </a:solidFill>
              </a:rPr>
              <a:t> </a:t>
            </a:r>
            <a:r>
              <a:rPr lang="zh-CN" altLang="en-US" sz="1400" b="1" dirty="0">
                <a:solidFill>
                  <a:schemeClr val="bg1"/>
                </a:solidFill>
              </a:rPr>
              <a:t>在 </a:t>
            </a:r>
            <a:r>
              <a:rPr lang="en" altLang="zh-CN" sz="1400" b="1" dirty="0" err="1">
                <a:solidFill>
                  <a:schemeClr val="bg1"/>
                </a:solidFill>
              </a:rPr>
              <a:t>Hier</a:t>
            </a:r>
            <a:r>
              <a:rPr lang="en" altLang="zh-CN" sz="1400" b="1" dirty="0">
                <a:solidFill>
                  <a:schemeClr val="bg1"/>
                </a:solidFill>
              </a:rPr>
              <a:t> </a:t>
            </a:r>
            <a:r>
              <a:rPr lang="zh-CN" altLang="en-US" sz="1400" b="1" dirty="0">
                <a:solidFill>
                  <a:schemeClr val="bg1"/>
                </a:solidFill>
              </a:rPr>
              <a:t>上提升</a:t>
            </a:r>
            <a:r>
              <a:rPr lang="zh-CN" altLang="en-US" sz="1400" dirty="0">
                <a:solidFill>
                  <a:schemeClr val="bg1"/>
                </a:solidFill>
              </a:rPr>
              <a:t> </a:t>
            </a:r>
            <a:r>
              <a:rPr lang="en-US" altLang="zh-CN" sz="1400" dirty="0">
                <a:solidFill>
                  <a:schemeClr val="bg1"/>
                </a:solidFill>
              </a:rPr>
              <a:t>0.420 → 0.435</a:t>
            </a:r>
            <a:r>
              <a:rPr lang="en-US" sz="1400" dirty="0">
                <a:solidFill>
                  <a:srgbClr val="FFFFFF"/>
                </a:solidFill>
              </a:rPr>
              <a:t>
</a:t>
            </a:r>
            <a:r>
              <a:rPr lang="en-US" sz="1400" dirty="0">
                <a:solidFill>
                  <a:srgbClr val="FFD700"/>
                </a:solidFill>
              </a:rPr>
              <a:t>③ </a:t>
            </a:r>
            <a:r>
              <a:rPr lang="en" altLang="zh-CN" sz="1400" b="1" dirty="0">
                <a:solidFill>
                  <a:srgbClr val="FFD800"/>
                </a:solidFill>
              </a:rPr>
              <a:t>Ours </a:t>
            </a:r>
            <a:r>
              <a:rPr lang="zh-CN" altLang="en-US" sz="1400" b="1" dirty="0">
                <a:solidFill>
                  <a:srgbClr val="FFD800"/>
                </a:solidFill>
              </a:rPr>
              <a:t>持续提升</a:t>
            </a:r>
            <a:r>
              <a:rPr lang="zh-CN" altLang="en-US" sz="1400" dirty="0">
                <a:solidFill>
                  <a:srgbClr val="FFD800"/>
                </a:solidFill>
              </a:rPr>
              <a:t> </a:t>
            </a:r>
            <a:r>
              <a:rPr lang="en-US" altLang="zh-CN" sz="1400" dirty="0">
                <a:solidFill>
                  <a:srgbClr val="FFD800"/>
                </a:solidFill>
              </a:rPr>
              <a:t>0.471 → 0.514 (+4.3pp)</a:t>
            </a:r>
            <a:r>
              <a:rPr lang="en-US" sz="1400" dirty="0">
                <a:solidFill>
                  <a:srgbClr val="FFFFFF"/>
                </a:solidFill>
              </a:rPr>
              <a:t>
</a:t>
            </a:r>
            <a:r>
              <a:rPr lang="en-US" sz="1400" dirty="0">
                <a:solidFill>
                  <a:srgbClr val="90A4AE"/>
                </a:solidFill>
              </a:rPr>
              <a:t>④ MR（159.59）非最优 → 正常现象</a:t>
            </a:r>
            <a:endParaRPr lang="en-US" sz="1400" dirty="0"/>
          </a:p>
          <a:p>
            <a:pPr marL="0" indent="0">
              <a:lnSpc>
                <a:spcPts val="1780"/>
              </a:lnSpc>
              <a:buNone/>
            </a:pPr>
            <a:r>
              <a:rPr lang="en-US" sz="1400" dirty="0">
                <a:solidFill>
                  <a:srgbClr val="FFFFFF"/>
                </a:solidFill>
              </a:rPr>
              <a:t>   MR 对长尾误排敏感；Hits@10/MRR</a:t>
            </a:r>
            <a:endParaRPr lang="en-US" sz="1400" dirty="0"/>
          </a:p>
          <a:p>
            <a:pPr marL="0" indent="0">
              <a:lnSpc>
                <a:spcPts val="1780"/>
              </a:lnSpc>
              <a:buNone/>
            </a:pPr>
            <a:r>
              <a:rPr lang="en-US" sz="1400" dirty="0">
                <a:solidFill>
                  <a:srgbClr val="FFFFFF"/>
                </a:solidFill>
              </a:rPr>
              <a:t>   更能反映前列检索质量</a:t>
            </a:r>
            <a:endParaRPr lang="en-US" sz="1400" dirty="0"/>
          </a:p>
        </p:txBody>
      </p:sp>
      <p:sp>
        <p:nvSpPr>
          <p:cNvPr id="21" name="Shape 18"/>
          <p:cNvSpPr/>
          <p:nvPr/>
        </p:nvSpPr>
        <p:spPr>
          <a:xfrm>
            <a:off x="320040" y="5532120"/>
            <a:ext cx="7132320" cy="566928"/>
          </a:xfrm>
          <a:prstGeom prst="rect">
            <a:avLst/>
          </a:prstGeom>
          <a:solidFill>
            <a:srgbClr val="1A1A2A"/>
          </a:solidFill>
          <a:ln w="12700">
            <a:solidFill>
              <a:srgbClr val="00B4CC"/>
            </a:solidFill>
            <a:prstDash val="solid"/>
          </a:ln>
        </p:spPr>
      </p:sp>
      <p:sp>
        <p:nvSpPr>
          <p:cNvPr id="22" name="Text 19"/>
          <p:cNvSpPr/>
          <p:nvPr/>
        </p:nvSpPr>
        <p:spPr>
          <a:xfrm>
            <a:off x="411480" y="5532120"/>
            <a:ext cx="6949440" cy="566928"/>
          </a:xfrm>
          <a:prstGeom prst="rect">
            <a:avLst/>
          </a:prstGeom>
          <a:noFill/>
          <a:ln/>
        </p:spPr>
        <p:txBody>
          <a:bodyPr wrap="square" rtlCol="0" anchor="ctr"/>
          <a:lstStyle/>
          <a:p>
            <a:pPr marL="0" indent="0">
              <a:buNone/>
            </a:pPr>
            <a:r>
              <a:rPr lang="en-US" sz="1400" b="1" dirty="0">
                <a:solidFill>
                  <a:srgbClr val="00B4CC"/>
                </a:solidFill>
              </a:rPr>
              <a:t>▶  </a:t>
            </a:r>
            <a:r>
              <a:rPr lang="en-US" sz="1400" b="1" dirty="0" err="1">
                <a:solidFill>
                  <a:srgbClr val="00B4CC"/>
                </a:solidFill>
              </a:rPr>
              <a:t>任务驱动单向评估设定下（ℛ_pref</a:t>
            </a:r>
            <a:r>
              <a:rPr lang="en-US" sz="1400" b="1" dirty="0">
                <a:solidFill>
                  <a:srgbClr val="00B4CC"/>
                </a:solidFill>
              </a:rPr>
              <a:t>={target,use,exploit}，候选池1483），完整方法整体优于多类基线</a:t>
            </a:r>
            <a:endParaRPr lang="en-US" sz="1400" dirty="0"/>
          </a:p>
        </p:txBody>
      </p:sp>
      <p:sp>
        <p:nvSpPr>
          <p:cNvPr id="23" name="Text 20"/>
          <p:cNvSpPr/>
          <p:nvPr/>
        </p:nvSpPr>
        <p:spPr>
          <a:xfrm>
            <a:off x="11553568" y="6662268"/>
            <a:ext cx="562232" cy="118872"/>
          </a:xfrm>
          <a:prstGeom prst="rect">
            <a:avLst/>
          </a:prstGeom>
          <a:noFill/>
          <a:ln/>
        </p:spPr>
        <p:txBody>
          <a:bodyPr wrap="square" rtlCol="0" anchor="ctr"/>
          <a:lstStyle/>
          <a:p>
            <a:pPr marL="0" indent="0" algn="r">
              <a:buNone/>
            </a:pPr>
            <a:r>
              <a:rPr lang="en-US" sz="900" dirty="0">
                <a:solidFill>
                  <a:srgbClr val="90A4AE"/>
                </a:solidFill>
              </a:rPr>
              <a:t>14/18</a:t>
            </a:r>
            <a:endParaRPr lang="en-US" sz="900" dirty="0"/>
          </a:p>
        </p:txBody>
      </p:sp>
      <p:graphicFrame>
        <p:nvGraphicFramePr>
          <p:cNvPr id="24" name="Table 0">
            <a:extLst>
              <a:ext uri="{FF2B5EF4-FFF2-40B4-BE49-F238E27FC236}">
                <a16:creationId xmlns:a16="http://schemas.microsoft.com/office/drawing/2014/main" id="{CD18A78E-86CE-C953-6735-917DA939AB1D}"/>
              </a:ext>
            </a:extLst>
          </p:cNvPr>
          <p:cNvGraphicFramePr>
            <a:graphicFrameLocks noGrp="1"/>
          </p:cNvGraphicFramePr>
          <p:nvPr>
            <p:extLst>
              <p:ext uri="{D42A27DB-BD31-4B8C-83A1-F6EECF244321}">
                <p14:modId xmlns:p14="http://schemas.microsoft.com/office/powerpoint/2010/main" val="1267408772"/>
              </p:ext>
            </p:extLst>
          </p:nvPr>
        </p:nvGraphicFramePr>
        <p:xfrm>
          <a:off x="7680960" y="1676565"/>
          <a:ext cx="4236719" cy="1719072"/>
        </p:xfrm>
        <a:graphic>
          <a:graphicData uri="http://schemas.openxmlformats.org/drawingml/2006/table">
            <a:tbl>
              <a:tblPr/>
              <a:tblGrid>
                <a:gridCol w="668501">
                  <a:extLst>
                    <a:ext uri="{9D8B030D-6E8A-4147-A177-3AD203B41FA5}">
                      <a16:colId xmlns:a16="http://schemas.microsoft.com/office/drawing/2014/main" val="20000"/>
                    </a:ext>
                  </a:extLst>
                </a:gridCol>
                <a:gridCol w="720553">
                  <a:extLst>
                    <a:ext uri="{9D8B030D-6E8A-4147-A177-3AD203B41FA5}">
                      <a16:colId xmlns:a16="http://schemas.microsoft.com/office/drawing/2014/main" val="20001"/>
                    </a:ext>
                  </a:extLst>
                </a:gridCol>
                <a:gridCol w="720553">
                  <a:extLst>
                    <a:ext uri="{9D8B030D-6E8A-4147-A177-3AD203B41FA5}">
                      <a16:colId xmlns:a16="http://schemas.microsoft.com/office/drawing/2014/main" val="20002"/>
                    </a:ext>
                  </a:extLst>
                </a:gridCol>
                <a:gridCol w="720553">
                  <a:extLst>
                    <a:ext uri="{9D8B030D-6E8A-4147-A177-3AD203B41FA5}">
                      <a16:colId xmlns:a16="http://schemas.microsoft.com/office/drawing/2014/main" val="20003"/>
                    </a:ext>
                  </a:extLst>
                </a:gridCol>
                <a:gridCol w="720553">
                  <a:extLst>
                    <a:ext uri="{9D8B030D-6E8A-4147-A177-3AD203B41FA5}">
                      <a16:colId xmlns:a16="http://schemas.microsoft.com/office/drawing/2014/main" val="20004"/>
                    </a:ext>
                  </a:extLst>
                </a:gridCol>
                <a:gridCol w="686006">
                  <a:extLst>
                    <a:ext uri="{9D8B030D-6E8A-4147-A177-3AD203B41FA5}">
                      <a16:colId xmlns:a16="http://schemas.microsoft.com/office/drawing/2014/main" val="20005"/>
                    </a:ext>
                  </a:extLst>
                </a:gridCol>
              </a:tblGrid>
              <a:tr h="429768">
                <a:tc>
                  <a:txBody>
                    <a:bodyPr/>
                    <a:lstStyle/>
                    <a:p>
                      <a:pPr marL="0" indent="0" algn="ctr">
                        <a:buNone/>
                      </a:pPr>
                      <a:r>
                        <a:rPr lang="en-US" sz="1150" b="1" dirty="0">
                          <a:solidFill>
                            <a:srgbClr val="FFFFFF"/>
                          </a:solidFill>
                        </a:rPr>
                        <a:t>模型</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Hits@10</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Hits@3</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Hits@1</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MRR</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tc>
                  <a:txBody>
                    <a:bodyPr/>
                    <a:lstStyle/>
                    <a:p>
                      <a:pPr marL="0" indent="0" algn="ctr">
                        <a:buNone/>
                      </a:pPr>
                      <a:r>
                        <a:rPr lang="en-US" sz="1150" b="1" dirty="0">
                          <a:solidFill>
                            <a:srgbClr val="FFFFFF"/>
                          </a:solidFill>
                        </a:rPr>
                        <a:t>MR↓</a:t>
                      </a:r>
                      <a:endParaRPr lang="en-US" sz="115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429768">
                <a:tc>
                  <a:txBody>
                    <a:bodyPr/>
                    <a:lstStyle/>
                    <a:p>
                      <a:pPr marL="0" indent="0" algn="ctr">
                        <a:buNone/>
                      </a:pPr>
                      <a:r>
                        <a:rPr lang="en-US" sz="1400" dirty="0">
                          <a:solidFill>
                            <a:srgbClr val="FFFFFF"/>
                          </a:solidFill>
                        </a:rPr>
                        <a:t>KLEC</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0.453</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0.417</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0.394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0.403</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302.74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lgn="ctr">
                        <a:buNone/>
                      </a:pPr>
                      <a:r>
                        <a:rPr lang="en-US" sz="1400" dirty="0" err="1">
                          <a:solidFill>
                            <a:srgbClr val="FFFFFF"/>
                          </a:solidFill>
                        </a:rPr>
                        <a:t>MuRP</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0.420</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0.336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0.238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0.238</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119.89</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lgn="ctr">
                        <a:buNone/>
                      </a:pPr>
                      <a:r>
                        <a:rPr lang="en-US" sz="1400" dirty="0">
                          <a:solidFill>
                            <a:srgbClr val="FFFFFF"/>
                          </a:solidFill>
                        </a:rPr>
                        <a:t>Ours</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0.471</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0.377</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0.314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0.314</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tc>
                  <a:txBody>
                    <a:bodyPr/>
                    <a:lstStyle/>
                    <a:p>
                      <a:pPr marL="0" indent="0" algn="ctr">
                        <a:buNone/>
                      </a:pPr>
                      <a:r>
                        <a:rPr lang="en-US" sz="1400" dirty="0">
                          <a:solidFill>
                            <a:srgbClr val="FFFFFF"/>
                          </a:solidFill>
                        </a:rPr>
                        <a:t>156.06</a:t>
                      </a:r>
                      <a:endParaRPr lang="en-US" sz="1400" dirty="0"/>
                    </a:p>
                  </a:txBody>
                  <a:tcPr anchor="ctr">
                    <a:lnL w="6350" cap="flat" cmpd="sng" algn="ctr">
                      <a:solidFill>
                        <a:srgbClr val="334455"/>
                      </a:solidFill>
                      <a:prstDash val="solid"/>
                      <a:round/>
                      <a:headEnd type="none" w="med" len="med"/>
                      <a:tailEnd type="none" w="med" len="med"/>
                    </a:lnL>
                    <a:lnR w="6350" cap="flat" cmpd="sng" algn="ctr">
                      <a:solidFill>
                        <a:srgbClr val="334455"/>
                      </a:solidFill>
                      <a:prstDash val="solid"/>
                      <a:round/>
                      <a:headEnd type="none" w="med" len="med"/>
                      <a:tailEnd type="none" w="med" len="med"/>
                    </a:lnR>
                    <a:lnT w="6350" cap="flat" cmpd="sng" algn="ctr">
                      <a:solidFill>
                        <a:srgbClr val="334455"/>
                      </a:solidFill>
                      <a:prstDash val="solid"/>
                      <a:round/>
                      <a:headEnd type="none" w="med" len="med"/>
                      <a:tailEnd type="none" w="med" len="med"/>
                    </a:lnT>
                    <a:lnB w="6350" cap="flat" cmpd="sng" algn="ctr">
                      <a:solidFill>
                        <a:srgbClr val="33445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文本框 24">
            <a:extLst>
              <a:ext uri="{FF2B5EF4-FFF2-40B4-BE49-F238E27FC236}">
                <a16:creationId xmlns:a16="http://schemas.microsoft.com/office/drawing/2014/main" id="{89AD3C10-34C4-579E-E0F9-9CB0CC64A11E}"/>
              </a:ext>
            </a:extLst>
          </p:cNvPr>
          <p:cNvSpPr txBox="1"/>
          <p:nvPr/>
        </p:nvSpPr>
        <p:spPr>
          <a:xfrm>
            <a:off x="7656246" y="1268434"/>
            <a:ext cx="4114800" cy="307777"/>
          </a:xfrm>
          <a:prstGeom prst="rect">
            <a:avLst/>
          </a:prstGeom>
          <a:noFill/>
        </p:spPr>
        <p:txBody>
          <a:bodyPr wrap="square" rtlCol="0">
            <a:spAutoFit/>
          </a:bodyPr>
          <a:lstStyle/>
          <a:p>
            <a:r>
              <a:rPr lang="zh-CN" altLang="en-US" sz="1400" dirty="0">
                <a:solidFill>
                  <a:schemeClr val="bg1"/>
                </a:solidFill>
              </a:rPr>
              <a:t>同方法在 </a:t>
            </a:r>
            <a:r>
              <a:rPr lang="en" altLang="zh-CN" sz="1400" dirty="0">
                <a:solidFill>
                  <a:schemeClr val="bg1"/>
                </a:solidFill>
              </a:rPr>
              <a:t>APT-Flat </a:t>
            </a:r>
            <a:r>
              <a:rPr lang="zh-CN" altLang="en-US" sz="1400" dirty="0">
                <a:solidFill>
                  <a:schemeClr val="bg1"/>
                </a:solidFill>
              </a:rPr>
              <a:t>上的偏好预测结果</a:t>
            </a:r>
            <a:r>
              <a:rPr lang="en-US" altLang="zh-CN" sz="1400" dirty="0">
                <a:solidFill>
                  <a:schemeClr val="bg1"/>
                </a:solidFill>
              </a:rPr>
              <a:t>(</a:t>
            </a:r>
            <a:r>
              <a:rPr lang="zh-CN" altLang="en-US" sz="1400" dirty="0">
                <a:solidFill>
                  <a:schemeClr val="bg1"/>
                </a:solidFill>
              </a:rPr>
              <a:t>对照参考</a:t>
            </a:r>
            <a:r>
              <a:rPr lang="en-US" altLang="zh-CN" sz="1400" dirty="0">
                <a:solidFill>
                  <a:schemeClr val="bg1"/>
                </a:solidFill>
              </a:rPr>
              <a:t>)</a:t>
            </a:r>
            <a:r>
              <a:rPr lang="zh-CN" altLang="en-US" sz="1400" dirty="0">
                <a:solidFill>
                  <a:schemeClr val="bg1"/>
                </a:solidFill>
              </a:rPr>
              <a:t>：</a:t>
            </a:r>
            <a:endParaRPr kumimoji="1" lang="zh-CN" altLang="en-US" sz="1400" dirty="0">
              <a:solidFill>
                <a:schemeClr val="bg1"/>
              </a:solidFill>
            </a:endParaRPr>
          </a:p>
        </p:txBody>
      </p:sp>
      <p:sp>
        <p:nvSpPr>
          <p:cNvPr id="26" name="文本框 25">
            <a:extLst>
              <a:ext uri="{FF2B5EF4-FFF2-40B4-BE49-F238E27FC236}">
                <a16:creationId xmlns:a16="http://schemas.microsoft.com/office/drawing/2014/main" id="{24C020C4-241F-D109-3F71-22E289A6EF25}"/>
              </a:ext>
            </a:extLst>
          </p:cNvPr>
          <p:cNvSpPr txBox="1"/>
          <p:nvPr/>
        </p:nvSpPr>
        <p:spPr>
          <a:xfrm>
            <a:off x="320040" y="1005840"/>
            <a:ext cx="4251677" cy="369332"/>
          </a:xfrm>
          <a:prstGeom prst="rect">
            <a:avLst/>
          </a:prstGeom>
          <a:noFill/>
        </p:spPr>
        <p:txBody>
          <a:bodyPr wrap="none" rtlCol="0">
            <a:spAutoFit/>
          </a:bodyPr>
          <a:lstStyle/>
          <a:p>
            <a:r>
              <a:rPr lang="en" altLang="zh-CN" dirty="0">
                <a:solidFill>
                  <a:schemeClr val="bg1"/>
                </a:solidFill>
              </a:rPr>
              <a:t>APT-</a:t>
            </a:r>
            <a:r>
              <a:rPr lang="en" altLang="zh-CN" dirty="0" err="1">
                <a:solidFill>
                  <a:schemeClr val="bg1"/>
                </a:solidFill>
              </a:rPr>
              <a:t>Hier</a:t>
            </a:r>
            <a:r>
              <a:rPr lang="en" altLang="zh-CN" dirty="0">
                <a:solidFill>
                  <a:schemeClr val="bg1"/>
                </a:solidFill>
              </a:rPr>
              <a:t> </a:t>
            </a:r>
            <a:r>
              <a:rPr lang="zh-CN" altLang="en-US" dirty="0">
                <a:solidFill>
                  <a:schemeClr val="bg1"/>
                </a:solidFill>
              </a:rPr>
              <a:t>完整对比</a:t>
            </a:r>
            <a:r>
              <a:rPr lang="en-US" altLang="zh-CN" dirty="0">
                <a:solidFill>
                  <a:schemeClr val="bg1"/>
                </a:solidFill>
              </a:rPr>
              <a:t>(</a:t>
            </a:r>
            <a:r>
              <a:rPr lang="zh-CN" altLang="en-US" dirty="0">
                <a:solidFill>
                  <a:schemeClr val="bg1"/>
                </a:solidFill>
              </a:rPr>
              <a:t>候选池</a:t>
            </a:r>
            <a:r>
              <a:rPr lang="en-US" altLang="zh-CN" dirty="0">
                <a:solidFill>
                  <a:schemeClr val="bg1"/>
                </a:solidFill>
              </a:rPr>
              <a:t>1483,</a:t>
            </a:r>
            <a:r>
              <a:rPr lang="zh-CN" altLang="en-US" dirty="0">
                <a:solidFill>
                  <a:schemeClr val="bg1"/>
                </a:solidFill>
              </a:rPr>
              <a:t>严格过滤</a:t>
            </a:r>
            <a:r>
              <a:rPr lang="en-US" altLang="zh-CN" dirty="0">
                <a:solidFill>
                  <a:schemeClr val="bg1"/>
                </a:solidFill>
              </a:rPr>
              <a:t>)</a:t>
            </a:r>
            <a:endParaRPr kumimoji="1" lang="zh-CN" altLang="en-US"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14  消融实验：组件有效性与协同关系</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486631325"/>
              </p:ext>
            </p:extLst>
          </p:nvPr>
        </p:nvGraphicFramePr>
        <p:xfrm>
          <a:off x="274320" y="1024128"/>
          <a:ext cx="11576306" cy="1737360"/>
        </p:xfrm>
        <a:graphic>
          <a:graphicData uri="http://schemas.openxmlformats.org/drawingml/2006/table">
            <a:tbl>
              <a:tblPr/>
              <a:tblGrid>
                <a:gridCol w="2532317">
                  <a:extLst>
                    <a:ext uri="{9D8B030D-6E8A-4147-A177-3AD203B41FA5}">
                      <a16:colId xmlns:a16="http://schemas.microsoft.com/office/drawing/2014/main" val="20000"/>
                    </a:ext>
                  </a:extLst>
                </a:gridCol>
                <a:gridCol w="1718358">
                  <a:extLst>
                    <a:ext uri="{9D8B030D-6E8A-4147-A177-3AD203B41FA5}">
                      <a16:colId xmlns:a16="http://schemas.microsoft.com/office/drawing/2014/main" val="20001"/>
                    </a:ext>
                  </a:extLst>
                </a:gridCol>
                <a:gridCol w="1175718">
                  <a:extLst>
                    <a:ext uri="{9D8B030D-6E8A-4147-A177-3AD203B41FA5}">
                      <a16:colId xmlns:a16="http://schemas.microsoft.com/office/drawing/2014/main" val="20002"/>
                    </a:ext>
                  </a:extLst>
                </a:gridCol>
                <a:gridCol w="1175718">
                  <a:extLst>
                    <a:ext uri="{9D8B030D-6E8A-4147-A177-3AD203B41FA5}">
                      <a16:colId xmlns:a16="http://schemas.microsoft.com/office/drawing/2014/main" val="20003"/>
                    </a:ext>
                  </a:extLst>
                </a:gridCol>
                <a:gridCol w="994839">
                  <a:extLst>
                    <a:ext uri="{9D8B030D-6E8A-4147-A177-3AD203B41FA5}">
                      <a16:colId xmlns:a16="http://schemas.microsoft.com/office/drawing/2014/main" val="20004"/>
                    </a:ext>
                  </a:extLst>
                </a:gridCol>
                <a:gridCol w="994839">
                  <a:extLst>
                    <a:ext uri="{9D8B030D-6E8A-4147-A177-3AD203B41FA5}">
                      <a16:colId xmlns:a16="http://schemas.microsoft.com/office/drawing/2014/main" val="20005"/>
                    </a:ext>
                  </a:extLst>
                </a:gridCol>
                <a:gridCol w="994839">
                  <a:extLst>
                    <a:ext uri="{9D8B030D-6E8A-4147-A177-3AD203B41FA5}">
                      <a16:colId xmlns:a16="http://schemas.microsoft.com/office/drawing/2014/main" val="20006"/>
                    </a:ext>
                  </a:extLst>
                </a:gridCol>
                <a:gridCol w="994839">
                  <a:extLst>
                    <a:ext uri="{9D8B030D-6E8A-4147-A177-3AD203B41FA5}">
                      <a16:colId xmlns:a16="http://schemas.microsoft.com/office/drawing/2014/main" val="20007"/>
                    </a:ext>
                  </a:extLst>
                </a:gridCol>
                <a:gridCol w="994839">
                  <a:extLst>
                    <a:ext uri="{9D8B030D-6E8A-4147-A177-3AD203B41FA5}">
                      <a16:colId xmlns:a16="http://schemas.microsoft.com/office/drawing/2014/main" val="1685414206"/>
                    </a:ext>
                  </a:extLst>
                </a:gridCol>
              </a:tblGrid>
              <a:tr h="347472">
                <a:tc>
                  <a:txBody>
                    <a:bodyPr/>
                    <a:lstStyle/>
                    <a:p>
                      <a:pPr marL="0" indent="0" algn="ctr">
                        <a:buNone/>
                      </a:pPr>
                      <a:r>
                        <a:rPr lang="en-US" sz="1200" b="1" dirty="0">
                          <a:solidFill>
                            <a:srgbClr val="FFFFFF"/>
                          </a:solidFill>
                        </a:rPr>
                        <a:t>配置变体</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几何空间</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层级重构</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欧式初始化</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Hits@10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Hits@1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200" b="1" dirty="0">
                          <a:solidFill>
                            <a:srgbClr val="FFFFFF"/>
                          </a:solidFill>
                        </a:rPr>
                        <a:t>MRR</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FFFF"/>
                          </a:solidFill>
                        </a:rPr>
                        <a:t>MR↓</a:t>
                      </a:r>
                      <a:endParaRPr lang="en-US" altLang="zh-CN"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47472">
                <a:tc>
                  <a:txBody>
                    <a:bodyPr/>
                    <a:lstStyle/>
                    <a:p>
                      <a:pPr marL="0" indent="0" algn="ctr">
                        <a:buNone/>
                      </a:pPr>
                      <a:r>
                        <a:rPr lang="en-US" sz="1200" b="1" dirty="0">
                          <a:solidFill>
                            <a:srgbClr val="000000"/>
                          </a:solidFill>
                        </a:rPr>
                        <a:t>完整模型（Ours）</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欧式 → 双曲</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0.514</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0.410</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0.337</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b="1" dirty="0">
                          <a:solidFill>
                            <a:srgbClr val="B71C1C"/>
                          </a:solidFill>
                        </a:rPr>
                        <a:t>0.428</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b="0" dirty="0"/>
                        <a:t>159.59</a:t>
                      </a:r>
                      <a:endParaRPr lang="en-US" sz="1400" b="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200" dirty="0">
                          <a:solidFill>
                            <a:srgbClr val="000000"/>
                          </a:solidFill>
                        </a:rPr>
                        <a:t>w/o 层级本体重构</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欧式 → 双曲</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0.471</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0.377</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0.314</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0.367</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dirty="0"/>
                        <a:t>156.06</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200" dirty="0">
                          <a:solidFill>
                            <a:srgbClr val="000000"/>
                          </a:solidFill>
                        </a:rPr>
                        <a:t>w/o 欧式语义迁移</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纯双曲（随机</a:t>
                      </a:r>
                      <a:r>
                        <a:rPr lang="en-US" sz="1400" dirty="0">
                          <a:solidFill>
                            <a:srgbClr val="000000"/>
                          </a:solidFill>
                        </a:rPr>
                        <a:t>init</a:t>
                      </a: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0.435</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0.336</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0.252</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0.3</a:t>
                      </a:r>
                      <a:r>
                        <a:rPr lang="en-US" altLang="zh-CN" sz="1400" dirty="0">
                          <a:solidFill>
                            <a:srgbClr val="000000"/>
                          </a:solidFill>
                        </a:rPr>
                        <a:t>24</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b="1" dirty="0"/>
                        <a:t>146.12</a:t>
                      </a:r>
                      <a:endParaRPr lang="en-US" sz="1400" b="1"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200" dirty="0">
                          <a:solidFill>
                            <a:srgbClr val="000000"/>
                          </a:solidFill>
                        </a:rPr>
                        <a:t>w/o 双曲建模</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纯欧式</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0.284</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0.142</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0.082</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400" dirty="0">
                          <a:solidFill>
                            <a:srgbClr val="000000"/>
                          </a:solidFill>
                        </a:rPr>
                        <a:t>0.140</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altLang="zh-CN" sz="1400" dirty="0"/>
                        <a:t>380.48</a:t>
                      </a:r>
                      <a:endParaRPr lang="en-US" sz="14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274320" y="2852928"/>
            <a:ext cx="3749040" cy="3218688"/>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7" name="Shape 4"/>
          <p:cNvSpPr/>
          <p:nvPr/>
        </p:nvSpPr>
        <p:spPr>
          <a:xfrm>
            <a:off x="274320" y="2852928"/>
            <a:ext cx="3749040" cy="457200"/>
          </a:xfrm>
          <a:prstGeom prst="rect">
            <a:avLst/>
          </a:prstGeom>
          <a:solidFill>
            <a:srgbClr val="1A3A6B"/>
          </a:solidFill>
          <a:ln w="12700">
            <a:solidFill>
              <a:srgbClr val="1A3A6B"/>
            </a:solidFill>
            <a:prstDash val="solid"/>
          </a:ln>
        </p:spPr>
      </p:sp>
      <p:sp>
        <p:nvSpPr>
          <p:cNvPr id="8" name="Text 5"/>
          <p:cNvSpPr/>
          <p:nvPr/>
        </p:nvSpPr>
        <p:spPr>
          <a:xfrm>
            <a:off x="320040" y="2852928"/>
            <a:ext cx="3657600" cy="457200"/>
          </a:xfrm>
          <a:prstGeom prst="rect">
            <a:avLst/>
          </a:prstGeom>
          <a:noFill/>
          <a:ln/>
        </p:spPr>
        <p:txBody>
          <a:bodyPr wrap="square" lIns="0" tIns="0" rIns="0" bIns="0" rtlCol="0" anchor="ctr"/>
          <a:lstStyle/>
          <a:p>
            <a:pPr marL="0" indent="0" algn="ctr">
              <a:buNone/>
            </a:pPr>
            <a:r>
              <a:rPr lang="en-US" sz="1400" b="1" dirty="0">
                <a:solidFill>
                  <a:srgbClr val="FFFFFF"/>
                </a:solidFill>
              </a:rPr>
              <a:t>发现 1：层级本体重构提供稳定增益</a:t>
            </a:r>
            <a:endParaRPr lang="en-US" sz="1400" dirty="0"/>
          </a:p>
        </p:txBody>
      </p:sp>
      <p:sp>
        <p:nvSpPr>
          <p:cNvPr id="9" name="Text 6"/>
          <p:cNvSpPr/>
          <p:nvPr/>
        </p:nvSpPr>
        <p:spPr>
          <a:xfrm>
            <a:off x="384048" y="3355848"/>
            <a:ext cx="3547872" cy="2011680"/>
          </a:xfrm>
          <a:prstGeom prst="rect">
            <a:avLst/>
          </a:prstGeom>
          <a:noFill/>
          <a:ln/>
        </p:spPr>
        <p:txBody>
          <a:bodyPr wrap="square" rtlCol="0" anchor="t"/>
          <a:lstStyle/>
          <a:p>
            <a:pPr marL="0" indent="0">
              <a:buNone/>
            </a:pPr>
            <a:r>
              <a:rPr lang="en-US" sz="1400" dirty="0" err="1">
                <a:solidFill>
                  <a:srgbClr val="0D1B2A"/>
                </a:solidFill>
              </a:rPr>
              <a:t>去掉数据层</a:t>
            </a:r>
            <a:r>
              <a:rPr lang="zh-CN" altLang="en-US" sz="1400" dirty="0">
                <a:solidFill>
                  <a:srgbClr val="0D1B2A"/>
                </a:solidFill>
              </a:rPr>
              <a:t>：</a:t>
            </a:r>
            <a:r>
              <a:rPr lang="en-US" altLang="zh-CN" sz="1400" b="1" dirty="0">
                <a:solidFill>
                  <a:srgbClr val="0D1B2A"/>
                </a:solidFill>
              </a:rPr>
              <a:t>0.514</a:t>
            </a:r>
            <a:r>
              <a:rPr lang="zh-CN" altLang="en-US" sz="1400" dirty="0">
                <a:solidFill>
                  <a:srgbClr val="0D1B2A"/>
                </a:solidFill>
              </a:rPr>
              <a:t> </a:t>
            </a:r>
            <a:r>
              <a:rPr lang="en-US" altLang="zh-CN" sz="1400" b="1" dirty="0"/>
              <a:t>→ 0.471</a:t>
            </a:r>
            <a:r>
              <a:rPr lang="zh-CN" altLang="en-US" sz="1400" dirty="0"/>
              <a:t>（</a:t>
            </a:r>
            <a:r>
              <a:rPr lang="en-US" altLang="zh-CN" sz="1400" dirty="0"/>
              <a:t>-0.043</a:t>
            </a:r>
            <a:r>
              <a:rPr lang="zh-CN" altLang="en-US" sz="1400" dirty="0"/>
              <a:t>，</a:t>
            </a:r>
            <a:r>
              <a:rPr lang="en-US" altLang="zh-CN" sz="1400" dirty="0"/>
              <a:t>-8.4%</a:t>
            </a:r>
            <a:r>
              <a:rPr lang="zh-CN" altLang="en-US" sz="1400" dirty="0"/>
              <a:t>）</a:t>
            </a:r>
            <a:endParaRPr lang="en-US" sz="1400" dirty="0">
              <a:solidFill>
                <a:srgbClr val="0D1B2A"/>
              </a:solidFill>
            </a:endParaRPr>
          </a:p>
          <a:p>
            <a:pPr marL="0" indent="0">
              <a:buNone/>
            </a:pPr>
            <a:r>
              <a:rPr lang="en-US" sz="1400" dirty="0" err="1">
                <a:solidFill>
                  <a:srgbClr val="0D1B2A"/>
                </a:solidFill>
              </a:rPr>
              <a:t>层级先验为双曲阶段提供额外结构信号</a:t>
            </a:r>
            <a:endParaRPr lang="en-US" sz="1400" dirty="0"/>
          </a:p>
          <a:p>
            <a:pPr marL="0" indent="0">
              <a:buNone/>
            </a:pPr>
            <a:r>
              <a:rPr lang="en-US" sz="1400" dirty="0">
                <a:solidFill>
                  <a:srgbClr val="0D1B2A"/>
                </a:solidFill>
              </a:rPr>
              <a:t>但去掉数据层时模型仍有功能（0.471&gt;0.435）</a:t>
            </a:r>
            <a:endParaRPr lang="en-US" sz="1400" dirty="0"/>
          </a:p>
        </p:txBody>
      </p:sp>
      <p:sp>
        <p:nvSpPr>
          <p:cNvPr id="10" name="Shape 7"/>
          <p:cNvSpPr/>
          <p:nvPr/>
        </p:nvSpPr>
        <p:spPr>
          <a:xfrm>
            <a:off x="274320" y="5623560"/>
            <a:ext cx="3749040" cy="384048"/>
          </a:xfrm>
          <a:prstGeom prst="rect">
            <a:avLst/>
          </a:prstGeom>
          <a:solidFill>
            <a:srgbClr val="1A3A6B"/>
          </a:solidFill>
          <a:ln w="12700">
            <a:solidFill>
              <a:srgbClr val="1A3A6B"/>
            </a:solidFill>
            <a:prstDash val="solid"/>
          </a:ln>
        </p:spPr>
      </p:sp>
      <p:sp>
        <p:nvSpPr>
          <p:cNvPr id="11" name="Text 8"/>
          <p:cNvSpPr/>
          <p:nvPr/>
        </p:nvSpPr>
        <p:spPr>
          <a:xfrm>
            <a:off x="274320" y="5623560"/>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rPr>
              <a:t>完整 vs w/o Hier</a:t>
            </a:r>
            <a:endParaRPr lang="en-US" sz="1400" dirty="0"/>
          </a:p>
        </p:txBody>
      </p:sp>
      <p:sp>
        <p:nvSpPr>
          <p:cNvPr id="12" name="Shape 9"/>
          <p:cNvSpPr/>
          <p:nvPr/>
        </p:nvSpPr>
        <p:spPr>
          <a:xfrm>
            <a:off x="4233672" y="2852928"/>
            <a:ext cx="3749040" cy="3218688"/>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3" name="Shape 10"/>
          <p:cNvSpPr/>
          <p:nvPr/>
        </p:nvSpPr>
        <p:spPr>
          <a:xfrm>
            <a:off x="4233672" y="2852928"/>
            <a:ext cx="3749040" cy="457200"/>
          </a:xfrm>
          <a:prstGeom prst="rect">
            <a:avLst/>
          </a:prstGeom>
          <a:solidFill>
            <a:srgbClr val="B71C1C"/>
          </a:solidFill>
          <a:ln w="12700">
            <a:solidFill>
              <a:srgbClr val="B71C1C"/>
            </a:solidFill>
            <a:prstDash val="solid"/>
          </a:ln>
        </p:spPr>
      </p:sp>
      <p:sp>
        <p:nvSpPr>
          <p:cNvPr id="14" name="Text 11"/>
          <p:cNvSpPr/>
          <p:nvPr/>
        </p:nvSpPr>
        <p:spPr>
          <a:xfrm>
            <a:off x="4279392" y="2852928"/>
            <a:ext cx="3657600" cy="457200"/>
          </a:xfrm>
          <a:prstGeom prst="rect">
            <a:avLst/>
          </a:prstGeom>
          <a:noFill/>
          <a:ln/>
        </p:spPr>
        <p:txBody>
          <a:bodyPr wrap="square" lIns="0" tIns="0" rIns="0" bIns="0" rtlCol="0" anchor="ctr"/>
          <a:lstStyle/>
          <a:p>
            <a:pPr marL="0" indent="0" algn="ctr">
              <a:buNone/>
            </a:pPr>
            <a:r>
              <a:rPr lang="en-US" sz="1400" b="1" dirty="0">
                <a:solidFill>
                  <a:srgbClr val="FFFFFF"/>
                </a:solidFill>
              </a:rPr>
              <a:t>发现 2：双曲建模是核心机制</a:t>
            </a:r>
            <a:endParaRPr lang="en-US" sz="1400" dirty="0"/>
          </a:p>
        </p:txBody>
      </p:sp>
      <p:sp>
        <p:nvSpPr>
          <p:cNvPr id="15" name="Text 12"/>
          <p:cNvSpPr/>
          <p:nvPr/>
        </p:nvSpPr>
        <p:spPr>
          <a:xfrm>
            <a:off x="4343400" y="3355848"/>
            <a:ext cx="3547872" cy="2011680"/>
          </a:xfrm>
          <a:prstGeom prst="rect">
            <a:avLst/>
          </a:prstGeom>
          <a:noFill/>
          <a:ln/>
        </p:spPr>
        <p:txBody>
          <a:bodyPr wrap="square" rtlCol="0" anchor="t"/>
          <a:lstStyle/>
          <a:p>
            <a:pPr marL="0" indent="0">
              <a:buNone/>
            </a:pPr>
            <a:r>
              <a:rPr lang="en-US" sz="1400" dirty="0">
                <a:solidFill>
                  <a:srgbClr val="0D1B2A"/>
                </a:solidFill>
              </a:rPr>
              <a:t>去掉双曲建模：</a:t>
            </a:r>
            <a:r>
              <a:rPr lang="en-US" sz="1400" b="1" dirty="0">
                <a:solidFill>
                  <a:srgbClr val="C00000"/>
                </a:solidFill>
              </a:rPr>
              <a:t>0.514</a:t>
            </a:r>
            <a:r>
              <a:rPr lang="zh-CN" altLang="en-US" sz="1400" b="1" dirty="0">
                <a:solidFill>
                  <a:srgbClr val="C00000"/>
                </a:solidFill>
              </a:rPr>
              <a:t> </a:t>
            </a:r>
            <a:r>
              <a:rPr lang="en-US" sz="1400" b="1" dirty="0">
                <a:solidFill>
                  <a:srgbClr val="C00000"/>
                </a:solidFill>
              </a:rPr>
              <a:t>→</a:t>
            </a:r>
            <a:r>
              <a:rPr lang="zh-CN" altLang="en-US" sz="1400" b="1" dirty="0">
                <a:solidFill>
                  <a:srgbClr val="C00000"/>
                </a:solidFill>
              </a:rPr>
              <a:t> </a:t>
            </a:r>
            <a:r>
              <a:rPr lang="en-US" sz="1400" b="1" dirty="0">
                <a:solidFill>
                  <a:srgbClr val="C00000"/>
                </a:solidFill>
              </a:rPr>
              <a:t>0.284</a:t>
            </a:r>
            <a:r>
              <a:rPr lang="en-US" sz="1400" dirty="0">
                <a:solidFill>
                  <a:srgbClr val="0D1B2A"/>
                </a:solidFill>
              </a:rPr>
              <a:t>（</a:t>
            </a:r>
            <a:r>
              <a:rPr lang="en-US" altLang="zh-CN" sz="1400" dirty="0">
                <a:solidFill>
                  <a:srgbClr val="0D1B2A"/>
                </a:solidFill>
              </a:rPr>
              <a:t>-0.230</a:t>
            </a:r>
            <a:r>
              <a:rPr lang="zh-CN" altLang="en-US" sz="1400" dirty="0">
                <a:solidFill>
                  <a:srgbClr val="0D1B2A"/>
                </a:solidFill>
              </a:rPr>
              <a:t>，</a:t>
            </a:r>
            <a:r>
              <a:rPr lang="en-US" sz="1400" dirty="0">
                <a:solidFill>
                  <a:srgbClr val="0D1B2A"/>
                </a:solidFill>
              </a:rPr>
              <a:t>-44.7%）</a:t>
            </a:r>
            <a:endParaRPr lang="en-US" sz="1400" dirty="0"/>
          </a:p>
          <a:p>
            <a:pPr marL="0" indent="0">
              <a:buNone/>
            </a:pPr>
            <a:r>
              <a:rPr lang="en-US" sz="1400" dirty="0">
                <a:solidFill>
                  <a:srgbClr val="0D1B2A"/>
                </a:solidFill>
              </a:rPr>
              <a:t>仅有层级数据 + 欧式模型反而比无层级更低</a:t>
            </a:r>
            <a:endParaRPr lang="en-US" sz="1400" dirty="0"/>
          </a:p>
          <a:p>
            <a:pPr marL="0" indent="0">
              <a:buNone/>
            </a:pPr>
            <a:r>
              <a:rPr lang="en-US" sz="1400" dirty="0">
                <a:solidFill>
                  <a:srgbClr val="0D1B2A"/>
                </a:solidFill>
              </a:rPr>
              <a:t>→ 欧式空间无法有效利用 subClassOf 结构信号</a:t>
            </a:r>
            <a:endParaRPr lang="en-US" sz="1400" dirty="0"/>
          </a:p>
        </p:txBody>
      </p:sp>
      <p:sp>
        <p:nvSpPr>
          <p:cNvPr id="5" name="Shape 13"/>
          <p:cNvSpPr/>
          <p:nvPr/>
        </p:nvSpPr>
        <p:spPr>
          <a:xfrm>
            <a:off x="4233672" y="5623560"/>
            <a:ext cx="3749040" cy="384048"/>
          </a:xfrm>
          <a:prstGeom prst="rect">
            <a:avLst/>
          </a:prstGeom>
          <a:solidFill>
            <a:srgbClr val="B71C1C"/>
          </a:solidFill>
          <a:ln w="12700">
            <a:solidFill>
              <a:srgbClr val="B71C1C"/>
            </a:solidFill>
            <a:prstDash val="solid"/>
          </a:ln>
        </p:spPr>
      </p:sp>
      <p:sp>
        <p:nvSpPr>
          <p:cNvPr id="17" name="Text 14"/>
          <p:cNvSpPr/>
          <p:nvPr/>
        </p:nvSpPr>
        <p:spPr>
          <a:xfrm>
            <a:off x="4233672" y="5623560"/>
            <a:ext cx="3749040" cy="384048"/>
          </a:xfrm>
          <a:prstGeom prst="rect">
            <a:avLst/>
          </a:prstGeom>
          <a:noFill/>
          <a:ln/>
        </p:spPr>
        <p:txBody>
          <a:bodyPr wrap="square" lIns="0" tIns="0" rIns="0" bIns="0" rtlCol="0" anchor="ctr"/>
          <a:lstStyle/>
          <a:p>
            <a:pPr marL="0" indent="0" algn="ctr">
              <a:buNone/>
            </a:pPr>
            <a:r>
              <a:rPr lang="en-US" sz="1400" b="1" dirty="0">
                <a:solidFill>
                  <a:srgbClr val="FFFFFF"/>
                </a:solidFill>
              </a:rPr>
              <a:t>w/o Hyp 降幅最大</a:t>
            </a:r>
            <a:endParaRPr lang="en-US" sz="1400" dirty="0"/>
          </a:p>
        </p:txBody>
      </p:sp>
      <p:sp>
        <p:nvSpPr>
          <p:cNvPr id="18" name="Shape 15"/>
          <p:cNvSpPr/>
          <p:nvPr/>
        </p:nvSpPr>
        <p:spPr>
          <a:xfrm>
            <a:off x="8193024" y="2852928"/>
            <a:ext cx="3749040" cy="3218688"/>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9" name="Shape 16"/>
          <p:cNvSpPr/>
          <p:nvPr/>
        </p:nvSpPr>
        <p:spPr>
          <a:xfrm>
            <a:off x="8193024" y="2852928"/>
            <a:ext cx="3749040" cy="457200"/>
          </a:xfrm>
          <a:prstGeom prst="rect">
            <a:avLst/>
          </a:prstGeom>
          <a:solidFill>
            <a:srgbClr val="1B5E20"/>
          </a:solidFill>
          <a:ln w="12700">
            <a:solidFill>
              <a:srgbClr val="1B5E20"/>
            </a:solidFill>
            <a:prstDash val="solid"/>
          </a:ln>
        </p:spPr>
      </p:sp>
      <p:sp>
        <p:nvSpPr>
          <p:cNvPr id="20" name="Text 17"/>
          <p:cNvSpPr/>
          <p:nvPr/>
        </p:nvSpPr>
        <p:spPr>
          <a:xfrm>
            <a:off x="8238744" y="2852928"/>
            <a:ext cx="3657600" cy="457200"/>
          </a:xfrm>
          <a:prstGeom prst="rect">
            <a:avLst/>
          </a:prstGeom>
          <a:noFill/>
          <a:ln/>
        </p:spPr>
        <p:txBody>
          <a:bodyPr wrap="square" lIns="0" tIns="0" rIns="0" bIns="0" rtlCol="0" anchor="ctr"/>
          <a:lstStyle/>
          <a:p>
            <a:pPr marL="0" indent="0" algn="ctr">
              <a:buNone/>
            </a:pPr>
            <a:r>
              <a:rPr lang="en-US" sz="1400" b="1" dirty="0">
                <a:solidFill>
                  <a:srgbClr val="FFFFFF"/>
                </a:solidFill>
              </a:rPr>
              <a:t>发现 3：两层存在协同依赖</a:t>
            </a:r>
            <a:endParaRPr lang="en-US" sz="1400" dirty="0"/>
          </a:p>
        </p:txBody>
      </p:sp>
      <p:sp>
        <p:nvSpPr>
          <p:cNvPr id="21" name="Text 18"/>
          <p:cNvSpPr/>
          <p:nvPr/>
        </p:nvSpPr>
        <p:spPr>
          <a:xfrm>
            <a:off x="8302752" y="3355848"/>
            <a:ext cx="3547872" cy="2011680"/>
          </a:xfrm>
          <a:prstGeom prst="rect">
            <a:avLst/>
          </a:prstGeom>
          <a:noFill/>
          <a:ln/>
        </p:spPr>
        <p:txBody>
          <a:bodyPr wrap="square" rtlCol="0" anchor="t"/>
          <a:lstStyle/>
          <a:p>
            <a:pPr marL="0" indent="0">
              <a:buNone/>
            </a:pPr>
            <a:r>
              <a:rPr lang="en-US" sz="1400" dirty="0" err="1">
                <a:solidFill>
                  <a:srgbClr val="0D1B2A"/>
                </a:solidFill>
              </a:rPr>
              <a:t>去掉欧式初始化</a:t>
            </a:r>
            <a:r>
              <a:rPr lang="zh-CN" altLang="en-US" sz="1400" dirty="0">
                <a:solidFill>
                  <a:srgbClr val="0D1B2A"/>
                </a:solidFill>
              </a:rPr>
              <a:t>：</a:t>
            </a:r>
            <a:r>
              <a:rPr lang="en-US" altLang="zh-CN" sz="1400" b="1" dirty="0">
                <a:solidFill>
                  <a:srgbClr val="0D1B2A"/>
                </a:solidFill>
              </a:rPr>
              <a:t>0.514</a:t>
            </a:r>
            <a:r>
              <a:rPr lang="zh-CN" altLang="en-US" sz="1400" b="1" dirty="0">
                <a:solidFill>
                  <a:srgbClr val="0D1B2A"/>
                </a:solidFill>
              </a:rPr>
              <a:t> </a:t>
            </a:r>
            <a:r>
              <a:rPr lang="en-US" sz="1400" b="1" dirty="0">
                <a:solidFill>
                  <a:srgbClr val="0D1B2A"/>
                </a:solidFill>
              </a:rPr>
              <a:t>→</a:t>
            </a:r>
            <a:r>
              <a:rPr lang="en-US" altLang="zh-CN" sz="1400" b="1" dirty="0">
                <a:solidFill>
                  <a:srgbClr val="0D1B2A"/>
                </a:solidFill>
              </a:rPr>
              <a:t> 0.435</a:t>
            </a:r>
            <a:r>
              <a:rPr lang="zh-CN" altLang="en-US" sz="1400" dirty="0">
                <a:solidFill>
                  <a:srgbClr val="0D1B2A"/>
                </a:solidFill>
              </a:rPr>
              <a:t>（</a:t>
            </a:r>
            <a:r>
              <a:rPr lang="en-US" altLang="zh-CN" sz="1400" dirty="0">
                <a:solidFill>
                  <a:srgbClr val="0D1B2A"/>
                </a:solidFill>
              </a:rPr>
              <a:t>-0.079</a:t>
            </a:r>
            <a:r>
              <a:rPr lang="zh-CN" altLang="en-US" sz="1400" dirty="0">
                <a:solidFill>
                  <a:srgbClr val="0D1B2A"/>
                </a:solidFill>
              </a:rPr>
              <a:t>，</a:t>
            </a:r>
            <a:r>
              <a:rPr lang="en-US" altLang="zh-CN" sz="1400" dirty="0">
                <a:solidFill>
                  <a:srgbClr val="0D1B2A"/>
                </a:solidFill>
              </a:rPr>
              <a:t>-15.4%</a:t>
            </a:r>
            <a:r>
              <a:rPr lang="zh-CN" altLang="en-US" sz="1400" dirty="0">
                <a:solidFill>
                  <a:srgbClr val="0D1B2A"/>
                </a:solidFill>
              </a:rPr>
              <a:t>）</a:t>
            </a:r>
            <a:endParaRPr lang="en-US" sz="1400" dirty="0"/>
          </a:p>
          <a:p>
            <a:pPr marL="0" indent="0">
              <a:buNone/>
            </a:pPr>
            <a:r>
              <a:rPr lang="en-US" sz="1400" dirty="0">
                <a:solidFill>
                  <a:srgbClr val="0D1B2A"/>
                </a:solidFill>
              </a:rPr>
              <a:t>任一组件缺失均削弱整体性能</a:t>
            </a:r>
            <a:endParaRPr lang="en-US" sz="1400" dirty="0"/>
          </a:p>
          <a:p>
            <a:pPr marL="0" indent="0">
              <a:buNone/>
            </a:pPr>
            <a:r>
              <a:rPr lang="en-US" sz="1400" dirty="0">
                <a:solidFill>
                  <a:srgbClr val="0D1B2A"/>
                </a:solidFill>
              </a:rPr>
              <a:t>数据层层级约束 ↔ 模型层双曲建模相互增强</a:t>
            </a:r>
            <a:endParaRPr lang="en-US" sz="1400" dirty="0"/>
          </a:p>
        </p:txBody>
      </p:sp>
      <p:sp>
        <p:nvSpPr>
          <p:cNvPr id="22" name="Shape 19"/>
          <p:cNvSpPr/>
          <p:nvPr/>
        </p:nvSpPr>
        <p:spPr>
          <a:xfrm>
            <a:off x="8193024" y="5623560"/>
            <a:ext cx="3749040" cy="384048"/>
          </a:xfrm>
          <a:prstGeom prst="rect">
            <a:avLst/>
          </a:prstGeom>
          <a:solidFill>
            <a:srgbClr val="1B5E20"/>
          </a:solidFill>
          <a:ln w="12700">
            <a:solidFill>
              <a:srgbClr val="1B5E20"/>
            </a:solidFill>
            <a:prstDash val="solid"/>
          </a:ln>
        </p:spPr>
      </p:sp>
      <p:sp>
        <p:nvSpPr>
          <p:cNvPr id="23" name="Text 20"/>
          <p:cNvSpPr/>
          <p:nvPr/>
        </p:nvSpPr>
        <p:spPr>
          <a:xfrm>
            <a:off x="8193024" y="5623560"/>
            <a:ext cx="3749040" cy="384048"/>
          </a:xfrm>
          <a:prstGeom prst="rect">
            <a:avLst/>
          </a:prstGeom>
          <a:noFill/>
          <a:ln/>
        </p:spPr>
        <p:txBody>
          <a:bodyPr wrap="square" lIns="0" tIns="0" rIns="0" bIns="0" rtlCol="0" anchor="ctr"/>
          <a:lstStyle/>
          <a:p>
            <a:pPr marL="0" indent="0" algn="ctr">
              <a:buNone/>
            </a:pPr>
            <a:r>
              <a:rPr lang="en-US" sz="1200" b="1" dirty="0">
                <a:solidFill>
                  <a:srgbClr val="FFFFFF"/>
                </a:solidFill>
              </a:rPr>
              <a:t>协同 &gt; 独立之和</a:t>
            </a:r>
            <a:endParaRPr lang="en-US" sz="1200" dirty="0"/>
          </a:p>
        </p:txBody>
      </p:sp>
      <p:sp>
        <p:nvSpPr>
          <p:cNvPr id="24" name="Shape 21"/>
          <p:cNvSpPr/>
          <p:nvPr/>
        </p:nvSpPr>
        <p:spPr>
          <a:xfrm>
            <a:off x="274320" y="6080760"/>
            <a:ext cx="11612880" cy="457200"/>
          </a:xfrm>
          <a:prstGeom prst="rect">
            <a:avLst/>
          </a:prstGeom>
          <a:solidFill>
            <a:srgbClr val="E3F2FD"/>
          </a:solidFill>
          <a:ln w="12700">
            <a:solidFill>
              <a:srgbClr val="1A3A6B"/>
            </a:solidFill>
            <a:prstDash val="solid"/>
          </a:ln>
        </p:spPr>
      </p:sp>
      <p:sp>
        <p:nvSpPr>
          <p:cNvPr id="25" name="Text 22"/>
          <p:cNvSpPr/>
          <p:nvPr/>
        </p:nvSpPr>
        <p:spPr>
          <a:xfrm>
            <a:off x="411480" y="6080760"/>
            <a:ext cx="11338560" cy="457200"/>
          </a:xfrm>
          <a:prstGeom prst="rect">
            <a:avLst/>
          </a:prstGeom>
          <a:noFill/>
          <a:ln/>
        </p:spPr>
        <p:txBody>
          <a:bodyPr wrap="square" rtlCol="0" anchor="ctr"/>
          <a:lstStyle/>
          <a:p>
            <a:pPr marL="0" indent="0">
              <a:buNone/>
            </a:pPr>
            <a:r>
              <a:rPr lang="en-US" sz="1200" dirty="0">
                <a:solidFill>
                  <a:srgbClr val="1A3A6B"/>
                </a:solidFill>
              </a:rPr>
              <a:t>去除双曲建模（纯欧式）后 Hits@10 = 0.284，低于 APT-Flat 上的欧式基线（最高 0.606）— 印证欧式空间对 subClassOf 结构信号的负迁移</a:t>
            </a:r>
            <a:endParaRPr lang="en-US" sz="1200" dirty="0"/>
          </a:p>
        </p:txBody>
      </p:sp>
      <p:sp>
        <p:nvSpPr>
          <p:cNvPr id="26" name="Text 23"/>
          <p:cNvSpPr/>
          <p:nvPr/>
        </p:nvSpPr>
        <p:spPr>
          <a:xfrm>
            <a:off x="11541211" y="6671412"/>
            <a:ext cx="574589" cy="109728"/>
          </a:xfrm>
          <a:prstGeom prst="rect">
            <a:avLst/>
          </a:prstGeom>
          <a:noFill/>
          <a:ln/>
        </p:spPr>
        <p:txBody>
          <a:bodyPr wrap="square" rtlCol="0" anchor="ctr"/>
          <a:lstStyle/>
          <a:p>
            <a:pPr marL="0" indent="0" algn="r">
              <a:buNone/>
            </a:pPr>
            <a:r>
              <a:rPr lang="en-US" sz="900" dirty="0">
                <a:solidFill>
                  <a:srgbClr val="90A4AE"/>
                </a:solidFill>
              </a:rPr>
              <a:t>15/18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15  双曲空间几何解释 + 层级约束注入规模敏感性</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Text 3"/>
          <p:cNvSpPr/>
          <p:nvPr/>
        </p:nvSpPr>
        <p:spPr>
          <a:xfrm>
            <a:off x="274320" y="1024128"/>
            <a:ext cx="5760720" cy="347472"/>
          </a:xfrm>
          <a:prstGeom prst="rect">
            <a:avLst/>
          </a:prstGeom>
          <a:noFill/>
          <a:ln/>
        </p:spPr>
        <p:txBody>
          <a:bodyPr wrap="square" rtlCol="0" anchor="ctr"/>
          <a:lstStyle/>
          <a:p>
            <a:pPr marL="0" indent="0">
              <a:buNone/>
            </a:pPr>
            <a:r>
              <a:rPr lang="en-US" sz="1600" b="1" dirty="0">
                <a:solidFill>
                  <a:srgbClr val="1A3A6B"/>
                </a:solidFill>
              </a:rPr>
              <a:t>庞加莱球中三类偏好关系的径向分布</a:t>
            </a:r>
            <a:endParaRPr lang="en-US" sz="1400" dirty="0"/>
          </a:p>
        </p:txBody>
      </p:sp>
      <p:sp>
        <p:nvSpPr>
          <p:cNvPr id="6" name="Shape 4"/>
          <p:cNvSpPr/>
          <p:nvPr/>
        </p:nvSpPr>
        <p:spPr>
          <a:xfrm>
            <a:off x="274320" y="1417320"/>
            <a:ext cx="5760720" cy="1353312"/>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7" name="Shape 5"/>
          <p:cNvSpPr/>
          <p:nvPr/>
        </p:nvSpPr>
        <p:spPr>
          <a:xfrm>
            <a:off x="274320" y="1417320"/>
            <a:ext cx="1097280" cy="1353312"/>
          </a:xfrm>
          <a:prstGeom prst="rect">
            <a:avLst/>
          </a:prstGeom>
          <a:solidFill>
            <a:srgbClr val="B71C1C"/>
          </a:solidFill>
          <a:ln w="12700">
            <a:solidFill>
              <a:srgbClr val="B71C1C"/>
            </a:solidFill>
            <a:prstDash val="solid"/>
          </a:ln>
        </p:spPr>
      </p:sp>
      <p:sp>
        <p:nvSpPr>
          <p:cNvPr id="8" name="Text 6"/>
          <p:cNvSpPr/>
          <p:nvPr/>
        </p:nvSpPr>
        <p:spPr>
          <a:xfrm>
            <a:off x="274320" y="1417320"/>
            <a:ext cx="1097280" cy="548640"/>
          </a:xfrm>
          <a:prstGeom prst="rect">
            <a:avLst/>
          </a:prstGeom>
          <a:noFill/>
          <a:ln/>
        </p:spPr>
        <p:txBody>
          <a:bodyPr wrap="square" lIns="0" tIns="0" rIns="0" bIns="0" rtlCol="0" anchor="ctr"/>
          <a:lstStyle/>
          <a:p>
            <a:pPr marL="0" indent="0" algn="ctr">
              <a:buNone/>
            </a:pPr>
            <a:r>
              <a:rPr lang="en-US" sz="1600" b="1" dirty="0">
                <a:solidFill>
                  <a:srgbClr val="FFFFFF"/>
                </a:solidFill>
              </a:rPr>
              <a:t>target</a:t>
            </a:r>
            <a:endParaRPr lang="en-US" sz="1600" dirty="0"/>
          </a:p>
        </p:txBody>
      </p:sp>
      <p:sp>
        <p:nvSpPr>
          <p:cNvPr id="9" name="Text 7"/>
          <p:cNvSpPr/>
          <p:nvPr/>
        </p:nvSpPr>
        <p:spPr>
          <a:xfrm>
            <a:off x="274320" y="1874520"/>
            <a:ext cx="1097280" cy="804672"/>
          </a:xfrm>
          <a:prstGeom prst="rect">
            <a:avLst/>
          </a:prstGeom>
          <a:noFill/>
          <a:ln/>
        </p:spPr>
        <p:txBody>
          <a:bodyPr wrap="square" lIns="0" tIns="0" rIns="0" bIns="0" rtlCol="0" anchor="ctr"/>
          <a:lstStyle/>
          <a:p>
            <a:pPr marL="0" indent="0" algn="ctr">
              <a:buNone/>
            </a:pPr>
            <a:r>
              <a:rPr lang="en-US" sz="1200" dirty="0">
                <a:solidFill>
                  <a:srgbClr val="DDEEFF"/>
                </a:solidFill>
              </a:rPr>
              <a:t>r ≈ 0.3–0.4</a:t>
            </a:r>
          </a:p>
          <a:p>
            <a:pPr marL="0" indent="0" algn="ctr">
              <a:buNone/>
            </a:pPr>
            <a:r>
              <a:rPr lang="en-US" sz="1200" dirty="0">
                <a:solidFill>
                  <a:srgbClr val="DDEEFF"/>
                </a:solidFill>
              </a:rPr>
              <a:t>（内层）</a:t>
            </a:r>
            <a:endParaRPr lang="en-US" sz="1200" dirty="0"/>
          </a:p>
        </p:txBody>
      </p:sp>
      <p:sp>
        <p:nvSpPr>
          <p:cNvPr id="10" name="Text 8"/>
          <p:cNvSpPr/>
          <p:nvPr/>
        </p:nvSpPr>
        <p:spPr>
          <a:xfrm>
            <a:off x="1444752" y="1444752"/>
            <a:ext cx="4462272" cy="347472"/>
          </a:xfrm>
          <a:prstGeom prst="rect">
            <a:avLst/>
          </a:prstGeom>
          <a:noFill/>
          <a:ln/>
        </p:spPr>
        <p:txBody>
          <a:bodyPr wrap="square" rtlCol="0" anchor="ctr"/>
          <a:lstStyle/>
          <a:p>
            <a:pPr marL="0" indent="0">
              <a:buNone/>
            </a:pPr>
            <a:r>
              <a:rPr lang="en-US" sz="1400" b="1" dirty="0">
                <a:solidFill>
                  <a:srgbClr val="B71C1C"/>
                </a:solidFill>
              </a:rPr>
              <a:t>目标行业预测</a:t>
            </a:r>
            <a:endParaRPr lang="en-US" sz="1400" dirty="0"/>
          </a:p>
        </p:txBody>
      </p:sp>
      <p:sp>
        <p:nvSpPr>
          <p:cNvPr id="11" name="Text 9"/>
          <p:cNvSpPr/>
          <p:nvPr/>
        </p:nvSpPr>
        <p:spPr>
          <a:xfrm>
            <a:off x="1444752" y="1810512"/>
            <a:ext cx="4462272" cy="822960"/>
          </a:xfrm>
          <a:prstGeom prst="rect">
            <a:avLst/>
          </a:prstGeom>
          <a:noFill/>
          <a:ln/>
        </p:spPr>
        <p:txBody>
          <a:bodyPr wrap="square" rtlCol="0" anchor="t"/>
          <a:lstStyle/>
          <a:p>
            <a:pPr marL="0" indent="0">
              <a:buNone/>
            </a:pPr>
            <a:r>
              <a:rPr lang="en-US" sz="1400" dirty="0">
                <a:solidFill>
                  <a:srgbClr val="0D1B2A"/>
                </a:solidFill>
              </a:rPr>
              <a:t>集中于球心区域，攻击组织与目标行业关联稳定，局部簇结构清晰</a:t>
            </a:r>
            <a:endParaRPr lang="en-US" sz="1400" dirty="0"/>
          </a:p>
        </p:txBody>
      </p:sp>
      <p:sp>
        <p:nvSpPr>
          <p:cNvPr id="12" name="Shape 10"/>
          <p:cNvSpPr/>
          <p:nvPr/>
        </p:nvSpPr>
        <p:spPr>
          <a:xfrm>
            <a:off x="274320" y="2862072"/>
            <a:ext cx="5760720" cy="1353312"/>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3" name="Shape 11"/>
          <p:cNvSpPr/>
          <p:nvPr/>
        </p:nvSpPr>
        <p:spPr>
          <a:xfrm>
            <a:off x="274320" y="2862072"/>
            <a:ext cx="1097280" cy="1353312"/>
          </a:xfrm>
          <a:prstGeom prst="rect">
            <a:avLst/>
          </a:prstGeom>
          <a:solidFill>
            <a:srgbClr val="1A3A6B"/>
          </a:solidFill>
          <a:ln w="12700">
            <a:solidFill>
              <a:srgbClr val="1A3A6B"/>
            </a:solidFill>
            <a:prstDash val="solid"/>
          </a:ln>
        </p:spPr>
      </p:sp>
      <p:sp>
        <p:nvSpPr>
          <p:cNvPr id="14" name="Text 12"/>
          <p:cNvSpPr/>
          <p:nvPr/>
        </p:nvSpPr>
        <p:spPr>
          <a:xfrm>
            <a:off x="274320" y="2862072"/>
            <a:ext cx="1097280" cy="548640"/>
          </a:xfrm>
          <a:prstGeom prst="rect">
            <a:avLst/>
          </a:prstGeom>
          <a:noFill/>
          <a:ln/>
        </p:spPr>
        <p:txBody>
          <a:bodyPr wrap="square" lIns="0" tIns="0" rIns="0" bIns="0" rtlCol="0" anchor="ctr"/>
          <a:lstStyle/>
          <a:p>
            <a:pPr marL="0" indent="0" algn="ctr">
              <a:buNone/>
            </a:pPr>
            <a:r>
              <a:rPr lang="en-US" sz="1600" b="1" dirty="0">
                <a:solidFill>
                  <a:srgbClr val="FFFFFF"/>
                </a:solidFill>
              </a:rPr>
              <a:t>use</a:t>
            </a:r>
            <a:endParaRPr lang="en-US" sz="1600" dirty="0"/>
          </a:p>
        </p:txBody>
      </p:sp>
      <p:sp>
        <p:nvSpPr>
          <p:cNvPr id="15" name="Text 13"/>
          <p:cNvSpPr/>
          <p:nvPr/>
        </p:nvSpPr>
        <p:spPr>
          <a:xfrm>
            <a:off x="274320" y="3319272"/>
            <a:ext cx="1097280" cy="804672"/>
          </a:xfrm>
          <a:prstGeom prst="rect">
            <a:avLst/>
          </a:prstGeom>
          <a:noFill/>
          <a:ln/>
        </p:spPr>
        <p:txBody>
          <a:bodyPr wrap="square" lIns="0" tIns="0" rIns="0" bIns="0" rtlCol="0" anchor="ctr"/>
          <a:lstStyle/>
          <a:p>
            <a:pPr marL="0" indent="0" algn="ctr">
              <a:buNone/>
            </a:pPr>
            <a:r>
              <a:rPr lang="en-US" sz="1200" dirty="0">
                <a:solidFill>
                  <a:srgbClr val="DDEEFF"/>
                </a:solidFill>
              </a:rPr>
              <a:t>r ≈ 0.6–0.7</a:t>
            </a:r>
          </a:p>
          <a:p>
            <a:pPr marL="0" indent="0" algn="ctr">
              <a:buNone/>
            </a:pPr>
            <a:r>
              <a:rPr lang="en-US" sz="1200" dirty="0">
                <a:solidFill>
                  <a:srgbClr val="DDEEFF"/>
                </a:solidFill>
              </a:rPr>
              <a:t>（中层）</a:t>
            </a:r>
            <a:endParaRPr lang="en-US" sz="1200" dirty="0"/>
          </a:p>
        </p:txBody>
      </p:sp>
      <p:sp>
        <p:nvSpPr>
          <p:cNvPr id="16" name="Text 14"/>
          <p:cNvSpPr/>
          <p:nvPr/>
        </p:nvSpPr>
        <p:spPr>
          <a:xfrm>
            <a:off x="1444752" y="2889504"/>
            <a:ext cx="4462272" cy="347472"/>
          </a:xfrm>
          <a:prstGeom prst="rect">
            <a:avLst/>
          </a:prstGeom>
          <a:noFill/>
          <a:ln/>
        </p:spPr>
        <p:txBody>
          <a:bodyPr wrap="square" rtlCol="0" anchor="ctr"/>
          <a:lstStyle/>
          <a:p>
            <a:pPr marL="0" indent="0">
              <a:buNone/>
            </a:pPr>
            <a:r>
              <a:rPr lang="en-US" sz="1400" b="1" dirty="0">
                <a:solidFill>
                  <a:srgbClr val="1A3A6B"/>
                </a:solidFill>
              </a:rPr>
              <a:t>工具使用预测</a:t>
            </a:r>
            <a:endParaRPr lang="en-US" sz="1400" dirty="0"/>
          </a:p>
        </p:txBody>
      </p:sp>
      <p:sp>
        <p:nvSpPr>
          <p:cNvPr id="17" name="Text 15"/>
          <p:cNvSpPr/>
          <p:nvPr/>
        </p:nvSpPr>
        <p:spPr>
          <a:xfrm>
            <a:off x="1444752" y="3255264"/>
            <a:ext cx="4462272" cy="822960"/>
          </a:xfrm>
          <a:prstGeom prst="rect">
            <a:avLst/>
          </a:prstGeom>
          <a:noFill/>
          <a:ln/>
        </p:spPr>
        <p:txBody>
          <a:bodyPr wrap="square" rtlCol="0" anchor="t"/>
          <a:lstStyle/>
          <a:p>
            <a:pPr marL="0" indent="0">
              <a:buNone/>
            </a:pPr>
            <a:r>
              <a:rPr lang="en-US" sz="1400" dirty="0">
                <a:solidFill>
                  <a:srgbClr val="0D1B2A"/>
                </a:solidFill>
              </a:rPr>
              <a:t>分布较分散，反映工具在不同组织间的复用现象</a:t>
            </a:r>
            <a:endParaRPr lang="en-US" sz="1400" dirty="0"/>
          </a:p>
        </p:txBody>
      </p:sp>
      <p:sp>
        <p:nvSpPr>
          <p:cNvPr id="18" name="Shape 16"/>
          <p:cNvSpPr/>
          <p:nvPr/>
        </p:nvSpPr>
        <p:spPr>
          <a:xfrm>
            <a:off x="274320" y="4306824"/>
            <a:ext cx="5760720" cy="1353312"/>
          </a:xfrm>
          <a:prstGeom prst="rect">
            <a:avLst/>
          </a:prstGeom>
          <a:solidFill>
            <a:srgbClr val="FFFFFF"/>
          </a:solidFill>
          <a:ln w="6350">
            <a:solidFill>
              <a:srgbClr val="CCCCCC"/>
            </a:solidFill>
            <a:prstDash val="solid"/>
          </a:ln>
          <a:effectLst>
            <a:outerShdw blurRad="76200" dist="25400" dir="8100000" algn="bl" rotWithShape="0">
              <a:srgbClr val="000000">
                <a:alpha val="12000"/>
              </a:srgbClr>
            </a:outerShdw>
          </a:effectLst>
        </p:spPr>
      </p:sp>
      <p:sp>
        <p:nvSpPr>
          <p:cNvPr id="19" name="Shape 17"/>
          <p:cNvSpPr/>
          <p:nvPr/>
        </p:nvSpPr>
        <p:spPr>
          <a:xfrm>
            <a:off x="274320" y="4306824"/>
            <a:ext cx="1097280" cy="1353312"/>
          </a:xfrm>
          <a:prstGeom prst="rect">
            <a:avLst/>
          </a:prstGeom>
          <a:solidFill>
            <a:srgbClr val="E65100"/>
          </a:solidFill>
          <a:ln w="12700">
            <a:solidFill>
              <a:srgbClr val="E65100"/>
            </a:solidFill>
            <a:prstDash val="solid"/>
          </a:ln>
        </p:spPr>
      </p:sp>
      <p:sp>
        <p:nvSpPr>
          <p:cNvPr id="20" name="Text 18"/>
          <p:cNvSpPr/>
          <p:nvPr/>
        </p:nvSpPr>
        <p:spPr>
          <a:xfrm>
            <a:off x="274320" y="4306824"/>
            <a:ext cx="1097280" cy="548640"/>
          </a:xfrm>
          <a:prstGeom prst="rect">
            <a:avLst/>
          </a:prstGeom>
          <a:noFill/>
          <a:ln/>
        </p:spPr>
        <p:txBody>
          <a:bodyPr wrap="square" lIns="0" tIns="0" rIns="0" bIns="0" rtlCol="0" anchor="ctr"/>
          <a:lstStyle/>
          <a:p>
            <a:pPr marL="0" indent="0" algn="ctr">
              <a:buNone/>
            </a:pPr>
            <a:r>
              <a:rPr lang="en-US" sz="1600" b="1" dirty="0">
                <a:solidFill>
                  <a:srgbClr val="FFFFFF"/>
                </a:solidFill>
              </a:rPr>
              <a:t>exploit</a:t>
            </a:r>
            <a:endParaRPr lang="en-US" sz="1600" dirty="0"/>
          </a:p>
        </p:txBody>
      </p:sp>
      <p:sp>
        <p:nvSpPr>
          <p:cNvPr id="21" name="Text 19"/>
          <p:cNvSpPr/>
          <p:nvPr/>
        </p:nvSpPr>
        <p:spPr>
          <a:xfrm>
            <a:off x="274320" y="4764024"/>
            <a:ext cx="1097280" cy="804672"/>
          </a:xfrm>
          <a:prstGeom prst="rect">
            <a:avLst/>
          </a:prstGeom>
          <a:noFill/>
          <a:ln/>
        </p:spPr>
        <p:txBody>
          <a:bodyPr wrap="square" lIns="0" tIns="0" rIns="0" bIns="0" rtlCol="0" anchor="ctr"/>
          <a:lstStyle/>
          <a:p>
            <a:pPr marL="0" indent="0" algn="ctr">
              <a:buNone/>
            </a:pPr>
            <a:r>
              <a:rPr lang="en-US" sz="1200" dirty="0">
                <a:solidFill>
                  <a:srgbClr val="DDEEFF"/>
                </a:solidFill>
              </a:rPr>
              <a:t>r → 1.0</a:t>
            </a:r>
          </a:p>
          <a:p>
            <a:pPr marL="0" indent="0" algn="ctr">
              <a:buNone/>
            </a:pPr>
            <a:r>
              <a:rPr lang="en-US" sz="1200" dirty="0">
                <a:solidFill>
                  <a:srgbClr val="DDEEFF"/>
                </a:solidFill>
              </a:rPr>
              <a:t>（边界区域）</a:t>
            </a:r>
            <a:endParaRPr lang="en-US" sz="1200" dirty="0"/>
          </a:p>
        </p:txBody>
      </p:sp>
      <p:sp>
        <p:nvSpPr>
          <p:cNvPr id="22" name="Text 20"/>
          <p:cNvSpPr/>
          <p:nvPr/>
        </p:nvSpPr>
        <p:spPr>
          <a:xfrm>
            <a:off x="1444752" y="4334256"/>
            <a:ext cx="4462272" cy="347472"/>
          </a:xfrm>
          <a:prstGeom prst="rect">
            <a:avLst/>
          </a:prstGeom>
          <a:noFill/>
          <a:ln/>
        </p:spPr>
        <p:txBody>
          <a:bodyPr wrap="square" rtlCol="0" anchor="ctr"/>
          <a:lstStyle/>
          <a:p>
            <a:pPr marL="0" indent="0">
              <a:buNone/>
            </a:pPr>
            <a:r>
              <a:rPr lang="en-US" sz="1400" b="1" dirty="0">
                <a:solidFill>
                  <a:srgbClr val="E65100"/>
                </a:solidFill>
              </a:rPr>
              <a:t>漏洞利用预测</a:t>
            </a:r>
            <a:endParaRPr lang="en-US" sz="1400" dirty="0"/>
          </a:p>
        </p:txBody>
      </p:sp>
      <p:sp>
        <p:nvSpPr>
          <p:cNvPr id="23" name="Text 21"/>
          <p:cNvSpPr/>
          <p:nvPr/>
        </p:nvSpPr>
        <p:spPr>
          <a:xfrm>
            <a:off x="1444752" y="4700016"/>
            <a:ext cx="4462272" cy="822960"/>
          </a:xfrm>
          <a:prstGeom prst="rect">
            <a:avLst/>
          </a:prstGeom>
          <a:noFill/>
          <a:ln/>
        </p:spPr>
        <p:txBody>
          <a:bodyPr wrap="square" rtlCol="0" anchor="t"/>
          <a:lstStyle/>
          <a:p>
            <a:pPr marL="0" indent="0">
              <a:buNone/>
            </a:pPr>
            <a:r>
              <a:rPr lang="en-US" sz="1400" dirty="0">
                <a:solidFill>
                  <a:srgbClr val="0D1B2A"/>
                </a:solidFill>
              </a:rPr>
              <a:t>最稀疏，时效性强，预测难度最高</a:t>
            </a:r>
            <a:endParaRPr lang="en-US" sz="1400" dirty="0"/>
          </a:p>
        </p:txBody>
      </p:sp>
      <p:sp>
        <p:nvSpPr>
          <p:cNvPr id="24" name="Text 22"/>
          <p:cNvSpPr/>
          <p:nvPr/>
        </p:nvSpPr>
        <p:spPr>
          <a:xfrm>
            <a:off x="6217920" y="1024128"/>
            <a:ext cx="5623560" cy="347472"/>
          </a:xfrm>
          <a:prstGeom prst="rect">
            <a:avLst/>
          </a:prstGeom>
          <a:noFill/>
          <a:ln/>
        </p:spPr>
        <p:txBody>
          <a:bodyPr wrap="square" rtlCol="0" anchor="ctr"/>
          <a:lstStyle/>
          <a:p>
            <a:pPr marL="0" indent="0">
              <a:buNone/>
            </a:pPr>
            <a:r>
              <a:rPr lang="en-US" sz="1600" b="1" dirty="0">
                <a:solidFill>
                  <a:srgbClr val="1A3A6B"/>
                </a:solidFill>
              </a:rPr>
              <a:t>层级约束注入规模敏感性</a:t>
            </a:r>
            <a:r>
              <a:rPr lang="en-US" sz="1400" b="1" dirty="0">
                <a:solidFill>
                  <a:srgbClr val="1A3A6B"/>
                </a:solidFill>
              </a:rPr>
              <a:t>（N=0%→100%）</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3822429775"/>
              </p:ext>
            </p:extLst>
          </p:nvPr>
        </p:nvGraphicFramePr>
        <p:xfrm>
          <a:off x="6217920" y="1417320"/>
          <a:ext cx="5760720" cy="1975104"/>
        </p:xfrm>
        <a:graphic>
          <a:graphicData uri="http://schemas.openxmlformats.org/drawingml/2006/table">
            <a:tbl>
              <a:tblPr/>
              <a:tblGrid>
                <a:gridCol w="1159064">
                  <a:extLst>
                    <a:ext uri="{9D8B030D-6E8A-4147-A177-3AD203B41FA5}">
                      <a16:colId xmlns:a16="http://schemas.microsoft.com/office/drawing/2014/main" val="20000"/>
                    </a:ext>
                  </a:extLst>
                </a:gridCol>
                <a:gridCol w="889686">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8476">
                  <a:extLst>
                    <a:ext uri="{9D8B030D-6E8A-4147-A177-3AD203B41FA5}">
                      <a16:colId xmlns:a16="http://schemas.microsoft.com/office/drawing/2014/main" val="20003"/>
                    </a:ext>
                  </a:extLst>
                </a:gridCol>
                <a:gridCol w="963827">
                  <a:extLst>
                    <a:ext uri="{9D8B030D-6E8A-4147-A177-3AD203B41FA5}">
                      <a16:colId xmlns:a16="http://schemas.microsoft.com/office/drawing/2014/main" val="20004"/>
                    </a:ext>
                  </a:extLst>
                </a:gridCol>
                <a:gridCol w="1055267">
                  <a:extLst>
                    <a:ext uri="{9D8B030D-6E8A-4147-A177-3AD203B41FA5}">
                      <a16:colId xmlns:a16="http://schemas.microsoft.com/office/drawing/2014/main" val="20005"/>
                    </a:ext>
                  </a:extLst>
                </a:gridCol>
              </a:tblGrid>
              <a:tr h="329184">
                <a:tc>
                  <a:txBody>
                    <a:bodyPr/>
                    <a:lstStyle/>
                    <a:p>
                      <a:pPr marL="0" indent="0" algn="ctr">
                        <a:buNone/>
                      </a:pPr>
                      <a:r>
                        <a:rPr lang="en-US" sz="1100" b="1" dirty="0">
                          <a:solidFill>
                            <a:srgbClr val="FFFFFF"/>
                          </a:solidFill>
                        </a:rPr>
                        <a:t>注入比例</a:t>
                      </a:r>
                      <a:endParaRPr lang="en-US" sz="11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100" b="1" dirty="0">
                          <a:solidFill>
                            <a:srgbClr val="FFFFFF"/>
                          </a:solidFill>
                        </a:rPr>
                        <a:t>约束数量</a:t>
                      </a:r>
                      <a:endParaRPr lang="en-US" sz="11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100" b="1" dirty="0">
                          <a:solidFill>
                            <a:srgbClr val="FFFFFF"/>
                          </a:solidFill>
                        </a:rPr>
                        <a:t>Hits@10</a:t>
                      </a:r>
                      <a:endParaRPr lang="en-US" sz="11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100" b="1" dirty="0">
                          <a:solidFill>
                            <a:srgbClr val="FFFFFF"/>
                          </a:solidFill>
                        </a:rPr>
                        <a:t>MRR</a:t>
                      </a:r>
                      <a:endParaRPr lang="en-US" sz="11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100" b="1" dirty="0">
                          <a:solidFill>
                            <a:srgbClr val="FFFFFF"/>
                          </a:solidFill>
                        </a:rPr>
                        <a:t>ΔHits@10</a:t>
                      </a:r>
                      <a:endParaRPr lang="en-US" sz="11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tc>
                  <a:txBody>
                    <a:bodyPr/>
                    <a:lstStyle/>
                    <a:p>
                      <a:pPr marL="0" indent="0" algn="ctr">
                        <a:buNone/>
                      </a:pPr>
                      <a:r>
                        <a:rPr lang="en-US" sz="1100" b="1" dirty="0">
                          <a:solidFill>
                            <a:srgbClr val="FFFFFF"/>
                          </a:solidFill>
                        </a:rPr>
                        <a:t>累计占比</a:t>
                      </a:r>
                      <a:endParaRPr lang="en-US" sz="11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A3A6B"/>
                    </a:solidFill>
                  </a:tcPr>
                </a:tc>
                <a:extLst>
                  <a:ext uri="{0D108BD9-81ED-4DB2-BD59-A6C34878D82A}">
                    <a16:rowId xmlns:a16="http://schemas.microsoft.com/office/drawing/2014/main" val="10000"/>
                  </a:ext>
                </a:extLst>
              </a:tr>
              <a:tr h="329184">
                <a:tc>
                  <a:txBody>
                    <a:bodyPr/>
                    <a:lstStyle/>
                    <a:p>
                      <a:pPr marL="0" indent="0" algn="ctr">
                        <a:buNone/>
                      </a:pPr>
                      <a:r>
                        <a:rPr lang="en-US" sz="1200" dirty="0">
                          <a:solidFill>
                            <a:srgbClr val="000000"/>
                          </a:solidFill>
                        </a:rPr>
                        <a:t>0%（基准）</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0.471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0.367</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200" dirty="0">
                          <a:solidFill>
                            <a:srgbClr val="000000"/>
                          </a:solidFill>
                        </a:rPr>
                        <a:t>25%</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313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0.481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0.357</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1B5E20"/>
                          </a:solidFill>
                        </a:rPr>
                        <a:t>+0.010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23.3%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ctr">
                        <a:buNone/>
                      </a:pPr>
                      <a:r>
                        <a:rPr lang="en-US" sz="1200" dirty="0">
                          <a:solidFill>
                            <a:srgbClr val="000000"/>
                          </a:solidFill>
                        </a:rPr>
                        <a:t>50%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627</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0.485</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0.371</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+0.014</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32.6%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ctr">
                        <a:buNone/>
                      </a:pPr>
                      <a:r>
                        <a:rPr lang="en-US" sz="1200" dirty="0">
                          <a:solidFill>
                            <a:srgbClr val="000000"/>
                          </a:solidFill>
                        </a:rPr>
                        <a:t>75%</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940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0.500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0.406</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+0.029</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67.4%</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ctr">
                        <a:buNone/>
                      </a:pPr>
                      <a:r>
                        <a:rPr lang="en-US" sz="1200" b="1" dirty="0">
                          <a:solidFill>
                            <a:srgbClr val="000000"/>
                          </a:solidFill>
                        </a:rPr>
                        <a:t>100%（本文）</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dirty="0">
                          <a:solidFill>
                            <a:srgbClr val="000000"/>
                          </a:solidFill>
                        </a:rPr>
                        <a:t>1,253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B71C1C"/>
                          </a:solidFill>
                        </a:rPr>
                        <a:t>0.514</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B71C1C"/>
                          </a:solidFill>
                        </a:rPr>
                        <a:t>0.428</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B71C1C"/>
                          </a:solidFill>
                        </a:rPr>
                        <a:t>+0.043</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pPr marL="0" indent="0" algn="ctr">
                        <a:buNone/>
                      </a:pPr>
                      <a:r>
                        <a:rPr lang="en-US" sz="1200" b="1" dirty="0">
                          <a:solidFill>
                            <a:srgbClr val="000000"/>
                          </a:solidFill>
                        </a:rPr>
                        <a:t>100%</a:t>
                      </a:r>
                      <a:endParaRPr lang="en-US" sz="1200" dirty="0"/>
                    </a:p>
                  </a:txBody>
                  <a:tcPr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6" name="Shape 23"/>
          <p:cNvSpPr/>
          <p:nvPr/>
        </p:nvSpPr>
        <p:spPr>
          <a:xfrm>
            <a:off x="6217920" y="3844193"/>
            <a:ext cx="5623560" cy="1920241"/>
          </a:xfrm>
          <a:prstGeom prst="rect">
            <a:avLst/>
          </a:prstGeom>
          <a:solidFill>
            <a:srgbClr val="FFF3E0"/>
          </a:solidFill>
          <a:ln w="6350">
            <a:solidFill>
              <a:srgbClr val="CCCCCC"/>
            </a:solidFill>
            <a:prstDash val="solid"/>
          </a:ln>
          <a:effectLst>
            <a:outerShdw blurRad="76200" dist="25400" dir="8100000" algn="bl" rotWithShape="0">
              <a:srgbClr val="000000">
                <a:alpha val="12000"/>
              </a:srgbClr>
            </a:outerShdw>
          </a:effectLst>
        </p:spPr>
      </p:sp>
      <p:sp>
        <p:nvSpPr>
          <p:cNvPr id="27" name="Shape 24"/>
          <p:cNvSpPr/>
          <p:nvPr/>
        </p:nvSpPr>
        <p:spPr>
          <a:xfrm>
            <a:off x="6217920" y="3844193"/>
            <a:ext cx="73152" cy="1920241"/>
          </a:xfrm>
          <a:prstGeom prst="rect">
            <a:avLst/>
          </a:prstGeom>
          <a:solidFill>
            <a:srgbClr val="E65100"/>
          </a:solidFill>
          <a:ln w="12700">
            <a:solidFill>
              <a:srgbClr val="E65100"/>
            </a:solidFill>
            <a:prstDash val="solid"/>
          </a:ln>
        </p:spPr>
      </p:sp>
      <p:sp>
        <p:nvSpPr>
          <p:cNvPr id="28" name="Text 25"/>
          <p:cNvSpPr/>
          <p:nvPr/>
        </p:nvSpPr>
        <p:spPr>
          <a:xfrm>
            <a:off x="6400800" y="3871626"/>
            <a:ext cx="5303520" cy="347472"/>
          </a:xfrm>
          <a:prstGeom prst="rect">
            <a:avLst/>
          </a:prstGeom>
          <a:noFill/>
          <a:ln/>
        </p:spPr>
        <p:txBody>
          <a:bodyPr wrap="square" rtlCol="0" anchor="ctr"/>
          <a:lstStyle/>
          <a:p>
            <a:pPr marL="0" indent="0">
              <a:buNone/>
            </a:pPr>
            <a:r>
              <a:rPr lang="en-US" sz="1400" b="1" dirty="0">
                <a:solidFill>
                  <a:srgbClr val="E65100"/>
                </a:solidFill>
              </a:rPr>
              <a:t>规律解读</a:t>
            </a:r>
            <a:endParaRPr lang="en-US" sz="1400" dirty="0"/>
          </a:p>
        </p:txBody>
      </p:sp>
      <p:sp>
        <p:nvSpPr>
          <p:cNvPr id="29" name="Text 26"/>
          <p:cNvSpPr/>
          <p:nvPr/>
        </p:nvSpPr>
        <p:spPr>
          <a:xfrm>
            <a:off x="6400800" y="4255674"/>
            <a:ext cx="5303520" cy="1508760"/>
          </a:xfrm>
          <a:prstGeom prst="rect">
            <a:avLst/>
          </a:prstGeom>
          <a:noFill/>
          <a:ln/>
        </p:spPr>
        <p:txBody>
          <a:bodyPr wrap="square" rtlCol="0" anchor="t"/>
          <a:lstStyle/>
          <a:p>
            <a:pPr marL="0" indent="0">
              <a:buNone/>
            </a:pPr>
            <a:r>
              <a:rPr lang="en-US" sz="1200" b="1" dirty="0">
                <a:solidFill>
                  <a:srgbClr val="0D1B2A"/>
                </a:solidFill>
              </a:rPr>
              <a:t>早期注入（0%→25%）</a:t>
            </a:r>
            <a:r>
              <a:rPr lang="en-US" sz="1200" dirty="0">
                <a:solidFill>
                  <a:srgbClr val="0D1B2A"/>
                </a:solidFill>
              </a:rPr>
              <a:t>：Hits@10 ↑0.010，MRR 反而 ↓0.010
→ 少量约束首先改善粗粒度召回（进入前10），</a:t>
            </a:r>
            <a:r>
              <a:rPr lang="en-US" sz="1200" dirty="0" err="1">
                <a:solidFill>
                  <a:srgbClr val="0D1B2A"/>
                </a:solidFill>
              </a:rPr>
              <a:t>而非精细排序位置（MRR衡量</a:t>
            </a:r>
            <a:r>
              <a:rPr lang="en-US" sz="1200" dirty="0">
                <a:solidFill>
                  <a:srgbClr val="0D1B2A"/>
                </a:solidFill>
              </a:rPr>
              <a:t>）
</a:t>
            </a:r>
            <a:r>
              <a:rPr lang="en-US" sz="1200" b="1" dirty="0">
                <a:solidFill>
                  <a:srgbClr val="0D1B2A"/>
                </a:solidFill>
              </a:rPr>
              <a:t>随比例增加</a:t>
            </a:r>
            <a:r>
              <a:rPr lang="en-US" sz="1200" dirty="0">
                <a:solidFill>
                  <a:srgbClr val="0D1B2A"/>
                </a:solidFill>
              </a:rPr>
              <a:t>：层级信号逐渐丰富，Hits@10 与 MRR 在75%后同步改善
</a:t>
            </a:r>
            <a:r>
              <a:rPr lang="en-US" sz="1200" b="1" dirty="0">
                <a:solidFill>
                  <a:srgbClr val="B71C1C"/>
                </a:solidFill>
              </a:rPr>
              <a:t>结论</a:t>
            </a:r>
            <a:r>
              <a:rPr lang="en-US" sz="1200" dirty="0">
                <a:solidFill>
                  <a:srgbClr val="0D1B2A"/>
                </a:solidFill>
              </a:rPr>
              <a:t>：完整注入（100%）</a:t>
            </a:r>
            <a:r>
              <a:rPr lang="en-US" sz="1200" dirty="0" err="1">
                <a:solidFill>
                  <a:srgbClr val="0D1B2A"/>
                </a:solidFill>
              </a:rPr>
              <a:t>在当前规模下无噪声累积，整体趋势较稳定</a:t>
            </a:r>
            <a:endParaRPr lang="en-US" sz="1200" dirty="0"/>
          </a:p>
        </p:txBody>
      </p:sp>
      <p:sp>
        <p:nvSpPr>
          <p:cNvPr id="30" name="Shape 27"/>
          <p:cNvSpPr/>
          <p:nvPr/>
        </p:nvSpPr>
        <p:spPr>
          <a:xfrm>
            <a:off x="274320" y="5739471"/>
            <a:ext cx="5760720" cy="804672"/>
          </a:xfrm>
          <a:prstGeom prst="rect">
            <a:avLst/>
          </a:prstGeom>
          <a:solidFill>
            <a:srgbClr val="E8EAF6"/>
          </a:solidFill>
          <a:ln w="12700">
            <a:solidFill>
              <a:srgbClr val="1A3A6B"/>
            </a:solidFill>
            <a:prstDash val="solid"/>
          </a:ln>
        </p:spPr>
      </p:sp>
      <p:sp>
        <p:nvSpPr>
          <p:cNvPr id="31" name="Text 28"/>
          <p:cNvSpPr/>
          <p:nvPr/>
        </p:nvSpPr>
        <p:spPr>
          <a:xfrm>
            <a:off x="411480" y="5739471"/>
            <a:ext cx="5577840" cy="804672"/>
          </a:xfrm>
          <a:prstGeom prst="rect">
            <a:avLst/>
          </a:prstGeom>
          <a:noFill/>
          <a:ln/>
        </p:spPr>
        <p:txBody>
          <a:bodyPr wrap="square" rtlCol="0" anchor="ctr"/>
          <a:lstStyle/>
          <a:p>
            <a:pPr marL="0" indent="0">
              <a:buNone/>
            </a:pPr>
            <a:r>
              <a:rPr lang="en-US" sz="1200" dirty="0">
                <a:solidFill>
                  <a:srgbClr val="1A3A6B"/>
                </a:solidFill>
              </a:rPr>
              <a:t>层级分布与任务难度的几何对应：</a:t>
            </a:r>
            <a:endParaRPr lang="en-US" sz="1200" dirty="0"/>
          </a:p>
          <a:p>
            <a:pPr marL="0" indent="0">
              <a:buNone/>
            </a:pPr>
            <a:r>
              <a:rPr lang="en-US" sz="1200" dirty="0">
                <a:solidFill>
                  <a:srgbClr val="1A3A6B"/>
                </a:solidFill>
              </a:rPr>
              <a:t>exploit 分布于球面边缘（高分散）→ 预测难度最高（稀疏关系+时效性强）</a:t>
            </a:r>
            <a:endParaRPr lang="en-US" sz="1200" dirty="0"/>
          </a:p>
          <a:p>
            <a:pPr marL="0" indent="0">
              <a:buNone/>
            </a:pPr>
            <a:r>
              <a:rPr lang="en-US" sz="1200" dirty="0">
                <a:solidFill>
                  <a:srgbClr val="1A3A6B"/>
                </a:solidFill>
              </a:rPr>
              <a:t>target 紧凑聚集于内层 → 历史攻击模式稳定，模型学习更充分</a:t>
            </a:r>
            <a:endParaRPr lang="en-US" sz="1200" dirty="0"/>
          </a:p>
        </p:txBody>
      </p:sp>
      <p:sp>
        <p:nvSpPr>
          <p:cNvPr id="32" name="Text 29"/>
          <p:cNvSpPr/>
          <p:nvPr/>
        </p:nvSpPr>
        <p:spPr>
          <a:xfrm>
            <a:off x="11615351" y="6671412"/>
            <a:ext cx="500449" cy="109728"/>
          </a:xfrm>
          <a:prstGeom prst="rect">
            <a:avLst/>
          </a:prstGeom>
          <a:noFill/>
          <a:ln/>
        </p:spPr>
        <p:txBody>
          <a:bodyPr wrap="square" rtlCol="0" anchor="ctr"/>
          <a:lstStyle/>
          <a:p>
            <a:pPr marL="0" indent="0" algn="r">
              <a:buNone/>
            </a:pPr>
            <a:r>
              <a:rPr lang="en-US" sz="900" dirty="0">
                <a:solidFill>
                  <a:srgbClr val="90A4AE"/>
                </a:solidFill>
              </a:rPr>
              <a:t>16/18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1A3A6B"/>
          </a:solidFill>
          <a:ln w="12700">
            <a:solidFill>
              <a:srgbClr val="1A3A6B"/>
            </a:solidFill>
            <a:prstDash val="solid"/>
          </a:ln>
        </p:spPr>
      </p:sp>
      <p:sp>
        <p:nvSpPr>
          <p:cNvPr id="3" name="Text 1"/>
          <p:cNvSpPr/>
          <p:nvPr/>
        </p:nvSpPr>
        <p:spPr>
          <a:xfrm>
            <a:off x="274320" y="137160"/>
            <a:ext cx="11612880" cy="685800"/>
          </a:xfrm>
          <a:prstGeom prst="rect">
            <a:avLst/>
          </a:prstGeom>
          <a:noFill/>
          <a:ln/>
        </p:spPr>
        <p:txBody>
          <a:bodyPr wrap="square" rtlCol="0" anchor="ctr"/>
          <a:lstStyle/>
          <a:p>
            <a:pPr marL="0" indent="0">
              <a:buNone/>
            </a:pPr>
            <a:r>
              <a:rPr lang="en-US" sz="2300" b="1" dirty="0">
                <a:solidFill>
                  <a:srgbClr val="1A3A6B"/>
                </a:solidFill>
              </a:rPr>
              <a:t>16  研究局限性与未来展望</a:t>
            </a:r>
            <a:endParaRPr lang="en-US" sz="2300" dirty="0"/>
          </a:p>
        </p:txBody>
      </p:sp>
      <p:sp>
        <p:nvSpPr>
          <p:cNvPr id="4" name="Shape 2"/>
          <p:cNvSpPr/>
          <p:nvPr/>
        </p:nvSpPr>
        <p:spPr>
          <a:xfrm>
            <a:off x="274320" y="822960"/>
            <a:ext cx="11612880" cy="0"/>
          </a:xfrm>
          <a:prstGeom prst="line">
            <a:avLst/>
          </a:prstGeom>
          <a:noFill/>
          <a:ln w="19050">
            <a:solidFill>
              <a:srgbClr val="00B4CC"/>
            </a:solidFill>
            <a:prstDash val="solid"/>
          </a:ln>
        </p:spPr>
      </p:sp>
      <p:sp>
        <p:nvSpPr>
          <p:cNvPr id="5" name="Text 3"/>
          <p:cNvSpPr/>
          <p:nvPr/>
        </p:nvSpPr>
        <p:spPr>
          <a:xfrm>
            <a:off x="274320" y="1024128"/>
            <a:ext cx="4114800" cy="347472"/>
          </a:xfrm>
          <a:prstGeom prst="rect">
            <a:avLst/>
          </a:prstGeom>
          <a:noFill/>
          <a:ln/>
        </p:spPr>
        <p:txBody>
          <a:bodyPr wrap="square" rtlCol="0" anchor="ctr"/>
          <a:lstStyle/>
          <a:p>
            <a:pPr marL="0" indent="0">
              <a:buNone/>
            </a:pPr>
            <a:r>
              <a:rPr lang="en-US" sz="1600" b="1" dirty="0">
                <a:solidFill>
                  <a:srgbClr val="B71C1C"/>
                </a:solidFill>
              </a:rPr>
              <a:t>当前局限性</a:t>
            </a:r>
            <a:endParaRPr lang="en-US" sz="1600" dirty="0"/>
          </a:p>
        </p:txBody>
      </p:sp>
      <p:sp>
        <p:nvSpPr>
          <p:cNvPr id="6" name="Shape 4"/>
          <p:cNvSpPr/>
          <p:nvPr/>
        </p:nvSpPr>
        <p:spPr>
          <a:xfrm>
            <a:off x="274320" y="1417320"/>
            <a:ext cx="5577840" cy="1097280"/>
          </a:xfrm>
          <a:prstGeom prst="rect">
            <a:avLst/>
          </a:prstGeom>
          <a:solidFill>
            <a:srgbClr val="FFF5F5"/>
          </a:solidFill>
          <a:ln w="6350">
            <a:solidFill>
              <a:srgbClr val="CCCCCC"/>
            </a:solidFill>
            <a:prstDash val="solid"/>
          </a:ln>
          <a:effectLst>
            <a:outerShdw blurRad="76200" dist="25400" dir="8100000" algn="bl" rotWithShape="0">
              <a:srgbClr val="000000">
                <a:alpha val="12000"/>
              </a:srgbClr>
            </a:outerShdw>
          </a:effectLst>
        </p:spPr>
      </p:sp>
      <p:sp>
        <p:nvSpPr>
          <p:cNvPr id="7" name="Shape 5"/>
          <p:cNvSpPr/>
          <p:nvPr/>
        </p:nvSpPr>
        <p:spPr>
          <a:xfrm>
            <a:off x="274320" y="1417320"/>
            <a:ext cx="73152" cy="1097280"/>
          </a:xfrm>
          <a:prstGeom prst="rect">
            <a:avLst/>
          </a:prstGeom>
          <a:solidFill>
            <a:srgbClr val="B71C1C"/>
          </a:solidFill>
          <a:ln w="12700">
            <a:solidFill>
              <a:srgbClr val="B71C1C"/>
            </a:solidFill>
            <a:prstDash val="solid"/>
          </a:ln>
        </p:spPr>
      </p:sp>
      <p:sp>
        <p:nvSpPr>
          <p:cNvPr id="8" name="Text 6"/>
          <p:cNvSpPr/>
          <p:nvPr/>
        </p:nvSpPr>
        <p:spPr>
          <a:xfrm>
            <a:off x="457200" y="1444752"/>
            <a:ext cx="5212080" cy="347472"/>
          </a:xfrm>
          <a:prstGeom prst="rect">
            <a:avLst/>
          </a:prstGeom>
          <a:noFill/>
          <a:ln/>
        </p:spPr>
        <p:txBody>
          <a:bodyPr wrap="square" rtlCol="0" anchor="ctr"/>
          <a:lstStyle/>
          <a:p>
            <a:pPr marL="0" indent="0">
              <a:buNone/>
            </a:pPr>
            <a:r>
              <a:rPr lang="en-US" sz="1600" b="1" dirty="0">
                <a:solidFill>
                  <a:srgbClr val="B71C1C"/>
                </a:solidFill>
              </a:rPr>
              <a:t>数据规模偏小</a:t>
            </a:r>
            <a:endParaRPr lang="en-US" sz="1600" dirty="0"/>
          </a:p>
        </p:txBody>
      </p:sp>
      <p:sp>
        <p:nvSpPr>
          <p:cNvPr id="9" name="Text 7"/>
          <p:cNvSpPr/>
          <p:nvPr/>
        </p:nvSpPr>
        <p:spPr>
          <a:xfrm>
            <a:off x="457200" y="1783080"/>
            <a:ext cx="5212080" cy="658368"/>
          </a:xfrm>
          <a:prstGeom prst="rect">
            <a:avLst/>
          </a:prstGeom>
          <a:noFill/>
          <a:ln/>
        </p:spPr>
        <p:txBody>
          <a:bodyPr wrap="square" rtlCol="0" anchor="t"/>
          <a:lstStyle/>
          <a:p>
            <a:pPr marL="0" indent="0">
              <a:buNone/>
            </a:pPr>
            <a:r>
              <a:rPr lang="en-US" sz="1400" dirty="0">
                <a:solidFill>
                  <a:srgbClr val="0D1B2A"/>
                </a:solidFill>
              </a:rPr>
              <a:t>1,483 实体 / 474 </a:t>
            </a:r>
            <a:r>
              <a:rPr lang="en-US" sz="1400" dirty="0" err="1">
                <a:solidFill>
                  <a:srgbClr val="0D1B2A"/>
                </a:solidFill>
              </a:rPr>
              <a:t>条测试三元组，统计结论外推范围受限</a:t>
            </a:r>
            <a:endParaRPr lang="en-US" sz="1400" dirty="0"/>
          </a:p>
        </p:txBody>
      </p:sp>
      <p:sp>
        <p:nvSpPr>
          <p:cNvPr id="10" name="Shape 8"/>
          <p:cNvSpPr/>
          <p:nvPr/>
        </p:nvSpPr>
        <p:spPr>
          <a:xfrm>
            <a:off x="274320" y="2587752"/>
            <a:ext cx="5577840" cy="1097280"/>
          </a:xfrm>
          <a:prstGeom prst="rect">
            <a:avLst/>
          </a:prstGeom>
          <a:solidFill>
            <a:srgbClr val="FFF5F5"/>
          </a:solidFill>
          <a:ln w="6350">
            <a:solidFill>
              <a:srgbClr val="CCCCCC"/>
            </a:solidFill>
            <a:prstDash val="solid"/>
          </a:ln>
          <a:effectLst>
            <a:outerShdw blurRad="76200" dist="25400" dir="8100000" algn="bl" rotWithShape="0">
              <a:srgbClr val="000000">
                <a:alpha val="12000"/>
              </a:srgbClr>
            </a:outerShdw>
          </a:effectLst>
        </p:spPr>
      </p:sp>
      <p:sp>
        <p:nvSpPr>
          <p:cNvPr id="11" name="Shape 9"/>
          <p:cNvSpPr/>
          <p:nvPr/>
        </p:nvSpPr>
        <p:spPr>
          <a:xfrm>
            <a:off x="274320" y="2587752"/>
            <a:ext cx="73152" cy="1097280"/>
          </a:xfrm>
          <a:prstGeom prst="rect">
            <a:avLst/>
          </a:prstGeom>
          <a:solidFill>
            <a:srgbClr val="B71C1C"/>
          </a:solidFill>
          <a:ln w="12700">
            <a:solidFill>
              <a:srgbClr val="B71C1C"/>
            </a:solidFill>
            <a:prstDash val="solid"/>
          </a:ln>
        </p:spPr>
      </p:sp>
      <p:sp>
        <p:nvSpPr>
          <p:cNvPr id="12" name="Text 10"/>
          <p:cNvSpPr/>
          <p:nvPr/>
        </p:nvSpPr>
        <p:spPr>
          <a:xfrm>
            <a:off x="457200" y="2615184"/>
            <a:ext cx="5212080" cy="347472"/>
          </a:xfrm>
          <a:prstGeom prst="rect">
            <a:avLst/>
          </a:prstGeom>
          <a:noFill/>
          <a:ln/>
        </p:spPr>
        <p:txBody>
          <a:bodyPr wrap="square" rtlCol="0" anchor="ctr"/>
          <a:lstStyle/>
          <a:p>
            <a:pPr marL="0" indent="0">
              <a:buNone/>
            </a:pPr>
            <a:r>
              <a:rPr lang="en-US" sz="1600" b="1" dirty="0">
                <a:solidFill>
                  <a:srgbClr val="B71C1C"/>
                </a:solidFill>
              </a:rPr>
              <a:t>静态图谱假设</a:t>
            </a:r>
            <a:endParaRPr lang="en-US" sz="1600" dirty="0"/>
          </a:p>
        </p:txBody>
      </p:sp>
      <p:sp>
        <p:nvSpPr>
          <p:cNvPr id="13" name="Text 11"/>
          <p:cNvSpPr/>
          <p:nvPr/>
        </p:nvSpPr>
        <p:spPr>
          <a:xfrm>
            <a:off x="457200" y="2953512"/>
            <a:ext cx="5212080" cy="658368"/>
          </a:xfrm>
          <a:prstGeom prst="rect">
            <a:avLst/>
          </a:prstGeom>
          <a:noFill/>
          <a:ln/>
        </p:spPr>
        <p:txBody>
          <a:bodyPr wrap="square" rtlCol="0" anchor="t"/>
          <a:lstStyle/>
          <a:p>
            <a:pPr marL="0" indent="0">
              <a:buNone/>
            </a:pPr>
            <a:r>
              <a:rPr lang="en-US" sz="1400" dirty="0">
                <a:solidFill>
                  <a:srgbClr val="0D1B2A"/>
                </a:solidFill>
              </a:rPr>
              <a:t>未建模 APT 组织工具链随时间的迭代演化，无法捕获新型攻击向量的涌现规律</a:t>
            </a:r>
            <a:endParaRPr lang="en-US" sz="1400" dirty="0"/>
          </a:p>
        </p:txBody>
      </p:sp>
      <p:sp>
        <p:nvSpPr>
          <p:cNvPr id="14" name="Shape 12"/>
          <p:cNvSpPr/>
          <p:nvPr/>
        </p:nvSpPr>
        <p:spPr>
          <a:xfrm>
            <a:off x="274320" y="3758184"/>
            <a:ext cx="5577840" cy="1097280"/>
          </a:xfrm>
          <a:prstGeom prst="rect">
            <a:avLst/>
          </a:prstGeom>
          <a:solidFill>
            <a:srgbClr val="FFF5F5"/>
          </a:solidFill>
          <a:ln w="6350">
            <a:solidFill>
              <a:srgbClr val="CCCCCC"/>
            </a:solidFill>
            <a:prstDash val="solid"/>
          </a:ln>
          <a:effectLst>
            <a:outerShdw blurRad="76200" dist="25400" dir="8100000" algn="bl" rotWithShape="0">
              <a:srgbClr val="000000">
                <a:alpha val="12000"/>
              </a:srgbClr>
            </a:outerShdw>
          </a:effectLst>
        </p:spPr>
      </p:sp>
      <p:sp>
        <p:nvSpPr>
          <p:cNvPr id="15" name="Shape 13"/>
          <p:cNvSpPr/>
          <p:nvPr/>
        </p:nvSpPr>
        <p:spPr>
          <a:xfrm>
            <a:off x="274320" y="3758184"/>
            <a:ext cx="73152" cy="1097280"/>
          </a:xfrm>
          <a:prstGeom prst="rect">
            <a:avLst/>
          </a:prstGeom>
          <a:solidFill>
            <a:srgbClr val="B71C1C"/>
          </a:solidFill>
          <a:ln w="12700">
            <a:solidFill>
              <a:srgbClr val="B71C1C"/>
            </a:solidFill>
            <a:prstDash val="solid"/>
          </a:ln>
        </p:spPr>
      </p:sp>
      <p:sp>
        <p:nvSpPr>
          <p:cNvPr id="16" name="Text 14"/>
          <p:cNvSpPr/>
          <p:nvPr/>
        </p:nvSpPr>
        <p:spPr>
          <a:xfrm>
            <a:off x="457200" y="3785616"/>
            <a:ext cx="5212080" cy="347472"/>
          </a:xfrm>
          <a:prstGeom prst="rect">
            <a:avLst/>
          </a:prstGeom>
          <a:noFill/>
          <a:ln/>
        </p:spPr>
        <p:txBody>
          <a:bodyPr wrap="square" rtlCol="0" anchor="ctr"/>
          <a:lstStyle/>
          <a:p>
            <a:pPr marL="0" indent="0">
              <a:buNone/>
            </a:pPr>
            <a:r>
              <a:rPr lang="en-US" sz="1600" b="1" dirty="0">
                <a:solidFill>
                  <a:srgbClr val="B71C1C"/>
                </a:solidFill>
              </a:rPr>
              <a:t>两阶段超参独立</a:t>
            </a:r>
            <a:endParaRPr lang="en-US" sz="1600" dirty="0"/>
          </a:p>
        </p:txBody>
      </p:sp>
      <p:sp>
        <p:nvSpPr>
          <p:cNvPr id="17" name="Text 15"/>
          <p:cNvSpPr/>
          <p:nvPr/>
        </p:nvSpPr>
        <p:spPr>
          <a:xfrm>
            <a:off x="457200" y="4123944"/>
            <a:ext cx="5212080" cy="658368"/>
          </a:xfrm>
          <a:prstGeom prst="rect">
            <a:avLst/>
          </a:prstGeom>
          <a:noFill/>
          <a:ln/>
        </p:spPr>
        <p:txBody>
          <a:bodyPr wrap="square" rtlCol="0" anchor="t"/>
          <a:lstStyle/>
          <a:p>
            <a:pPr marL="0" indent="0">
              <a:buNone/>
            </a:pPr>
            <a:r>
              <a:rPr lang="en-US" sz="1400" dirty="0">
                <a:solidFill>
                  <a:srgbClr val="0D1B2A"/>
                </a:solidFill>
              </a:rPr>
              <a:t>欧式与双曲阶段超参分开搜索，缺端到端联合优化机制，存在次优化风险</a:t>
            </a:r>
            <a:endParaRPr lang="en-US" sz="1400" dirty="0"/>
          </a:p>
        </p:txBody>
      </p:sp>
      <p:sp>
        <p:nvSpPr>
          <p:cNvPr id="18" name="Shape 16"/>
          <p:cNvSpPr/>
          <p:nvPr/>
        </p:nvSpPr>
        <p:spPr>
          <a:xfrm>
            <a:off x="274320" y="4928616"/>
            <a:ext cx="5577840" cy="1097280"/>
          </a:xfrm>
          <a:prstGeom prst="rect">
            <a:avLst/>
          </a:prstGeom>
          <a:solidFill>
            <a:srgbClr val="FFF5F5"/>
          </a:solidFill>
          <a:ln w="6350">
            <a:solidFill>
              <a:srgbClr val="CCCCCC"/>
            </a:solidFill>
            <a:prstDash val="solid"/>
          </a:ln>
          <a:effectLst>
            <a:outerShdw blurRad="76200" dist="25400" dir="8100000" algn="bl" rotWithShape="0">
              <a:srgbClr val="000000">
                <a:alpha val="12000"/>
              </a:srgbClr>
            </a:outerShdw>
          </a:effectLst>
        </p:spPr>
      </p:sp>
      <p:sp>
        <p:nvSpPr>
          <p:cNvPr id="19" name="Shape 17"/>
          <p:cNvSpPr/>
          <p:nvPr/>
        </p:nvSpPr>
        <p:spPr>
          <a:xfrm>
            <a:off x="274320" y="4928616"/>
            <a:ext cx="73152" cy="1097280"/>
          </a:xfrm>
          <a:prstGeom prst="rect">
            <a:avLst/>
          </a:prstGeom>
          <a:solidFill>
            <a:srgbClr val="B71C1C"/>
          </a:solidFill>
          <a:ln w="12700">
            <a:solidFill>
              <a:srgbClr val="B71C1C"/>
            </a:solidFill>
            <a:prstDash val="solid"/>
          </a:ln>
        </p:spPr>
      </p:sp>
      <p:sp>
        <p:nvSpPr>
          <p:cNvPr id="20" name="Text 18"/>
          <p:cNvSpPr/>
          <p:nvPr/>
        </p:nvSpPr>
        <p:spPr>
          <a:xfrm>
            <a:off x="457200" y="4956048"/>
            <a:ext cx="5212080" cy="347472"/>
          </a:xfrm>
          <a:prstGeom prst="rect">
            <a:avLst/>
          </a:prstGeom>
          <a:noFill/>
          <a:ln/>
        </p:spPr>
        <p:txBody>
          <a:bodyPr wrap="square" rtlCol="0" anchor="ctr"/>
          <a:lstStyle/>
          <a:p>
            <a:pPr marL="0" indent="0">
              <a:buNone/>
            </a:pPr>
            <a:r>
              <a:rPr lang="en-US" sz="1600" b="1" dirty="0">
                <a:solidFill>
                  <a:srgbClr val="B71C1C"/>
                </a:solidFill>
              </a:rPr>
              <a:t>基线覆盖局限</a:t>
            </a:r>
            <a:endParaRPr lang="en-US" sz="1600" dirty="0"/>
          </a:p>
        </p:txBody>
      </p:sp>
      <p:sp>
        <p:nvSpPr>
          <p:cNvPr id="21" name="Text 19"/>
          <p:cNvSpPr/>
          <p:nvPr/>
        </p:nvSpPr>
        <p:spPr>
          <a:xfrm>
            <a:off x="457200" y="5294376"/>
            <a:ext cx="5212080" cy="658368"/>
          </a:xfrm>
          <a:prstGeom prst="rect">
            <a:avLst/>
          </a:prstGeom>
          <a:noFill/>
          <a:ln/>
        </p:spPr>
        <p:txBody>
          <a:bodyPr wrap="square" rtlCol="0" anchor="t"/>
          <a:lstStyle/>
          <a:p>
            <a:pPr marL="0" indent="0">
              <a:buNone/>
            </a:pPr>
            <a:r>
              <a:rPr lang="en-US" sz="1400" dirty="0">
                <a:solidFill>
                  <a:srgbClr val="0D1B2A"/>
                </a:solidFill>
              </a:rPr>
              <a:t>文本增强 KGE（KG-BERT类）与纯双曲图神经网络（HGCN）未纳入——</a:t>
            </a:r>
            <a:endParaRPr lang="en-US" sz="1400" dirty="0"/>
          </a:p>
          <a:p>
            <a:pPr marL="0" indent="0">
              <a:buNone/>
            </a:pPr>
            <a:r>
              <a:rPr lang="en-US" sz="1400" dirty="0">
                <a:solidFill>
                  <a:srgbClr val="0D1B2A"/>
                </a:solidFill>
              </a:rPr>
              <a:t>前者在当前数据规模下过拟合风险高，后者需更密集图结构</a:t>
            </a:r>
            <a:endParaRPr lang="en-US" sz="1400" dirty="0"/>
          </a:p>
        </p:txBody>
      </p:sp>
      <p:sp>
        <p:nvSpPr>
          <p:cNvPr id="22" name="Text 20"/>
          <p:cNvSpPr/>
          <p:nvPr/>
        </p:nvSpPr>
        <p:spPr>
          <a:xfrm>
            <a:off x="6035040" y="1024128"/>
            <a:ext cx="5852160" cy="347472"/>
          </a:xfrm>
          <a:prstGeom prst="rect">
            <a:avLst/>
          </a:prstGeom>
          <a:noFill/>
          <a:ln/>
        </p:spPr>
        <p:txBody>
          <a:bodyPr wrap="square" rtlCol="0" anchor="ctr"/>
          <a:lstStyle/>
          <a:p>
            <a:pPr marL="0" indent="0">
              <a:buNone/>
            </a:pPr>
            <a:r>
              <a:rPr lang="en-US" sz="1600" b="1" dirty="0">
                <a:solidFill>
                  <a:srgbClr val="1B5E20"/>
                </a:solidFill>
              </a:rPr>
              <a:t>未来研究方向</a:t>
            </a:r>
            <a:endParaRPr lang="en-US" sz="1600" dirty="0"/>
          </a:p>
        </p:txBody>
      </p:sp>
      <p:sp>
        <p:nvSpPr>
          <p:cNvPr id="23" name="Shape 21"/>
          <p:cNvSpPr/>
          <p:nvPr/>
        </p:nvSpPr>
        <p:spPr>
          <a:xfrm>
            <a:off x="6035040" y="1417320"/>
            <a:ext cx="5852160" cy="896112"/>
          </a:xfrm>
          <a:prstGeom prst="rect">
            <a:avLst/>
          </a:prstGeom>
          <a:solidFill>
            <a:srgbClr val="F8F9FF"/>
          </a:solidFill>
          <a:ln w="12700">
            <a:solidFill>
              <a:srgbClr val="1B5E20"/>
            </a:solidFill>
            <a:prstDash val="solid"/>
          </a:ln>
        </p:spPr>
      </p:sp>
      <p:sp>
        <p:nvSpPr>
          <p:cNvPr id="24" name="Shape 22"/>
          <p:cNvSpPr/>
          <p:nvPr/>
        </p:nvSpPr>
        <p:spPr>
          <a:xfrm>
            <a:off x="6035040" y="1417320"/>
            <a:ext cx="73152" cy="896112"/>
          </a:xfrm>
          <a:prstGeom prst="rect">
            <a:avLst/>
          </a:prstGeom>
          <a:solidFill>
            <a:srgbClr val="1B5E20"/>
          </a:solidFill>
          <a:ln w="12700">
            <a:solidFill>
              <a:srgbClr val="1B5E20"/>
            </a:solidFill>
            <a:prstDash val="solid"/>
          </a:ln>
        </p:spPr>
      </p:sp>
      <p:sp>
        <p:nvSpPr>
          <p:cNvPr id="25" name="Text 23"/>
          <p:cNvSpPr/>
          <p:nvPr/>
        </p:nvSpPr>
        <p:spPr>
          <a:xfrm>
            <a:off x="6199632" y="1435608"/>
            <a:ext cx="5577840" cy="329184"/>
          </a:xfrm>
          <a:prstGeom prst="rect">
            <a:avLst/>
          </a:prstGeom>
          <a:noFill/>
          <a:ln/>
        </p:spPr>
        <p:txBody>
          <a:bodyPr wrap="square" rtlCol="0" anchor="ctr"/>
          <a:lstStyle/>
          <a:p>
            <a:pPr marL="0" indent="0">
              <a:buNone/>
            </a:pPr>
            <a:r>
              <a:rPr lang="en-US" sz="1600" b="1" dirty="0">
                <a:solidFill>
                  <a:srgbClr val="1B5E20"/>
                </a:solidFill>
              </a:rPr>
              <a:t>时序双曲嵌入</a:t>
            </a:r>
            <a:endParaRPr lang="en-US" sz="1600" dirty="0"/>
          </a:p>
        </p:txBody>
      </p:sp>
      <p:sp>
        <p:nvSpPr>
          <p:cNvPr id="26" name="Text 24"/>
          <p:cNvSpPr/>
          <p:nvPr/>
        </p:nvSpPr>
        <p:spPr>
          <a:xfrm>
            <a:off x="6199632" y="1764792"/>
            <a:ext cx="5577840" cy="475488"/>
          </a:xfrm>
          <a:prstGeom prst="rect">
            <a:avLst/>
          </a:prstGeom>
          <a:noFill/>
          <a:ln/>
        </p:spPr>
        <p:txBody>
          <a:bodyPr wrap="square" rtlCol="0" anchor="t"/>
          <a:lstStyle/>
          <a:p>
            <a:pPr marL="0" indent="0">
              <a:buNone/>
            </a:pPr>
            <a:r>
              <a:rPr lang="en-US" sz="1400" dirty="0">
                <a:solidFill>
                  <a:srgbClr val="0D1B2A"/>
                </a:solidFill>
              </a:rPr>
              <a:t>引入时序分量 t 到实体嵌入，建模 APT 工具链更替与战术演化规律，预测新兴攻击向量</a:t>
            </a:r>
            <a:endParaRPr lang="en-US" sz="1400" dirty="0"/>
          </a:p>
        </p:txBody>
      </p:sp>
      <p:sp>
        <p:nvSpPr>
          <p:cNvPr id="27" name="Shape 25"/>
          <p:cNvSpPr/>
          <p:nvPr/>
        </p:nvSpPr>
        <p:spPr>
          <a:xfrm>
            <a:off x="6035040" y="2377440"/>
            <a:ext cx="5852160" cy="896112"/>
          </a:xfrm>
          <a:prstGeom prst="rect">
            <a:avLst/>
          </a:prstGeom>
          <a:solidFill>
            <a:srgbClr val="F8F9FF"/>
          </a:solidFill>
          <a:ln w="12700">
            <a:solidFill>
              <a:srgbClr val="006579"/>
            </a:solidFill>
            <a:prstDash val="solid"/>
          </a:ln>
        </p:spPr>
      </p:sp>
      <p:sp>
        <p:nvSpPr>
          <p:cNvPr id="28" name="Shape 26"/>
          <p:cNvSpPr/>
          <p:nvPr/>
        </p:nvSpPr>
        <p:spPr>
          <a:xfrm>
            <a:off x="6035040" y="2377440"/>
            <a:ext cx="73152" cy="896112"/>
          </a:xfrm>
          <a:prstGeom prst="rect">
            <a:avLst/>
          </a:prstGeom>
          <a:solidFill>
            <a:srgbClr val="006579"/>
          </a:solidFill>
          <a:ln w="12700">
            <a:solidFill>
              <a:srgbClr val="006579"/>
            </a:solidFill>
            <a:prstDash val="solid"/>
          </a:ln>
        </p:spPr>
      </p:sp>
      <p:sp>
        <p:nvSpPr>
          <p:cNvPr id="29" name="Text 27"/>
          <p:cNvSpPr/>
          <p:nvPr/>
        </p:nvSpPr>
        <p:spPr>
          <a:xfrm>
            <a:off x="6199632" y="2395728"/>
            <a:ext cx="5577840" cy="329184"/>
          </a:xfrm>
          <a:prstGeom prst="rect">
            <a:avLst/>
          </a:prstGeom>
          <a:noFill/>
          <a:ln/>
        </p:spPr>
        <p:txBody>
          <a:bodyPr wrap="square" rtlCol="0" anchor="ctr"/>
          <a:lstStyle/>
          <a:p>
            <a:pPr marL="0" indent="0">
              <a:buNone/>
            </a:pPr>
            <a:r>
              <a:rPr lang="en-US" sz="1600" b="1" dirty="0">
                <a:solidFill>
                  <a:srgbClr val="006579"/>
                </a:solidFill>
              </a:rPr>
              <a:t>多模态威胁情报融合</a:t>
            </a:r>
            <a:endParaRPr lang="en-US" sz="1600" dirty="0"/>
          </a:p>
        </p:txBody>
      </p:sp>
      <p:sp>
        <p:nvSpPr>
          <p:cNvPr id="30" name="Text 28"/>
          <p:cNvSpPr/>
          <p:nvPr/>
        </p:nvSpPr>
        <p:spPr>
          <a:xfrm>
            <a:off x="6199632" y="2724912"/>
            <a:ext cx="5577840" cy="475488"/>
          </a:xfrm>
          <a:prstGeom prst="rect">
            <a:avLst/>
          </a:prstGeom>
          <a:noFill/>
          <a:ln/>
        </p:spPr>
        <p:txBody>
          <a:bodyPr wrap="square" rtlCol="0" anchor="t"/>
          <a:lstStyle/>
          <a:p>
            <a:pPr marL="0" indent="0">
              <a:buNone/>
            </a:pPr>
            <a:r>
              <a:rPr lang="en-US" sz="1400" dirty="0">
                <a:solidFill>
                  <a:srgbClr val="0D1B2A"/>
                </a:solidFill>
              </a:rPr>
              <a:t>整合网络流量日志、PE文件静态特征、系统调用轨迹等多模态数据到 KG 实体表示</a:t>
            </a:r>
            <a:endParaRPr lang="en-US" sz="1400" dirty="0"/>
          </a:p>
        </p:txBody>
      </p:sp>
      <p:sp>
        <p:nvSpPr>
          <p:cNvPr id="31" name="Shape 29"/>
          <p:cNvSpPr/>
          <p:nvPr/>
        </p:nvSpPr>
        <p:spPr>
          <a:xfrm>
            <a:off x="6035040" y="3337560"/>
            <a:ext cx="5852160" cy="896112"/>
          </a:xfrm>
          <a:prstGeom prst="rect">
            <a:avLst/>
          </a:prstGeom>
          <a:solidFill>
            <a:srgbClr val="F8F9FF"/>
          </a:solidFill>
          <a:ln w="12700">
            <a:solidFill>
              <a:srgbClr val="1A3A6B"/>
            </a:solidFill>
            <a:prstDash val="solid"/>
          </a:ln>
        </p:spPr>
      </p:sp>
      <p:sp>
        <p:nvSpPr>
          <p:cNvPr id="32" name="Shape 30"/>
          <p:cNvSpPr/>
          <p:nvPr/>
        </p:nvSpPr>
        <p:spPr>
          <a:xfrm>
            <a:off x="6035040" y="3337560"/>
            <a:ext cx="73152" cy="896112"/>
          </a:xfrm>
          <a:prstGeom prst="rect">
            <a:avLst/>
          </a:prstGeom>
          <a:solidFill>
            <a:srgbClr val="1A3A6B"/>
          </a:solidFill>
          <a:ln w="12700">
            <a:solidFill>
              <a:srgbClr val="1A3A6B"/>
            </a:solidFill>
            <a:prstDash val="solid"/>
          </a:ln>
        </p:spPr>
      </p:sp>
      <p:sp>
        <p:nvSpPr>
          <p:cNvPr id="33" name="Text 31"/>
          <p:cNvSpPr/>
          <p:nvPr/>
        </p:nvSpPr>
        <p:spPr>
          <a:xfrm>
            <a:off x="6199632" y="3355848"/>
            <a:ext cx="5577840" cy="329184"/>
          </a:xfrm>
          <a:prstGeom prst="rect">
            <a:avLst/>
          </a:prstGeom>
          <a:noFill/>
          <a:ln/>
        </p:spPr>
        <p:txBody>
          <a:bodyPr wrap="square" rtlCol="0" anchor="ctr"/>
          <a:lstStyle/>
          <a:p>
            <a:pPr marL="0" indent="0">
              <a:buNone/>
            </a:pPr>
            <a:r>
              <a:rPr lang="en-US" sz="1600" b="1" dirty="0">
                <a:solidFill>
                  <a:srgbClr val="1A3A6B"/>
                </a:solidFill>
              </a:rPr>
              <a:t>跨域知识图谱预训练</a:t>
            </a:r>
            <a:endParaRPr lang="en-US" sz="1600" dirty="0"/>
          </a:p>
        </p:txBody>
      </p:sp>
      <p:sp>
        <p:nvSpPr>
          <p:cNvPr id="34" name="Text 32"/>
          <p:cNvSpPr/>
          <p:nvPr/>
        </p:nvSpPr>
        <p:spPr>
          <a:xfrm>
            <a:off x="6199632" y="3685032"/>
            <a:ext cx="5577840" cy="475488"/>
          </a:xfrm>
          <a:prstGeom prst="rect">
            <a:avLst/>
          </a:prstGeom>
          <a:noFill/>
          <a:ln/>
        </p:spPr>
        <p:txBody>
          <a:bodyPr wrap="square" rtlCol="0" anchor="t"/>
          <a:lstStyle/>
          <a:p>
            <a:pPr marL="0" indent="0">
              <a:buNone/>
            </a:pPr>
            <a:r>
              <a:rPr lang="en-US" sz="1400" dirty="0">
                <a:solidFill>
                  <a:srgbClr val="0D1B2A"/>
                </a:solidFill>
              </a:rPr>
              <a:t>基于本框架做跨安全子领域预训练+域自适应微调，扩展至漏洞管理/入侵检测</a:t>
            </a:r>
            <a:endParaRPr lang="en-US" sz="1400" dirty="0"/>
          </a:p>
        </p:txBody>
      </p:sp>
      <p:sp>
        <p:nvSpPr>
          <p:cNvPr id="35" name="Shape 33"/>
          <p:cNvSpPr/>
          <p:nvPr/>
        </p:nvSpPr>
        <p:spPr>
          <a:xfrm>
            <a:off x="6035040" y="4297680"/>
            <a:ext cx="5852160" cy="896112"/>
          </a:xfrm>
          <a:prstGeom prst="rect">
            <a:avLst/>
          </a:prstGeom>
          <a:solidFill>
            <a:srgbClr val="F8F9FF"/>
          </a:solidFill>
          <a:ln w="12700">
            <a:solidFill>
              <a:srgbClr val="E65100"/>
            </a:solidFill>
            <a:prstDash val="solid"/>
          </a:ln>
        </p:spPr>
      </p:sp>
      <p:sp>
        <p:nvSpPr>
          <p:cNvPr id="36" name="Shape 34"/>
          <p:cNvSpPr/>
          <p:nvPr/>
        </p:nvSpPr>
        <p:spPr>
          <a:xfrm>
            <a:off x="6035040" y="4297680"/>
            <a:ext cx="73152" cy="896112"/>
          </a:xfrm>
          <a:prstGeom prst="rect">
            <a:avLst/>
          </a:prstGeom>
          <a:solidFill>
            <a:srgbClr val="E65100"/>
          </a:solidFill>
          <a:ln w="12700">
            <a:solidFill>
              <a:srgbClr val="E65100"/>
            </a:solidFill>
            <a:prstDash val="solid"/>
          </a:ln>
        </p:spPr>
      </p:sp>
      <p:sp>
        <p:nvSpPr>
          <p:cNvPr id="37" name="Text 35"/>
          <p:cNvSpPr/>
          <p:nvPr/>
        </p:nvSpPr>
        <p:spPr>
          <a:xfrm>
            <a:off x="6199632" y="4315968"/>
            <a:ext cx="5577840" cy="329184"/>
          </a:xfrm>
          <a:prstGeom prst="rect">
            <a:avLst/>
          </a:prstGeom>
          <a:noFill/>
          <a:ln/>
        </p:spPr>
        <p:txBody>
          <a:bodyPr wrap="square" rtlCol="0" anchor="ctr"/>
          <a:lstStyle/>
          <a:p>
            <a:pPr marL="0" indent="0">
              <a:buNone/>
            </a:pPr>
            <a:r>
              <a:rPr lang="en-US" sz="1600" b="1" dirty="0">
                <a:solidFill>
                  <a:srgbClr val="E65100"/>
                </a:solidFill>
              </a:rPr>
              <a:t>可解释性增强</a:t>
            </a:r>
            <a:endParaRPr lang="en-US" sz="1600" dirty="0"/>
          </a:p>
        </p:txBody>
      </p:sp>
      <p:sp>
        <p:nvSpPr>
          <p:cNvPr id="38" name="Text 36"/>
          <p:cNvSpPr/>
          <p:nvPr/>
        </p:nvSpPr>
        <p:spPr>
          <a:xfrm>
            <a:off x="6199632" y="4645152"/>
            <a:ext cx="5577840" cy="475488"/>
          </a:xfrm>
          <a:prstGeom prst="rect">
            <a:avLst/>
          </a:prstGeom>
          <a:noFill/>
          <a:ln/>
        </p:spPr>
        <p:txBody>
          <a:bodyPr wrap="square" rtlCol="0" anchor="t"/>
          <a:lstStyle/>
          <a:p>
            <a:pPr marL="0" indent="0">
              <a:buNone/>
            </a:pPr>
            <a:r>
              <a:rPr lang="en-US" sz="1400" dirty="0">
                <a:solidFill>
                  <a:srgbClr val="0D1B2A"/>
                </a:solidFill>
              </a:rPr>
              <a:t>注意力机制可视化 + 路径推理解释 + 证据三元组溯源，服务真实安全运营工作流</a:t>
            </a:r>
            <a:endParaRPr lang="en-US" sz="1400" dirty="0"/>
          </a:p>
        </p:txBody>
      </p:sp>
      <p:sp>
        <p:nvSpPr>
          <p:cNvPr id="39" name="Shape 37"/>
          <p:cNvSpPr/>
          <p:nvPr/>
        </p:nvSpPr>
        <p:spPr>
          <a:xfrm>
            <a:off x="6035040" y="5257800"/>
            <a:ext cx="5852160" cy="896112"/>
          </a:xfrm>
          <a:prstGeom prst="rect">
            <a:avLst/>
          </a:prstGeom>
          <a:solidFill>
            <a:srgbClr val="F8F9FF"/>
          </a:solidFill>
          <a:ln w="12700">
            <a:solidFill>
              <a:srgbClr val="B71C1C"/>
            </a:solidFill>
            <a:prstDash val="solid"/>
          </a:ln>
        </p:spPr>
      </p:sp>
      <p:sp>
        <p:nvSpPr>
          <p:cNvPr id="40" name="Shape 38"/>
          <p:cNvSpPr/>
          <p:nvPr/>
        </p:nvSpPr>
        <p:spPr>
          <a:xfrm>
            <a:off x="6035040" y="5257800"/>
            <a:ext cx="73152" cy="896112"/>
          </a:xfrm>
          <a:prstGeom prst="rect">
            <a:avLst/>
          </a:prstGeom>
          <a:solidFill>
            <a:srgbClr val="B71C1C"/>
          </a:solidFill>
          <a:ln w="12700">
            <a:solidFill>
              <a:srgbClr val="B71C1C"/>
            </a:solidFill>
            <a:prstDash val="solid"/>
          </a:ln>
        </p:spPr>
      </p:sp>
      <p:sp>
        <p:nvSpPr>
          <p:cNvPr id="41" name="Text 39"/>
          <p:cNvSpPr/>
          <p:nvPr/>
        </p:nvSpPr>
        <p:spPr>
          <a:xfrm>
            <a:off x="6199632" y="5276088"/>
            <a:ext cx="5577840" cy="329184"/>
          </a:xfrm>
          <a:prstGeom prst="rect">
            <a:avLst/>
          </a:prstGeom>
          <a:noFill/>
          <a:ln/>
        </p:spPr>
        <p:txBody>
          <a:bodyPr wrap="square" rtlCol="0" anchor="ctr"/>
          <a:lstStyle/>
          <a:p>
            <a:pPr marL="0" indent="0">
              <a:buNone/>
            </a:pPr>
            <a:r>
              <a:rPr lang="en-US" sz="1600" b="1" dirty="0">
                <a:solidFill>
                  <a:srgbClr val="B71C1C"/>
                </a:solidFill>
              </a:rPr>
              <a:t>更大规模验证</a:t>
            </a:r>
            <a:endParaRPr lang="en-US" sz="1600" dirty="0"/>
          </a:p>
        </p:txBody>
      </p:sp>
      <p:sp>
        <p:nvSpPr>
          <p:cNvPr id="42" name="Text 40"/>
          <p:cNvSpPr/>
          <p:nvPr/>
        </p:nvSpPr>
        <p:spPr>
          <a:xfrm>
            <a:off x="6199632" y="5605272"/>
            <a:ext cx="5577840" cy="475488"/>
          </a:xfrm>
          <a:prstGeom prst="rect">
            <a:avLst/>
          </a:prstGeom>
          <a:noFill/>
          <a:ln/>
        </p:spPr>
        <p:txBody>
          <a:bodyPr wrap="square" rtlCol="0" anchor="t"/>
          <a:lstStyle/>
          <a:p>
            <a:pPr marL="0" indent="0">
              <a:buNone/>
            </a:pPr>
            <a:r>
              <a:rPr lang="en-US" sz="1400" dirty="0">
                <a:solidFill>
                  <a:srgbClr val="0D1B2A"/>
                </a:solidFill>
              </a:rPr>
              <a:t>在更多 APT 图谱与更大规模数据上验证框架的泛化性与稳健性</a:t>
            </a:r>
            <a:endParaRPr lang="en-US" sz="1400" dirty="0"/>
          </a:p>
        </p:txBody>
      </p:sp>
      <p:sp>
        <p:nvSpPr>
          <p:cNvPr id="43" name="Text 41"/>
          <p:cNvSpPr/>
          <p:nvPr/>
        </p:nvSpPr>
        <p:spPr>
          <a:xfrm>
            <a:off x="11578281" y="6671412"/>
            <a:ext cx="537519" cy="109728"/>
          </a:xfrm>
          <a:prstGeom prst="rect">
            <a:avLst/>
          </a:prstGeom>
          <a:noFill/>
          <a:ln/>
        </p:spPr>
        <p:txBody>
          <a:bodyPr wrap="square" rtlCol="0" anchor="ctr"/>
          <a:lstStyle/>
          <a:p>
            <a:pPr marL="0" indent="0" algn="r">
              <a:buNone/>
            </a:pPr>
            <a:r>
              <a:rPr lang="en-US" sz="900" dirty="0">
                <a:solidFill>
                  <a:srgbClr val="90A4AE"/>
                </a:solidFill>
              </a:rPr>
              <a:t>17/18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0C1A2E"/>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
          </a:xfrm>
          <a:prstGeom prst="rect">
            <a:avLst/>
          </a:prstGeom>
          <a:solidFill>
            <a:srgbClr val="00B4CC"/>
          </a:solidFill>
          <a:ln w="12700">
            <a:solidFill>
              <a:srgbClr val="00B4CC"/>
            </a:solidFill>
            <a:prstDash val="solid"/>
          </a:ln>
        </p:spPr>
      </p:sp>
      <p:sp>
        <p:nvSpPr>
          <p:cNvPr id="3" name="Shape 1"/>
          <p:cNvSpPr/>
          <p:nvPr/>
        </p:nvSpPr>
        <p:spPr>
          <a:xfrm>
            <a:off x="0" y="6775704"/>
            <a:ext cx="12161520" cy="82296"/>
          </a:xfrm>
          <a:prstGeom prst="rect">
            <a:avLst/>
          </a:prstGeom>
          <a:solidFill>
            <a:srgbClr val="00B4CC"/>
          </a:solidFill>
          <a:ln w="12700">
            <a:solidFill>
              <a:srgbClr val="00B4CC"/>
            </a:solidFill>
            <a:prstDash val="solid"/>
          </a:ln>
        </p:spPr>
      </p:sp>
      <p:sp>
        <p:nvSpPr>
          <p:cNvPr id="4" name="Shape 2"/>
          <p:cNvSpPr/>
          <p:nvPr/>
        </p:nvSpPr>
        <p:spPr>
          <a:xfrm>
            <a:off x="0" y="0"/>
            <a:ext cx="457200" cy="6858000"/>
          </a:xfrm>
          <a:prstGeom prst="rect">
            <a:avLst/>
          </a:prstGeom>
          <a:solidFill>
            <a:srgbClr val="1A3A6B"/>
          </a:solidFill>
          <a:ln w="12700">
            <a:solidFill>
              <a:srgbClr val="1A3A6B"/>
            </a:solidFill>
            <a:prstDash val="solid"/>
          </a:ln>
        </p:spPr>
      </p:sp>
      <p:sp>
        <p:nvSpPr>
          <p:cNvPr id="5" name="Text 3"/>
          <p:cNvSpPr/>
          <p:nvPr/>
        </p:nvSpPr>
        <p:spPr>
          <a:xfrm>
            <a:off x="640080" y="228600"/>
            <a:ext cx="10881360" cy="594360"/>
          </a:xfrm>
          <a:prstGeom prst="rect">
            <a:avLst/>
          </a:prstGeom>
          <a:noFill/>
          <a:ln/>
        </p:spPr>
        <p:txBody>
          <a:bodyPr wrap="square" rtlCol="0" anchor="ctr"/>
          <a:lstStyle/>
          <a:p>
            <a:pPr marL="0" indent="0" algn="ctr">
              <a:buNone/>
            </a:pPr>
            <a:r>
              <a:rPr lang="en-US" sz="2800" b="1" dirty="0">
                <a:solidFill>
                  <a:srgbClr val="FFFFFF"/>
                </a:solidFill>
              </a:rPr>
              <a:t>总　结</a:t>
            </a:r>
            <a:endParaRPr lang="en-US" sz="2800" dirty="0"/>
          </a:p>
        </p:txBody>
      </p:sp>
      <p:sp>
        <p:nvSpPr>
          <p:cNvPr id="6" name="Shape 4"/>
          <p:cNvSpPr/>
          <p:nvPr/>
        </p:nvSpPr>
        <p:spPr>
          <a:xfrm>
            <a:off x="640080" y="850392"/>
            <a:ext cx="10881360" cy="0"/>
          </a:xfrm>
          <a:prstGeom prst="line">
            <a:avLst/>
          </a:prstGeom>
          <a:noFill/>
          <a:ln w="19050">
            <a:solidFill>
              <a:srgbClr val="00B4CC"/>
            </a:solidFill>
            <a:prstDash val="solid"/>
          </a:ln>
        </p:spPr>
      </p:sp>
      <p:sp>
        <p:nvSpPr>
          <p:cNvPr id="7" name="Text 5"/>
          <p:cNvSpPr/>
          <p:nvPr/>
        </p:nvSpPr>
        <p:spPr>
          <a:xfrm>
            <a:off x="640080" y="960120"/>
            <a:ext cx="10881360" cy="384048"/>
          </a:xfrm>
          <a:prstGeom prst="rect">
            <a:avLst/>
          </a:prstGeom>
          <a:noFill/>
          <a:ln/>
        </p:spPr>
        <p:txBody>
          <a:bodyPr wrap="square" rtlCol="0" anchor="ctr"/>
          <a:lstStyle/>
          <a:p>
            <a:pPr marL="0" indent="0" algn="ctr">
              <a:buNone/>
            </a:pPr>
            <a:r>
              <a:rPr lang="en-US" b="1" dirty="0">
                <a:solidFill>
                  <a:srgbClr val="00B4CC"/>
                </a:solidFill>
              </a:rPr>
              <a:t>本文三项主要贡献</a:t>
            </a:r>
            <a:endParaRPr lang="en-US" dirty="0"/>
          </a:p>
        </p:txBody>
      </p:sp>
      <p:sp>
        <p:nvSpPr>
          <p:cNvPr id="8" name="Shape 6"/>
          <p:cNvSpPr/>
          <p:nvPr/>
        </p:nvSpPr>
        <p:spPr>
          <a:xfrm>
            <a:off x="640080" y="1463040"/>
            <a:ext cx="3438144" cy="4160520"/>
          </a:xfrm>
          <a:prstGeom prst="rect">
            <a:avLst/>
          </a:prstGeom>
          <a:solidFill>
            <a:srgbClr val="0D2137"/>
          </a:solidFill>
          <a:ln w="19050">
            <a:solidFill>
              <a:srgbClr val="1A3A6B"/>
            </a:solidFill>
            <a:prstDash val="solid"/>
          </a:ln>
        </p:spPr>
      </p:sp>
      <p:sp>
        <p:nvSpPr>
          <p:cNvPr id="9" name="Shape 7"/>
          <p:cNvSpPr/>
          <p:nvPr/>
        </p:nvSpPr>
        <p:spPr>
          <a:xfrm>
            <a:off x="640080" y="1463040"/>
            <a:ext cx="3438144" cy="502920"/>
          </a:xfrm>
          <a:prstGeom prst="rect">
            <a:avLst/>
          </a:prstGeom>
          <a:solidFill>
            <a:srgbClr val="1A3A6B"/>
          </a:solidFill>
          <a:ln w="12700">
            <a:solidFill>
              <a:srgbClr val="1A3A6B"/>
            </a:solidFill>
            <a:prstDash val="solid"/>
          </a:ln>
        </p:spPr>
      </p:sp>
      <p:sp>
        <p:nvSpPr>
          <p:cNvPr id="10" name="Text 8"/>
          <p:cNvSpPr/>
          <p:nvPr/>
        </p:nvSpPr>
        <p:spPr>
          <a:xfrm>
            <a:off x="640080" y="1463040"/>
            <a:ext cx="914400" cy="502920"/>
          </a:xfrm>
          <a:prstGeom prst="rect">
            <a:avLst/>
          </a:prstGeom>
          <a:noFill/>
          <a:ln/>
        </p:spPr>
        <p:txBody>
          <a:bodyPr wrap="square" lIns="0" tIns="0" rIns="0" bIns="0" rtlCol="0" anchor="ctr"/>
          <a:lstStyle/>
          <a:p>
            <a:pPr marL="0" indent="0" algn="ctr">
              <a:buNone/>
            </a:pPr>
            <a:r>
              <a:rPr lang="en-US" sz="1600" b="1" dirty="0">
                <a:solidFill>
                  <a:srgbClr val="FFFFFF"/>
                </a:solidFill>
              </a:rPr>
              <a:t>贡献 1</a:t>
            </a:r>
            <a:endParaRPr lang="en-US" sz="1600" dirty="0"/>
          </a:p>
        </p:txBody>
      </p:sp>
      <p:sp>
        <p:nvSpPr>
          <p:cNvPr id="11" name="Text 9"/>
          <p:cNvSpPr/>
          <p:nvPr/>
        </p:nvSpPr>
        <p:spPr>
          <a:xfrm>
            <a:off x="1554480" y="1463040"/>
            <a:ext cx="2743200" cy="502920"/>
          </a:xfrm>
          <a:prstGeom prst="rect">
            <a:avLst/>
          </a:prstGeom>
          <a:noFill/>
          <a:ln/>
        </p:spPr>
        <p:txBody>
          <a:bodyPr wrap="square" rtlCol="0" anchor="ctr"/>
          <a:lstStyle/>
          <a:p>
            <a:pPr marL="0" indent="0">
              <a:buNone/>
            </a:pPr>
            <a:r>
              <a:rPr lang="en-US" sz="1600" b="1" dirty="0">
                <a:solidFill>
                  <a:srgbClr val="FFFFFF"/>
                </a:solidFill>
              </a:rPr>
              <a:t>APT-Hier 层级化数据集</a:t>
            </a:r>
            <a:endParaRPr lang="en-US" sz="1600" dirty="0"/>
          </a:p>
        </p:txBody>
      </p:sp>
      <p:sp>
        <p:nvSpPr>
          <p:cNvPr id="12" name="Text 10"/>
          <p:cNvSpPr/>
          <p:nvPr/>
        </p:nvSpPr>
        <p:spPr>
          <a:xfrm>
            <a:off x="749808" y="2011680"/>
            <a:ext cx="3231855" cy="3520440"/>
          </a:xfrm>
          <a:prstGeom prst="rect">
            <a:avLst/>
          </a:prstGeom>
          <a:noFill/>
          <a:ln/>
        </p:spPr>
        <p:txBody>
          <a:bodyPr wrap="square" rtlCol="0" anchor="t"/>
          <a:lstStyle/>
          <a:p>
            <a:pPr marL="285750" indent="-285750">
              <a:buFont typeface="Arial" panose="020B0604020202020204" pitchFamily="34" charset="0"/>
              <a:buChar char="•"/>
            </a:pPr>
            <a:r>
              <a:rPr lang="en-US" sz="1600" dirty="0" err="1">
                <a:solidFill>
                  <a:srgbClr val="B0C4DE"/>
                </a:solidFill>
              </a:rPr>
              <a:t>构建先验本体约束集合</a:t>
            </a:r>
            <a:r>
              <a:rPr lang="en-US" sz="1600" dirty="0">
                <a:solidFill>
                  <a:srgbClr val="B0C4DE"/>
                </a:solidFill>
              </a:rPr>
              <a:t> Ω_onto = {𝒱_closed, 𝒞, ℳ, ℛ_hier}</a:t>
            </a:r>
            <a:endParaRPr lang="en-US" sz="1600" dirty="0"/>
          </a:p>
          <a:p>
            <a:pPr marL="285750" indent="-285750">
              <a:buFont typeface="Arial" panose="020B0604020202020204" pitchFamily="34" charset="0"/>
              <a:buChar char="•"/>
            </a:pPr>
            <a:r>
              <a:rPr lang="en-US" sz="1600" dirty="0">
                <a:solidFill>
                  <a:srgbClr val="B0C4DE"/>
                </a:solidFill>
              </a:rPr>
              <a:t>LLM辅助归纳7个高层节点，确定性规则注入1,253条subClassOf</a:t>
            </a:r>
            <a:endParaRPr lang="en-US" sz="1600" dirty="0"/>
          </a:p>
          <a:p>
            <a:pPr marL="285750" indent="-285750">
              <a:buFont typeface="Arial" panose="020B0604020202020204" pitchFamily="34" charset="0"/>
              <a:buChar char="•"/>
            </a:pPr>
            <a:r>
              <a:rPr lang="en-US" sz="1600" dirty="0" err="1">
                <a:solidFill>
                  <a:srgbClr val="B0C4DE"/>
                </a:solidFill>
              </a:rPr>
              <a:t>Gromov</a:t>
            </a:r>
            <a:r>
              <a:rPr lang="en-US" sz="1600" dirty="0">
                <a:solidFill>
                  <a:srgbClr val="B0C4DE"/>
                </a:solidFill>
              </a:rPr>
              <a:t> δ: 0.2566 → 0.1957，树状拓扑特征增强</a:t>
            </a:r>
            <a:endParaRPr lang="en-US" sz="1600" dirty="0"/>
          </a:p>
        </p:txBody>
      </p:sp>
      <p:sp>
        <p:nvSpPr>
          <p:cNvPr id="13" name="Shape 11"/>
          <p:cNvSpPr/>
          <p:nvPr/>
        </p:nvSpPr>
        <p:spPr>
          <a:xfrm>
            <a:off x="4406418" y="1463040"/>
            <a:ext cx="3438144" cy="4160520"/>
          </a:xfrm>
          <a:prstGeom prst="rect">
            <a:avLst/>
          </a:prstGeom>
          <a:solidFill>
            <a:srgbClr val="0D2137"/>
          </a:solidFill>
          <a:ln w="19050">
            <a:solidFill>
              <a:srgbClr val="006579"/>
            </a:solidFill>
            <a:prstDash val="solid"/>
          </a:ln>
        </p:spPr>
      </p:sp>
      <p:sp>
        <p:nvSpPr>
          <p:cNvPr id="14" name="Shape 12"/>
          <p:cNvSpPr/>
          <p:nvPr/>
        </p:nvSpPr>
        <p:spPr>
          <a:xfrm>
            <a:off x="4406418" y="1463040"/>
            <a:ext cx="3438144" cy="502920"/>
          </a:xfrm>
          <a:prstGeom prst="rect">
            <a:avLst/>
          </a:prstGeom>
          <a:solidFill>
            <a:srgbClr val="006579"/>
          </a:solidFill>
          <a:ln w="12700">
            <a:solidFill>
              <a:srgbClr val="006579"/>
            </a:solidFill>
            <a:prstDash val="solid"/>
          </a:ln>
        </p:spPr>
      </p:sp>
      <p:sp>
        <p:nvSpPr>
          <p:cNvPr id="15" name="Text 13"/>
          <p:cNvSpPr/>
          <p:nvPr/>
        </p:nvSpPr>
        <p:spPr>
          <a:xfrm>
            <a:off x="4406418" y="1463040"/>
            <a:ext cx="914400" cy="502920"/>
          </a:xfrm>
          <a:prstGeom prst="rect">
            <a:avLst/>
          </a:prstGeom>
          <a:noFill/>
          <a:ln/>
        </p:spPr>
        <p:txBody>
          <a:bodyPr wrap="square" lIns="0" tIns="0" rIns="0" bIns="0" rtlCol="0" anchor="ctr"/>
          <a:lstStyle/>
          <a:p>
            <a:pPr marL="0" indent="0" algn="ctr">
              <a:buNone/>
            </a:pPr>
            <a:r>
              <a:rPr lang="en-US" sz="1600" b="1" dirty="0">
                <a:solidFill>
                  <a:srgbClr val="FFFFFF"/>
                </a:solidFill>
              </a:rPr>
              <a:t>贡献 2</a:t>
            </a:r>
            <a:endParaRPr lang="en-US" sz="1600" dirty="0"/>
          </a:p>
        </p:txBody>
      </p:sp>
      <p:sp>
        <p:nvSpPr>
          <p:cNvPr id="16" name="Text 14"/>
          <p:cNvSpPr/>
          <p:nvPr/>
        </p:nvSpPr>
        <p:spPr>
          <a:xfrm>
            <a:off x="5320818" y="1463040"/>
            <a:ext cx="2523744" cy="502920"/>
          </a:xfrm>
          <a:prstGeom prst="rect">
            <a:avLst/>
          </a:prstGeom>
          <a:noFill/>
          <a:ln/>
        </p:spPr>
        <p:txBody>
          <a:bodyPr wrap="square" rtlCol="0" anchor="ctr"/>
          <a:lstStyle/>
          <a:p>
            <a:pPr marL="0" indent="0">
              <a:buNone/>
            </a:pPr>
            <a:r>
              <a:rPr lang="en-US" sz="1400" b="1" dirty="0">
                <a:solidFill>
                  <a:srgbClr val="FFFFFF"/>
                </a:solidFill>
              </a:rPr>
              <a:t>欧式—双曲两阶段表示学习</a:t>
            </a:r>
            <a:endParaRPr lang="en-US" sz="1400" dirty="0"/>
          </a:p>
        </p:txBody>
      </p:sp>
      <p:sp>
        <p:nvSpPr>
          <p:cNvPr id="17" name="Text 15"/>
          <p:cNvSpPr/>
          <p:nvPr/>
        </p:nvSpPr>
        <p:spPr>
          <a:xfrm>
            <a:off x="4516146" y="2011680"/>
            <a:ext cx="3231855" cy="3520440"/>
          </a:xfrm>
          <a:prstGeom prst="rect">
            <a:avLst/>
          </a:prstGeom>
          <a:noFill/>
          <a:ln/>
        </p:spPr>
        <p:txBody>
          <a:bodyPr wrap="square" rtlCol="0" anchor="t"/>
          <a:lstStyle/>
          <a:p>
            <a:pPr marL="285750" indent="-285750">
              <a:buFont typeface="Arial" panose="020B0604020202020204" pitchFamily="34" charset="0"/>
              <a:buChar char="•"/>
            </a:pPr>
            <a:r>
              <a:rPr lang="en-US" sz="1600" dirty="0" err="1">
                <a:solidFill>
                  <a:srgbClr val="B0C4DE"/>
                </a:solidFill>
              </a:rPr>
              <a:t>CyBERT</a:t>
            </a:r>
            <a:r>
              <a:rPr lang="en-US" sz="1600" dirty="0">
                <a:solidFill>
                  <a:srgbClr val="B0C4DE"/>
                </a:solidFill>
              </a:rPr>
              <a:t> + DualQGNN 在欧式空间捕获局部语义与结构</a:t>
            </a:r>
            <a:endParaRPr lang="en-US" sz="1600" dirty="0"/>
          </a:p>
          <a:p>
            <a:pPr marL="285750" indent="-285750">
              <a:buFont typeface="Arial" panose="020B0604020202020204" pitchFamily="34" charset="0"/>
              <a:buChar char="•"/>
            </a:pPr>
            <a:r>
              <a:rPr lang="en-US" sz="1600" dirty="0">
                <a:solidFill>
                  <a:srgbClr val="B0C4DE"/>
                </a:solidFill>
              </a:rPr>
              <a:t>Norm Clipping + 指数映射实现跨流形平滑迁移</a:t>
            </a:r>
            <a:endParaRPr lang="en-US" sz="1600" dirty="0"/>
          </a:p>
          <a:p>
            <a:pPr marL="285750" indent="-285750">
              <a:buFont typeface="Arial" panose="020B0604020202020204" pitchFamily="34" charset="0"/>
              <a:buChar char="•"/>
            </a:pPr>
            <a:r>
              <a:rPr lang="en-US" sz="1600" dirty="0" err="1">
                <a:solidFill>
                  <a:srgbClr val="B0C4DE"/>
                </a:solidFill>
              </a:rPr>
              <a:t>MuRP</a:t>
            </a:r>
            <a:r>
              <a:rPr lang="en-US" sz="1600" dirty="0">
                <a:solidFill>
                  <a:srgbClr val="B0C4DE"/>
                </a:solidFill>
              </a:rPr>
              <a:t> 在庞加莱球中建模全局层级结构</a:t>
            </a:r>
            <a:endParaRPr lang="en-US" sz="1600" dirty="0"/>
          </a:p>
        </p:txBody>
      </p:sp>
      <p:sp>
        <p:nvSpPr>
          <p:cNvPr id="18" name="Shape 16"/>
          <p:cNvSpPr/>
          <p:nvPr/>
        </p:nvSpPr>
        <p:spPr>
          <a:xfrm>
            <a:off x="8172756" y="1463040"/>
            <a:ext cx="3383280" cy="4160520"/>
          </a:xfrm>
          <a:prstGeom prst="rect">
            <a:avLst/>
          </a:prstGeom>
          <a:solidFill>
            <a:srgbClr val="0D2137"/>
          </a:solidFill>
          <a:ln w="19050">
            <a:solidFill>
              <a:srgbClr val="1B5E20"/>
            </a:solidFill>
            <a:prstDash val="solid"/>
          </a:ln>
        </p:spPr>
      </p:sp>
      <p:sp>
        <p:nvSpPr>
          <p:cNvPr id="19" name="Shape 17"/>
          <p:cNvSpPr/>
          <p:nvPr/>
        </p:nvSpPr>
        <p:spPr>
          <a:xfrm>
            <a:off x="8172756" y="1463040"/>
            <a:ext cx="3383280" cy="502920"/>
          </a:xfrm>
          <a:prstGeom prst="rect">
            <a:avLst/>
          </a:prstGeom>
          <a:solidFill>
            <a:srgbClr val="1B5E20"/>
          </a:solidFill>
          <a:ln w="12700">
            <a:solidFill>
              <a:srgbClr val="1B5E20"/>
            </a:solidFill>
            <a:prstDash val="solid"/>
          </a:ln>
        </p:spPr>
      </p:sp>
      <p:sp>
        <p:nvSpPr>
          <p:cNvPr id="20" name="Text 18"/>
          <p:cNvSpPr/>
          <p:nvPr/>
        </p:nvSpPr>
        <p:spPr>
          <a:xfrm>
            <a:off x="8246898" y="1463040"/>
            <a:ext cx="914400" cy="502920"/>
          </a:xfrm>
          <a:prstGeom prst="rect">
            <a:avLst/>
          </a:prstGeom>
          <a:noFill/>
          <a:ln/>
        </p:spPr>
        <p:txBody>
          <a:bodyPr wrap="square" lIns="0" tIns="0" rIns="0" bIns="0" rtlCol="0" anchor="ctr"/>
          <a:lstStyle/>
          <a:p>
            <a:pPr marL="0" indent="0" algn="ctr">
              <a:buNone/>
            </a:pPr>
            <a:r>
              <a:rPr lang="en-US" sz="1600" b="1" dirty="0">
                <a:solidFill>
                  <a:srgbClr val="FFFFFF"/>
                </a:solidFill>
              </a:rPr>
              <a:t>贡献 3</a:t>
            </a:r>
            <a:endParaRPr lang="en-US" sz="1600" dirty="0"/>
          </a:p>
        </p:txBody>
      </p:sp>
      <p:sp>
        <p:nvSpPr>
          <p:cNvPr id="21" name="Text 19"/>
          <p:cNvSpPr/>
          <p:nvPr/>
        </p:nvSpPr>
        <p:spPr>
          <a:xfrm>
            <a:off x="9161298" y="1463040"/>
            <a:ext cx="2390622" cy="502920"/>
          </a:xfrm>
          <a:prstGeom prst="rect">
            <a:avLst/>
          </a:prstGeom>
          <a:noFill/>
          <a:ln/>
        </p:spPr>
        <p:txBody>
          <a:bodyPr wrap="square" rtlCol="0" anchor="ctr"/>
          <a:lstStyle/>
          <a:p>
            <a:pPr marL="0" indent="0">
              <a:buNone/>
            </a:pPr>
            <a:r>
              <a:rPr lang="en-US" sz="1600" b="1" dirty="0">
                <a:solidFill>
                  <a:srgbClr val="FFFFFF"/>
                </a:solidFill>
              </a:rPr>
              <a:t>系统实验验证</a:t>
            </a:r>
            <a:endParaRPr lang="en-US" sz="1600" dirty="0"/>
          </a:p>
        </p:txBody>
      </p:sp>
      <p:sp>
        <p:nvSpPr>
          <p:cNvPr id="22" name="Text 20"/>
          <p:cNvSpPr/>
          <p:nvPr/>
        </p:nvSpPr>
        <p:spPr>
          <a:xfrm>
            <a:off x="8282484" y="2011680"/>
            <a:ext cx="3182112" cy="3520440"/>
          </a:xfrm>
          <a:prstGeom prst="rect">
            <a:avLst/>
          </a:prstGeom>
          <a:noFill/>
          <a:ln/>
        </p:spPr>
        <p:txBody>
          <a:bodyPr wrap="square" rtlCol="0" anchor="t"/>
          <a:lstStyle/>
          <a:p>
            <a:pPr marL="285750" indent="-285750">
              <a:buFont typeface="Arial" panose="020B0604020202020204" pitchFamily="34" charset="0"/>
              <a:buChar char="•"/>
            </a:pPr>
            <a:r>
              <a:rPr lang="en-US" sz="1600" dirty="0">
                <a:solidFill>
                  <a:srgbClr val="B0C4DE"/>
                </a:solidFill>
              </a:rPr>
              <a:t>APT-</a:t>
            </a:r>
            <a:r>
              <a:rPr lang="en-US" sz="1600" dirty="0" err="1">
                <a:solidFill>
                  <a:srgbClr val="B0C4DE"/>
                </a:solidFill>
              </a:rPr>
              <a:t>Hier偏好预测</a:t>
            </a:r>
            <a:r>
              <a:rPr lang="en-US" sz="1600" dirty="0">
                <a:solidFill>
                  <a:srgbClr val="B0C4DE"/>
                </a:solidFill>
              </a:rPr>
              <a:t>: Hits@10=0.514，MRR=0.428</a:t>
            </a:r>
            <a:endParaRPr lang="en-US" sz="1600" dirty="0"/>
          </a:p>
          <a:p>
            <a:pPr marL="285750" indent="-285750">
              <a:buFont typeface="Arial" panose="020B0604020202020204" pitchFamily="34" charset="0"/>
              <a:buChar char="•"/>
            </a:pPr>
            <a:r>
              <a:rPr lang="en-US" sz="1600" dirty="0" err="1">
                <a:solidFill>
                  <a:srgbClr val="B0C4DE"/>
                </a:solidFill>
              </a:rPr>
              <a:t>任务驱动单向严格过滤评估协议</a:t>
            </a:r>
            <a:endParaRPr lang="en-US" sz="1600" dirty="0"/>
          </a:p>
          <a:p>
            <a:pPr marL="285750" indent="-285750">
              <a:buFont typeface="Arial" panose="020B0604020202020204" pitchFamily="34" charset="0"/>
              <a:buChar char="•"/>
            </a:pPr>
            <a:r>
              <a:rPr lang="en-US" sz="1600" dirty="0" err="1">
                <a:solidFill>
                  <a:srgbClr val="B0C4DE"/>
                </a:solidFill>
              </a:rPr>
              <a:t>消融+敏感性分析验证协同效应</a:t>
            </a:r>
            <a:endParaRPr lang="en-US" sz="1600" dirty="0"/>
          </a:p>
        </p:txBody>
      </p:sp>
      <p:sp>
        <p:nvSpPr>
          <p:cNvPr id="23" name="Shape 21"/>
          <p:cNvSpPr/>
          <p:nvPr/>
        </p:nvSpPr>
        <p:spPr>
          <a:xfrm>
            <a:off x="640080" y="5742432"/>
            <a:ext cx="10972800" cy="530352"/>
          </a:xfrm>
          <a:prstGeom prst="rect">
            <a:avLst/>
          </a:prstGeom>
          <a:solidFill>
            <a:srgbClr val="0D2137"/>
          </a:solidFill>
          <a:ln w="19050">
            <a:solidFill>
              <a:srgbClr val="00B4CC"/>
            </a:solidFill>
            <a:prstDash val="solid"/>
          </a:ln>
        </p:spPr>
      </p:sp>
      <p:sp>
        <p:nvSpPr>
          <p:cNvPr id="24" name="Text 22"/>
          <p:cNvSpPr/>
          <p:nvPr/>
        </p:nvSpPr>
        <p:spPr>
          <a:xfrm>
            <a:off x="640080" y="5742432"/>
            <a:ext cx="10972800" cy="530352"/>
          </a:xfrm>
          <a:prstGeom prst="rect">
            <a:avLst/>
          </a:prstGeom>
          <a:noFill/>
          <a:ln/>
        </p:spPr>
        <p:txBody>
          <a:bodyPr wrap="square" lIns="0" tIns="0" rIns="0" bIns="0" rtlCol="0" anchor="ctr"/>
          <a:lstStyle/>
          <a:p>
            <a:pPr marL="0" indent="0" algn="ctr">
              <a:buNone/>
            </a:pPr>
            <a:r>
              <a:rPr lang="en-US" sz="1600" b="1" dirty="0">
                <a:solidFill>
                  <a:srgbClr val="00B4CC"/>
                </a:solidFill>
              </a:rPr>
              <a:t>【数据层先验本体约束 + 模型层双空间建模 = 协同提升 APT 组织攻击偏好预测精度】</a:t>
            </a:r>
            <a:endParaRPr lang="en-US" sz="1600" dirty="0"/>
          </a:p>
        </p:txBody>
      </p:sp>
      <p:sp>
        <p:nvSpPr>
          <p:cNvPr id="25" name="Text 23"/>
          <p:cNvSpPr/>
          <p:nvPr/>
        </p:nvSpPr>
        <p:spPr>
          <a:xfrm>
            <a:off x="640080" y="6355080"/>
            <a:ext cx="10972800" cy="384048"/>
          </a:xfrm>
          <a:prstGeom prst="rect">
            <a:avLst/>
          </a:prstGeom>
          <a:noFill/>
          <a:ln/>
        </p:spPr>
        <p:txBody>
          <a:bodyPr wrap="square" rtlCol="0" anchor="ctr"/>
          <a:lstStyle/>
          <a:p>
            <a:pPr marL="0" indent="0" algn="ctr">
              <a:buNone/>
            </a:pPr>
            <a:r>
              <a:rPr lang="en-US" sz="1400" dirty="0">
                <a:solidFill>
                  <a:srgbClr val="90A4AE"/>
                </a:solidFill>
              </a:rPr>
              <a:t>感谢各位评委老师的宝贵时间，请批评指正！</a:t>
            </a:r>
            <a:endParaRPr lang="en-US" sz="1400" dirty="0"/>
          </a:p>
        </p:txBody>
      </p:sp>
      <p:sp>
        <p:nvSpPr>
          <p:cNvPr id="26" name="Text 24"/>
          <p:cNvSpPr/>
          <p:nvPr/>
        </p:nvSpPr>
        <p:spPr>
          <a:xfrm>
            <a:off x="11612880" y="6689700"/>
            <a:ext cx="502920" cy="91440"/>
          </a:xfrm>
          <a:prstGeom prst="rect">
            <a:avLst/>
          </a:prstGeom>
          <a:noFill/>
          <a:ln/>
        </p:spPr>
        <p:txBody>
          <a:bodyPr wrap="square" rtlCol="0" anchor="ctr"/>
          <a:lstStyle/>
          <a:p>
            <a:pPr marL="0" indent="0" algn="r">
              <a:buNone/>
            </a:pPr>
            <a:r>
              <a:rPr lang="en-US" sz="900" dirty="0">
                <a:solidFill>
                  <a:srgbClr val="90A4AE"/>
                </a:solidFill>
              </a:rPr>
              <a:t>18/18</a:t>
            </a:r>
            <a:endParaRPr lang="en-US" sz="9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4|66.7"/>
</p:tagLst>
</file>

<file path=ppt/tags/tag2.xml><?xml version="1.0" encoding="utf-8"?>
<p:tagLst xmlns:a="http://schemas.openxmlformats.org/drawingml/2006/main" xmlns:r="http://schemas.openxmlformats.org/officeDocument/2006/relationships" xmlns:p="http://schemas.openxmlformats.org/presentationml/2006/main">
  <p:tag name="TIMING" val="|58.5|11.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2673</TotalTime>
  <Words>6636</Words>
  <Application>Microsoft Macintosh PowerPoint</Application>
  <PresentationFormat>宽屏</PresentationFormat>
  <Paragraphs>806</Paragraphs>
  <Slides>22</Slides>
  <Notes>22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等线</vt:lpstr>
      <vt:lpstr>等线</vt:lpstr>
      <vt:lpstr>宋体</vt:lpstr>
      <vt:lpstr>Microsoft YaHei</vt:lpstr>
      <vt:lpstr>Arial</vt:lpstr>
      <vt:lpstr>Calibri</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297</cp:revision>
  <dcterms:created xsi:type="dcterms:W3CDTF">2026-05-14T14:21:20Z</dcterms:created>
  <dcterms:modified xsi:type="dcterms:W3CDTF">2026-05-17T00:34:36Z</dcterms:modified>
</cp:coreProperties>
</file>